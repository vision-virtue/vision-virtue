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7" r:id="rId2"/>
    <p:sldMasterId id="2147483663" r:id="rId3"/>
  </p:sldMasterIdLst>
  <p:notesMasterIdLst>
    <p:notesMasterId r:id="rId21"/>
  </p:notesMasterIdLst>
  <p:sldIdLst>
    <p:sldId id="256" r:id="rId4"/>
    <p:sldId id="257" r:id="rId5"/>
    <p:sldId id="277" r:id="rId6"/>
    <p:sldId id="278" r:id="rId7"/>
    <p:sldId id="259" r:id="rId8"/>
    <p:sldId id="273" r:id="rId9"/>
    <p:sldId id="260" r:id="rId10"/>
    <p:sldId id="261" r:id="rId11"/>
    <p:sldId id="262" r:id="rId12"/>
    <p:sldId id="270" r:id="rId13"/>
    <p:sldId id="272" r:id="rId14"/>
    <p:sldId id="263" r:id="rId15"/>
    <p:sldId id="271" r:id="rId16"/>
    <p:sldId id="274" r:id="rId17"/>
    <p:sldId id="264" r:id="rId18"/>
    <p:sldId id="268" r:id="rId19"/>
    <p:sldId id="269" r:id="rId20"/>
  </p:sldIdLst>
  <p:sldSz cx="12192000" cy="6858000"/>
  <p:notesSz cx="6858000" cy="9144000"/>
  <p:embeddedFontLst>
    <p:embeddedFont>
      <p:font typeface="Century Gothic" panose="020B050202020202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992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416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hYEByMUdPsqIer6KEKOWOLRf84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E5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D1456A1-9B13-4CBA-98DD-BD0F044CC50F}">
  <a:tblStyle styleId="{8D1456A1-9B13-4CBA-98DD-BD0F044CC50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>
          <a:top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3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247" autoAdjust="0"/>
  </p:normalViewPr>
  <p:slideViewPr>
    <p:cSldViewPr snapToGrid="0">
      <p:cViewPr varScale="1">
        <p:scale>
          <a:sx n="56" d="100"/>
          <a:sy n="56" d="100"/>
        </p:scale>
        <p:origin x="976" y="28"/>
      </p:cViewPr>
      <p:guideLst>
        <p:guide orient="horz" pos="1992"/>
        <p:guide pos="3840"/>
        <p:guide orient="horz" pos="14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4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3.fntdata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2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1.fntdata"/><Relationship Id="rId30" Type="http://customschemas.google.com/relationships/presentationmetadata" Target="metadata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phael Haim" userId="629a5a88-b60b-4dec-bbfc-d25835277a63" providerId="ADAL" clId="{70FE9470-97F3-46A0-9686-604E96647105}"/>
    <pc:docChg chg="modSld">
      <pc:chgData name="Raphael Haim" userId="629a5a88-b60b-4dec-bbfc-d25835277a63" providerId="ADAL" clId="{70FE9470-97F3-46A0-9686-604E96647105}" dt="2026-01-18T19:48:43.603" v="36" actId="20577"/>
      <pc:docMkLst>
        <pc:docMk/>
      </pc:docMkLst>
      <pc:sldChg chg="modSp mod">
        <pc:chgData name="Raphael Haim" userId="629a5a88-b60b-4dec-bbfc-d25835277a63" providerId="ADAL" clId="{70FE9470-97F3-46A0-9686-604E96647105}" dt="2026-01-18T19:48:43.603" v="36" actId="20577"/>
        <pc:sldMkLst>
          <pc:docMk/>
          <pc:sldMk cId="0" sldId="256"/>
        </pc:sldMkLst>
        <pc:spChg chg="mod">
          <ac:chgData name="Raphael Haim" userId="629a5a88-b60b-4dec-bbfc-d25835277a63" providerId="ADAL" clId="{70FE9470-97F3-46A0-9686-604E96647105}" dt="2026-01-18T19:48:43.603" v="36" actId="20577"/>
          <ac:spMkLst>
            <pc:docMk/>
            <pc:sldMk cId="0" sldId="256"/>
            <ac:spMk id="3" creationId="{E222677D-8110-CA50-248F-D022C1DF8D24}"/>
          </ac:spMkLst>
        </pc:spChg>
      </pc:sldChg>
    </pc:docChg>
  </pc:docChgLst>
</pc:chgInfo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RaphaelHaim\Nanox%20Vision\AOP%202025\Budget%202025.xlsx" TargetMode="External"/><Relationship Id="rId4" Type="http://schemas.openxmlformats.org/officeDocument/2006/relationships/themeOverride" Target="../theme/themeOverride1.xml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 dir="row">Sheet5!$B$1:$E$1</cx:f>
        <cx:lvl ptCount="4">
          <cx:pt idx="0">A</cx:pt>
          <cx:pt idx="1">B</cx:pt>
          <cx:pt idx="2">C</cx:pt>
          <cx:pt idx="3">Grand Total</cx:pt>
        </cx:lvl>
      </cx:strDim>
      <cx:numDim type="val">
        <cx:f dir="row">Sheet5!$B$6:$E$6</cx:f>
        <cx:lvl ptCount="4" formatCode="0%">
          <cx:pt idx="0">0.30412309131587228</cx:pt>
          <cx:pt idx="1">0.13595936693647914</cx:pt>
          <cx:pt idx="2">0.056154749213346185</cx:pt>
          <cx:pt idx="3">0.49623720746569755</cx:pt>
        </cx:lvl>
      </cx:numDim>
    </cx:data>
  </cx:chartData>
  <cx:chart>
    <cx:title pos="t" align="ctr" overlay="0">
      <cx:tx>
        <cx:txData>
          <cx:v>Direct GM. % Contribution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Calibri" panose="020F0502020204030204"/>
            </a:rPr>
            <a:t>Direct GM. % Contribution</a:t>
          </a:r>
        </a:p>
      </cx:txPr>
    </cx:title>
    <cx:plotArea>
      <cx:plotAreaRegion>
        <cx:series layoutId="waterfall" uniqueId="{E8E04484-48B9-435A-AEA2-C6D4F8AE687F}">
          <cx:dataId val="0"/>
          <cx:layoutPr>
            <cx:subtotals>
              <cx:idx val="3"/>
            </cx:subtotals>
          </cx:layoutPr>
        </cx:series>
      </cx:plotAreaRegion>
      <cx:axis id="0">
        <cx:catScaling gapWidth="0.5"/>
        <cx:tickLabels/>
      </cx:axis>
      <cx:axis id="1">
        <cx:valScaling/>
        <cx:majorGridlines/>
        <cx:tickLabels/>
      </cx:axis>
    </cx:plotArea>
    <cx:legend pos="t" align="ctr" overlay="0"/>
  </cx:chart>
  <cx:clrMapOvr bg1="lt1" tx1="dk1" bg2="lt2" tx2="dk2" accent1="accent1" accent2="accent2" accent3="accent3" accent4="accent4" accent5="accent5" accent6="accent6" hlink="hlink" folHlink="folHlink"/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43" name="Google Shape;2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5" name="Google Shape;2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>
          <a:extLst>
            <a:ext uri="{FF2B5EF4-FFF2-40B4-BE49-F238E27FC236}">
              <a16:creationId xmlns:a16="http://schemas.microsoft.com/office/drawing/2014/main" id="{A547B80F-42EF-0779-C600-32FB8835D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:notes">
            <a:extLst>
              <a:ext uri="{FF2B5EF4-FFF2-40B4-BE49-F238E27FC236}">
                <a16:creationId xmlns:a16="http://schemas.microsoft.com/office/drawing/2014/main" id="{18934363-D69D-99BC-969A-3DFEF54E1D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1. Financial and Accounting 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Business Model Development:</a:t>
            </a:r>
            <a:r>
              <a:rPr lang="en-US" dirty="0"/>
              <a:t> Assist in creating or refining a sustainable and scalable financial model.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Budgeting and Forecasting:</a:t>
            </a:r>
            <a:r>
              <a:rPr lang="en-US" dirty="0"/>
              <a:t> Help establish a realistic budget and financial projections.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Accounting Setup:</a:t>
            </a:r>
            <a:r>
              <a:rPr lang="en-US" dirty="0"/>
              <a:t> Implement accounting software and establish basic bookkeeping processes.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Tax Planning:</a:t>
            </a:r>
            <a:r>
              <a:rPr lang="en-US" dirty="0"/>
              <a:t> Provide guidance on tax compliance and strategies to minimize liabilities.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Cash Flow Management:</a:t>
            </a:r>
            <a:r>
              <a:rPr lang="en-US" dirty="0"/>
              <a:t> Develop strategies for managing cash flow effectively during the startup phase.</a:t>
            </a:r>
          </a:p>
          <a:p>
            <a:r>
              <a:rPr lang="en-US" b="1" dirty="0"/>
              <a:t>2. Strategic Planning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Market Analysis:</a:t>
            </a:r>
            <a:r>
              <a:rPr lang="en-US" dirty="0"/>
              <a:t> Help identify target markets, competitors, and potential opportunities.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Business Planning:</a:t>
            </a:r>
            <a:r>
              <a:rPr lang="en-US" dirty="0"/>
              <a:t> Develop or enhance the business plan to attract investors or guide decision-making.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Funding Strategy:</a:t>
            </a:r>
            <a:r>
              <a:rPr lang="en-US" dirty="0"/>
              <a:t> Assist with identifying funding options, preparing pitch decks, and investor presentations.</a:t>
            </a:r>
          </a:p>
          <a:p>
            <a:r>
              <a:rPr lang="en-US" b="1" dirty="0"/>
              <a:t>3. Operational Setup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Process Design:</a:t>
            </a:r>
            <a:r>
              <a:rPr lang="en-US" dirty="0"/>
              <a:t> Establish workflows for efficient operations.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Hiring and Onboarding:</a:t>
            </a:r>
            <a:r>
              <a:rPr lang="en-US" dirty="0"/>
              <a:t> Provide advice on building the initial team and establishing HR policies.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Compliance:</a:t>
            </a:r>
            <a:r>
              <a:rPr lang="en-US" dirty="0"/>
              <a:t> Ensure the startup meets all legal and regulatory requirements in its jurisdiction.</a:t>
            </a:r>
          </a:p>
          <a:p>
            <a:r>
              <a:rPr lang="en-US" b="1" dirty="0"/>
              <a:t>4. Technology and Infrastructure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ERP/Software Selection:</a:t>
            </a:r>
            <a:r>
              <a:rPr lang="en-US" dirty="0"/>
              <a:t> Recommend tools for managing operations, accounting, CRM, and inventory (if applicable).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Cybersecurity:</a:t>
            </a:r>
            <a:r>
              <a:rPr lang="en-US" dirty="0"/>
              <a:t> Provide basic advice on securing company data and protecting intellectual property.</a:t>
            </a:r>
          </a:p>
          <a:p>
            <a:r>
              <a:rPr lang="en-US" b="1" dirty="0"/>
              <a:t>5. Marketing and Sales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Go-to-Market Strategy:</a:t>
            </a:r>
            <a:r>
              <a:rPr lang="en-US" dirty="0"/>
              <a:t> Develop strategies for product or service launches.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Branding and Positioning:</a:t>
            </a:r>
            <a:r>
              <a:rPr lang="en-US" dirty="0"/>
              <a:t> Guide the startup in creating a compelling brand identity.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Customer Acquisition:</a:t>
            </a:r>
            <a:r>
              <a:rPr lang="en-US" dirty="0"/>
              <a:t> Suggest cost-effective ways to attract and retain customers.</a:t>
            </a:r>
          </a:p>
          <a:p>
            <a:r>
              <a:rPr lang="en-US" b="1" dirty="0"/>
              <a:t>6. Leadership Coaching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Founder Mentorship:</a:t>
            </a:r>
            <a:r>
              <a:rPr lang="en-US" dirty="0"/>
              <a:t> Offer advice on leadership, decision-making, and conflict resolution.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Team Building:</a:t>
            </a:r>
            <a:r>
              <a:rPr lang="en-US" dirty="0"/>
              <a:t> Provide strategies for fostering a strong team culture.</a:t>
            </a:r>
          </a:p>
          <a:p>
            <a:r>
              <a:rPr lang="en-US" b="1" dirty="0"/>
              <a:t>7. Risk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Legal Advisory:</a:t>
            </a:r>
            <a:r>
              <a:rPr lang="en-US" dirty="0"/>
              <a:t> Assist with contract reviews and intellectual property protection.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Insurance Planning:</a:t>
            </a:r>
            <a:r>
              <a:rPr lang="en-US" dirty="0"/>
              <a:t> Recommend necessary business insurance policies.</a:t>
            </a:r>
          </a:p>
          <a:p>
            <a:r>
              <a:rPr lang="en-US" b="1" dirty="0"/>
              <a:t>8. Performance Measurement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KPIs and Metrics:</a:t>
            </a:r>
            <a:r>
              <a:rPr lang="en-US" dirty="0"/>
              <a:t> Help define and track key performance indicators for growth and success.</a:t>
            </a:r>
          </a:p>
          <a:p>
            <a:r>
              <a:rPr lang="en-US" dirty="0"/>
              <a:t>By tailoring your consulting services to the startup's specific goals and challenges, you can position yourself as a vital partner in its success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02" name="Google Shape;302;p2:notes">
            <a:extLst>
              <a:ext uri="{FF2B5EF4-FFF2-40B4-BE49-F238E27FC236}">
                <a16:creationId xmlns:a16="http://schemas.microsoft.com/office/drawing/2014/main" id="{228F8A1D-32FE-224C-AE26-40890A2210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978297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>
          <a:extLst>
            <a:ext uri="{FF2B5EF4-FFF2-40B4-BE49-F238E27FC236}">
              <a16:creationId xmlns:a16="http://schemas.microsoft.com/office/drawing/2014/main" id="{1C6B2FCC-6F6B-127B-F689-CDB078A54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:notes">
            <a:extLst>
              <a:ext uri="{FF2B5EF4-FFF2-40B4-BE49-F238E27FC236}">
                <a16:creationId xmlns:a16="http://schemas.microsoft.com/office/drawing/2014/main" id="{60DC9B2E-32CC-0E65-600A-82566E1FAD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1. Financial and Accounting 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Business Model Development:</a:t>
            </a:r>
            <a:r>
              <a:rPr lang="en-US" dirty="0"/>
              <a:t> Assist in creating or refining a sustainable and scalable financial model.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Budgeting and Forecasting:</a:t>
            </a:r>
            <a:r>
              <a:rPr lang="en-US" dirty="0"/>
              <a:t> Help establish a realistic budget and financial projections.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Accounting Setup:</a:t>
            </a:r>
            <a:r>
              <a:rPr lang="en-US" dirty="0"/>
              <a:t> Implement accounting software and establish basic bookkeeping processes.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Tax Planning:</a:t>
            </a:r>
            <a:r>
              <a:rPr lang="en-US" dirty="0"/>
              <a:t> Provide guidance on tax compliance and strategies to minimize liabilities.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Cash Flow Management:</a:t>
            </a:r>
            <a:r>
              <a:rPr lang="en-US" dirty="0"/>
              <a:t> Develop strategies for managing cash flow effectively during the startup phase.</a:t>
            </a:r>
          </a:p>
          <a:p>
            <a:r>
              <a:rPr lang="en-US" b="1" dirty="0"/>
              <a:t>2. Strategic Planning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Market Analysis:</a:t>
            </a:r>
            <a:r>
              <a:rPr lang="en-US" dirty="0"/>
              <a:t> Help identify target markets, competitors, and potential opportunities.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Business Planning:</a:t>
            </a:r>
            <a:r>
              <a:rPr lang="en-US" dirty="0"/>
              <a:t> Develop or enhance the business plan to attract investors or guide decision-making.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Funding Strategy:</a:t>
            </a:r>
            <a:r>
              <a:rPr lang="en-US" dirty="0"/>
              <a:t> Assist with identifying funding options, preparing pitch decks, and investor presentations.</a:t>
            </a:r>
          </a:p>
          <a:p>
            <a:r>
              <a:rPr lang="en-US" b="1" dirty="0"/>
              <a:t>3. Operational Setup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Process Design:</a:t>
            </a:r>
            <a:r>
              <a:rPr lang="en-US" dirty="0"/>
              <a:t> Establish workflows for efficient operations.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Hiring and Onboarding:</a:t>
            </a:r>
            <a:r>
              <a:rPr lang="en-US" dirty="0"/>
              <a:t> Provide advice on building the initial team and establishing HR policies.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Compliance:</a:t>
            </a:r>
            <a:r>
              <a:rPr lang="en-US" dirty="0"/>
              <a:t> Ensure the startup meets all legal and regulatory requirements in its jurisdiction.</a:t>
            </a:r>
          </a:p>
          <a:p>
            <a:r>
              <a:rPr lang="en-US" b="1" dirty="0"/>
              <a:t>4. Technology and Infrastructure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ERP/Software Selection:</a:t>
            </a:r>
            <a:r>
              <a:rPr lang="en-US" dirty="0"/>
              <a:t> Recommend tools for managing operations, accounting, CRM, and inventory (if applicable).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Cybersecurity:</a:t>
            </a:r>
            <a:r>
              <a:rPr lang="en-US" dirty="0"/>
              <a:t> Provide basic advice on securing company data and protecting intellectual property.</a:t>
            </a:r>
          </a:p>
          <a:p>
            <a:r>
              <a:rPr lang="en-US" b="1" dirty="0"/>
              <a:t>5. Marketing and Sales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Go-to-Market Strategy:</a:t>
            </a:r>
            <a:r>
              <a:rPr lang="en-US" dirty="0"/>
              <a:t> Develop strategies for product or service launches.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Branding and Positioning:</a:t>
            </a:r>
            <a:r>
              <a:rPr lang="en-US" dirty="0"/>
              <a:t> Guide the startup in creating a compelling brand identity.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Customer Acquisition:</a:t>
            </a:r>
            <a:r>
              <a:rPr lang="en-US" dirty="0"/>
              <a:t> Suggest cost-effective ways to attract and retain customers.</a:t>
            </a:r>
          </a:p>
          <a:p>
            <a:r>
              <a:rPr lang="en-US" b="1" dirty="0"/>
              <a:t>6. Leadership Coaching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Founder Mentorship:</a:t>
            </a:r>
            <a:r>
              <a:rPr lang="en-US" dirty="0"/>
              <a:t> Offer advice on leadership, decision-making, and conflict resolution.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Team Building:</a:t>
            </a:r>
            <a:r>
              <a:rPr lang="en-US" dirty="0"/>
              <a:t> Provide strategies for fostering a strong team culture.</a:t>
            </a:r>
          </a:p>
          <a:p>
            <a:r>
              <a:rPr lang="en-US" b="1" dirty="0"/>
              <a:t>7. Risk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Legal Advisory:</a:t>
            </a:r>
            <a:r>
              <a:rPr lang="en-US" dirty="0"/>
              <a:t> Assist with contract reviews and intellectual property protection.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Insurance Planning:</a:t>
            </a:r>
            <a:r>
              <a:rPr lang="en-US" dirty="0"/>
              <a:t> Recommend necessary business insurance policies.</a:t>
            </a:r>
          </a:p>
          <a:p>
            <a:r>
              <a:rPr lang="en-US" b="1" dirty="0"/>
              <a:t>8. Performance Measurement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KPIs and Metrics:</a:t>
            </a:r>
            <a:r>
              <a:rPr lang="en-US" dirty="0"/>
              <a:t> Help define and track key performance indicators for growth and success.</a:t>
            </a:r>
          </a:p>
          <a:p>
            <a:r>
              <a:rPr lang="en-US" dirty="0"/>
              <a:t>By tailoring your consulting services to the startup's specific goals and challenges, you can position yourself as a vital partner in its success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02" name="Google Shape;302;p2:notes">
            <a:extLst>
              <a:ext uri="{FF2B5EF4-FFF2-40B4-BE49-F238E27FC236}">
                <a16:creationId xmlns:a16="http://schemas.microsoft.com/office/drawing/2014/main" id="{251FB828-2ADF-7F46-94DC-B44F53C8CF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65709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9" name="Google Shape;2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C85BEEE5-6E58-4FF0-1D84-1A15180D3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7:notes">
            <a:extLst>
              <a:ext uri="{FF2B5EF4-FFF2-40B4-BE49-F238E27FC236}">
                <a16:creationId xmlns:a16="http://schemas.microsoft.com/office/drawing/2014/main" id="{2788C0C8-332A-5BAD-60E8-DF24C8A13C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9" name="Google Shape;289;p7:notes">
            <a:extLst>
              <a:ext uri="{FF2B5EF4-FFF2-40B4-BE49-F238E27FC236}">
                <a16:creationId xmlns:a16="http://schemas.microsoft.com/office/drawing/2014/main" id="{67F5C873-D7BB-15D2-28A1-F8BD043B51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634240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1. Financial and Accounting 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Business Model Development:</a:t>
            </a:r>
            <a:r>
              <a:rPr lang="en-US" dirty="0"/>
              <a:t> Assist in creating or refining a sustainable and scalable financial model.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Budgeting and Forecasting:</a:t>
            </a:r>
            <a:r>
              <a:rPr lang="en-US" dirty="0"/>
              <a:t> Help establish a realistic budget and financial projections.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Accounting Setup:</a:t>
            </a:r>
            <a:r>
              <a:rPr lang="en-US" dirty="0"/>
              <a:t> Implement accounting software and establish basic bookkeeping processes.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Tax Planning:</a:t>
            </a:r>
            <a:r>
              <a:rPr lang="en-US" dirty="0"/>
              <a:t> Provide guidance on tax compliance and strategies to minimize liabilities.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Cash Flow Management:</a:t>
            </a:r>
            <a:r>
              <a:rPr lang="en-US" dirty="0"/>
              <a:t> Develop strategies for managing cash flow effectively during the startup phase.</a:t>
            </a:r>
          </a:p>
          <a:p>
            <a:r>
              <a:rPr lang="en-US" b="1" dirty="0"/>
              <a:t>2. Strategic Planning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Market Analysis:</a:t>
            </a:r>
            <a:r>
              <a:rPr lang="en-US" dirty="0"/>
              <a:t> Help identify target markets, competitors, and potential opportunities.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Business Planning:</a:t>
            </a:r>
            <a:r>
              <a:rPr lang="en-US" dirty="0"/>
              <a:t> Develop or enhance the business plan to attract investors or guide decision-making.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Funding Strategy:</a:t>
            </a:r>
            <a:r>
              <a:rPr lang="en-US" dirty="0"/>
              <a:t> Assist with identifying funding options, preparing pitch decks, and investor presentations.</a:t>
            </a:r>
          </a:p>
          <a:p>
            <a:r>
              <a:rPr lang="en-US" b="1" dirty="0"/>
              <a:t>3. Operational Setup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Process Design:</a:t>
            </a:r>
            <a:r>
              <a:rPr lang="en-US" dirty="0"/>
              <a:t> Establish workflows for efficient operations.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Hiring and Onboarding:</a:t>
            </a:r>
            <a:r>
              <a:rPr lang="en-US" dirty="0"/>
              <a:t> Provide advice on building the initial team and establishing HR policies.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Compliance:</a:t>
            </a:r>
            <a:r>
              <a:rPr lang="en-US" dirty="0"/>
              <a:t> Ensure the startup meets all legal and regulatory requirements in its jurisdiction.</a:t>
            </a:r>
          </a:p>
          <a:p>
            <a:r>
              <a:rPr lang="en-US" b="1" dirty="0"/>
              <a:t>4. Technology and Infrastructure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ERP/Software Selection:</a:t>
            </a:r>
            <a:r>
              <a:rPr lang="en-US" dirty="0"/>
              <a:t> Recommend tools for managing operations, accounting, CRM, and inventory (if applicable).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Cybersecurity:</a:t>
            </a:r>
            <a:r>
              <a:rPr lang="en-US" dirty="0"/>
              <a:t> Provide basic advice on securing company data and protecting intellectual property.</a:t>
            </a:r>
          </a:p>
          <a:p>
            <a:r>
              <a:rPr lang="en-US" b="1" dirty="0"/>
              <a:t>5. Marketing and Sales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Go-to-Market Strategy:</a:t>
            </a:r>
            <a:r>
              <a:rPr lang="en-US" dirty="0"/>
              <a:t> Develop strategies for product or service launches.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Branding and Positioning:</a:t>
            </a:r>
            <a:r>
              <a:rPr lang="en-US" dirty="0"/>
              <a:t> Guide the startup in creating a compelling brand identity.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Customer Acquisition:</a:t>
            </a:r>
            <a:r>
              <a:rPr lang="en-US" dirty="0"/>
              <a:t> Suggest cost-effective ways to attract and retain customers.</a:t>
            </a:r>
          </a:p>
          <a:p>
            <a:r>
              <a:rPr lang="en-US" b="1" dirty="0"/>
              <a:t>6. Leadership Coaching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Founder Mentorship:</a:t>
            </a:r>
            <a:r>
              <a:rPr lang="en-US" dirty="0"/>
              <a:t> Offer advice on leadership, decision-making, and conflict resolution.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Team Building:</a:t>
            </a:r>
            <a:r>
              <a:rPr lang="en-US" dirty="0"/>
              <a:t> Provide strategies for fostering a strong team culture.</a:t>
            </a:r>
          </a:p>
          <a:p>
            <a:r>
              <a:rPr lang="en-US" b="1" dirty="0"/>
              <a:t>7. Risk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Legal Advisory:</a:t>
            </a:r>
            <a:r>
              <a:rPr lang="en-US" dirty="0"/>
              <a:t> Assist with contract reviews and intellectual property protection.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Insurance Planning:</a:t>
            </a:r>
            <a:r>
              <a:rPr lang="en-US" dirty="0"/>
              <a:t> Recommend necessary business insurance policies.</a:t>
            </a:r>
          </a:p>
          <a:p>
            <a:r>
              <a:rPr lang="en-US" b="1" dirty="0"/>
              <a:t>8. Performance Measurement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KPIs and Metrics:</a:t>
            </a:r>
            <a:r>
              <a:rPr lang="en-US" dirty="0"/>
              <a:t> Help define and track key performance indicators for growth and success.</a:t>
            </a:r>
          </a:p>
          <a:p>
            <a:r>
              <a:rPr lang="en-US" dirty="0"/>
              <a:t>By tailoring your consulting services to the startup's specific goals and challenges, you can position yourself as a vital partner in its success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02" name="Google Shape;3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3" name="Google Shape;33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3" name="Google Shape;35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>
          <a:extLst>
            <a:ext uri="{FF2B5EF4-FFF2-40B4-BE49-F238E27FC236}">
              <a16:creationId xmlns:a16="http://schemas.microsoft.com/office/drawing/2014/main" id="{545FC2B6-EE45-94FE-28BF-3F333D981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2:notes">
            <a:extLst>
              <a:ext uri="{FF2B5EF4-FFF2-40B4-BE49-F238E27FC236}">
                <a16:creationId xmlns:a16="http://schemas.microsoft.com/office/drawing/2014/main" id="{8647FD18-136F-0C33-D343-A8ADAD4E42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3" name="Google Shape;353;p32:notes">
            <a:extLst>
              <a:ext uri="{FF2B5EF4-FFF2-40B4-BE49-F238E27FC236}">
                <a16:creationId xmlns:a16="http://schemas.microsoft.com/office/drawing/2014/main" id="{2A561BDC-3508-5773-D715-CA1694927F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61872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>
          <a:extLst>
            <a:ext uri="{FF2B5EF4-FFF2-40B4-BE49-F238E27FC236}">
              <a16:creationId xmlns:a16="http://schemas.microsoft.com/office/drawing/2014/main" id="{4F0D6F18-54FE-7984-93B2-17DB2EB1D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2:notes">
            <a:extLst>
              <a:ext uri="{FF2B5EF4-FFF2-40B4-BE49-F238E27FC236}">
                <a16:creationId xmlns:a16="http://schemas.microsoft.com/office/drawing/2014/main" id="{7EC1BDFE-1EC5-EE7F-AF3B-8E5001E3C9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53" name="Google Shape;353;p32:notes">
            <a:extLst>
              <a:ext uri="{FF2B5EF4-FFF2-40B4-BE49-F238E27FC236}">
                <a16:creationId xmlns:a16="http://schemas.microsoft.com/office/drawing/2014/main" id="{2A5C6C26-8292-C352-C3A4-952F1DBDD2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533118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4" name="Google Shape;3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>
          <a:extLst>
            <a:ext uri="{FF2B5EF4-FFF2-40B4-BE49-F238E27FC236}">
              <a16:creationId xmlns:a16="http://schemas.microsoft.com/office/drawing/2014/main" id="{60792D98-5E8E-C7B4-90CC-1EB66292E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:notes">
            <a:extLst>
              <a:ext uri="{FF2B5EF4-FFF2-40B4-BE49-F238E27FC236}">
                <a16:creationId xmlns:a16="http://schemas.microsoft.com/office/drawing/2014/main" id="{619D1AE9-EF0A-672E-901F-69B87D5351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74" name="Google Shape;374;p6:notes">
            <a:extLst>
              <a:ext uri="{FF2B5EF4-FFF2-40B4-BE49-F238E27FC236}">
                <a16:creationId xmlns:a16="http://schemas.microsoft.com/office/drawing/2014/main" id="{E745691C-4A2A-2C10-33B6-D4B2E3821D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76581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>
          <a:extLst>
            <a:ext uri="{FF2B5EF4-FFF2-40B4-BE49-F238E27FC236}">
              <a16:creationId xmlns:a16="http://schemas.microsoft.com/office/drawing/2014/main" id="{AE336BEB-3C08-C3BC-11A9-E8A4EAD69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:notes">
            <a:extLst>
              <a:ext uri="{FF2B5EF4-FFF2-40B4-BE49-F238E27FC236}">
                <a16:creationId xmlns:a16="http://schemas.microsoft.com/office/drawing/2014/main" id="{9A0F3FE7-BD8B-CA03-D8F3-B50F298F47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4" name="Google Shape;374;p6:notes">
            <a:extLst>
              <a:ext uri="{FF2B5EF4-FFF2-40B4-BE49-F238E27FC236}">
                <a16:creationId xmlns:a16="http://schemas.microsoft.com/office/drawing/2014/main" id="{C4C4EEFC-44B9-7B8B-03A3-AB96419A75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129365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1" name="Google Shape;40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2" name="Google Shape;40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Aptos" panose="020B0004020202020204" pitchFamily="34" charset="0"/>
              </a:rPr>
              <a:t>15</a:t>
            </a:fld>
            <a:endParaRPr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6" name="Google Shape;45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1" name="Google Shape;47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7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Google Shape;16;p17"/>
          <p:cNvSpPr txBox="1">
            <a:spLocks noGrp="1"/>
          </p:cNvSpPr>
          <p:nvPr>
            <p:ph type="body" idx="1"/>
          </p:nvPr>
        </p:nvSpPr>
        <p:spPr>
          <a:xfrm>
            <a:off x="3512343" y="5922140"/>
            <a:ext cx="5167313" cy="5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body" idx="3"/>
          </p:nvPr>
        </p:nvSpPr>
        <p:spPr>
          <a:xfrm>
            <a:off x="4038600" y="3608511"/>
            <a:ext cx="4114800" cy="518795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8995B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/>
            </a:lvl1pPr>
            <a:lvl2pPr marL="914400" lvl="1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title"/>
          </p:nvPr>
        </p:nvSpPr>
        <p:spPr>
          <a:xfrm>
            <a:off x="350836" y="2445633"/>
            <a:ext cx="11490325" cy="8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">
  <p:cSld name="Section Break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1"/>
          <p:cNvSpPr>
            <a:spLocks noGrp="1"/>
          </p:cNvSpPr>
          <p:nvPr>
            <p:ph type="pic" idx="2"/>
          </p:nvPr>
        </p:nvSpPr>
        <p:spPr>
          <a:xfrm>
            <a:off x="0" y="0"/>
            <a:ext cx="6096000" cy="6867922"/>
          </a:xfrm>
          <a:prstGeom prst="rect">
            <a:avLst/>
          </a:prstGeom>
          <a:noFill/>
          <a:ln>
            <a:noFill/>
          </a:ln>
        </p:spPr>
      </p:sp>
      <p:sp>
        <p:nvSpPr>
          <p:cNvPr id="21" name="Google Shape;21;p21"/>
          <p:cNvSpPr txBox="1">
            <a:spLocks noGrp="1"/>
          </p:cNvSpPr>
          <p:nvPr>
            <p:ph type="title"/>
          </p:nvPr>
        </p:nvSpPr>
        <p:spPr>
          <a:xfrm>
            <a:off x="6096000" y="2262871"/>
            <a:ext cx="5251450" cy="1661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body" idx="1"/>
          </p:nvPr>
        </p:nvSpPr>
        <p:spPr>
          <a:xfrm>
            <a:off x="6096000" y="4378134"/>
            <a:ext cx="5251450" cy="365125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8995B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sldNum" idx="12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 and Table">
  <p:cSld name="Chart and Tab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 txBox="1"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sldNum" idx="12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>
            <a:spLocks noGrp="1"/>
          </p:cNvSpPr>
          <p:nvPr>
            <p:ph type="pic" idx="2"/>
          </p:nvPr>
        </p:nvSpPr>
        <p:spPr>
          <a:xfrm>
            <a:off x="0" y="0"/>
            <a:ext cx="6096000" cy="68580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sp>
      <p:sp>
        <p:nvSpPr>
          <p:cNvPr id="31" name="Google Shape;31;p19"/>
          <p:cNvSpPr txBox="1">
            <a:spLocks noGrp="1"/>
          </p:cNvSpPr>
          <p:nvPr>
            <p:ph type="title"/>
          </p:nvPr>
        </p:nvSpPr>
        <p:spPr>
          <a:xfrm>
            <a:off x="7068819" y="642927"/>
            <a:ext cx="4846320" cy="1435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body" idx="1"/>
          </p:nvPr>
        </p:nvSpPr>
        <p:spPr>
          <a:xfrm>
            <a:off x="7068820" y="2078875"/>
            <a:ext cx="4114800" cy="3798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/>
          <p:nvPr/>
        </p:nvSpPr>
        <p:spPr>
          <a:xfrm>
            <a:off x="7068820" y="6303963"/>
            <a:ext cx="3014980" cy="554037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8995B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">
  <p:cSld name="Introduc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body" idx="1"/>
          </p:nvPr>
        </p:nvSpPr>
        <p:spPr>
          <a:xfrm>
            <a:off x="6225539" y="1546138"/>
            <a:ext cx="4023360" cy="464871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8995B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>
            <a:spLocks noGrp="1"/>
          </p:cNvSpPr>
          <p:nvPr>
            <p:ph type="pic" idx="2"/>
          </p:nvPr>
        </p:nvSpPr>
        <p:spPr>
          <a:xfrm>
            <a:off x="0" y="0"/>
            <a:ext cx="5416550" cy="6846932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3"/>
          </p:nvPr>
        </p:nvSpPr>
        <p:spPr>
          <a:xfrm>
            <a:off x="6096000" y="2799617"/>
            <a:ext cx="4646246" cy="2218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marL="914400" lvl="1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/>
          <p:nvPr/>
        </p:nvSpPr>
        <p:spPr>
          <a:xfrm>
            <a:off x="11549269" y="6468303"/>
            <a:ext cx="4439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0"/>
          <p:cNvSpPr txBox="1"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5"/>
          <p:cNvSpPr txBox="1">
            <a:spLocks noGrp="1"/>
          </p:cNvSpPr>
          <p:nvPr>
            <p:ph type="title"/>
          </p:nvPr>
        </p:nvSpPr>
        <p:spPr>
          <a:xfrm>
            <a:off x="7792279" y="365125"/>
            <a:ext cx="4018722" cy="573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body" idx="1"/>
          </p:nvPr>
        </p:nvSpPr>
        <p:spPr>
          <a:xfrm>
            <a:off x="7792279" y="1263841"/>
            <a:ext cx="4018722" cy="4636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sldNum" idx="12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25"/>
          <p:cNvSpPr>
            <a:spLocks noGrp="1"/>
          </p:cNvSpPr>
          <p:nvPr>
            <p:ph type="pic" idx="2"/>
          </p:nvPr>
        </p:nvSpPr>
        <p:spPr>
          <a:xfrm>
            <a:off x="736600" y="365125"/>
            <a:ext cx="2997200" cy="1781979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25"/>
          <p:cNvSpPr>
            <a:spLocks noGrp="1"/>
          </p:cNvSpPr>
          <p:nvPr>
            <p:ph type="pic" idx="3"/>
          </p:nvPr>
        </p:nvSpPr>
        <p:spPr>
          <a:xfrm>
            <a:off x="4051300" y="365125"/>
            <a:ext cx="2997200" cy="1781979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25"/>
          <p:cNvSpPr>
            <a:spLocks noGrp="1"/>
          </p:cNvSpPr>
          <p:nvPr>
            <p:ph type="pic" idx="4"/>
          </p:nvPr>
        </p:nvSpPr>
        <p:spPr>
          <a:xfrm>
            <a:off x="736600" y="2422525"/>
            <a:ext cx="2997200" cy="1781979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25"/>
          <p:cNvSpPr>
            <a:spLocks noGrp="1"/>
          </p:cNvSpPr>
          <p:nvPr>
            <p:ph type="pic" idx="5"/>
          </p:nvPr>
        </p:nvSpPr>
        <p:spPr>
          <a:xfrm>
            <a:off x="4051300" y="2422525"/>
            <a:ext cx="2997200" cy="1781979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25"/>
          <p:cNvSpPr>
            <a:spLocks noGrp="1"/>
          </p:cNvSpPr>
          <p:nvPr>
            <p:ph type="pic" idx="6"/>
          </p:nvPr>
        </p:nvSpPr>
        <p:spPr>
          <a:xfrm>
            <a:off x="736600" y="4479925"/>
            <a:ext cx="2997200" cy="1781979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25"/>
          <p:cNvSpPr>
            <a:spLocks noGrp="1"/>
          </p:cNvSpPr>
          <p:nvPr>
            <p:ph type="pic" idx="7"/>
          </p:nvPr>
        </p:nvSpPr>
        <p:spPr>
          <a:xfrm>
            <a:off x="4051300" y="4479925"/>
            <a:ext cx="2997200" cy="1781979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25"/>
          <p:cNvSpPr/>
          <p:nvPr/>
        </p:nvSpPr>
        <p:spPr>
          <a:xfrm>
            <a:off x="7781678" y="6303963"/>
            <a:ext cx="3014980" cy="554037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8995B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23"/>
          <p:cNvSpPr txBox="1"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8995B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  <a:defRPr sz="1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1"/>
          </p:nvPr>
        </p:nvSpPr>
        <p:spPr>
          <a:xfrm>
            <a:off x="1478756" y="1569719"/>
            <a:ext cx="9234488" cy="2651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/>
            </a:lvl1pPr>
            <a:lvl2pPr marL="914400" lvl="1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">
  <p:cSld name="Closing">
    <p:bg>
      <p:bgPr>
        <a:solidFill>
          <a:schemeClr val="dk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29"/>
          <p:cNvSpPr txBox="1">
            <a:spLocks noGrp="1"/>
          </p:cNvSpPr>
          <p:nvPr>
            <p:ph type="title"/>
          </p:nvPr>
        </p:nvSpPr>
        <p:spPr>
          <a:xfrm>
            <a:off x="702365" y="1660810"/>
            <a:ext cx="10787270" cy="830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9"/>
          <p:cNvSpPr txBox="1">
            <a:spLocks noGrp="1"/>
          </p:cNvSpPr>
          <p:nvPr>
            <p:ph type="body" idx="1"/>
          </p:nvPr>
        </p:nvSpPr>
        <p:spPr>
          <a:xfrm>
            <a:off x="3512343" y="5137992"/>
            <a:ext cx="5167313" cy="518795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8995B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29"/>
          <p:cNvSpPr txBox="1">
            <a:spLocks noGrp="1"/>
          </p:cNvSpPr>
          <p:nvPr>
            <p:ph type="body" idx="3"/>
          </p:nvPr>
        </p:nvSpPr>
        <p:spPr>
          <a:xfrm>
            <a:off x="588194" y="3903126"/>
            <a:ext cx="3064668" cy="5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29"/>
          <p:cNvSpPr txBox="1">
            <a:spLocks noGrp="1"/>
          </p:cNvSpPr>
          <p:nvPr>
            <p:ph type="body" idx="4"/>
          </p:nvPr>
        </p:nvSpPr>
        <p:spPr>
          <a:xfrm>
            <a:off x="4563664" y="3893330"/>
            <a:ext cx="3064668" cy="5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29"/>
          <p:cNvSpPr txBox="1">
            <a:spLocks noGrp="1"/>
          </p:cNvSpPr>
          <p:nvPr>
            <p:ph type="body" idx="5"/>
          </p:nvPr>
        </p:nvSpPr>
        <p:spPr>
          <a:xfrm>
            <a:off x="8539138" y="3903126"/>
            <a:ext cx="3064668" cy="5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9"/>
          <p:cNvSpPr>
            <a:spLocks noGrp="1"/>
          </p:cNvSpPr>
          <p:nvPr>
            <p:ph type="clipArt" idx="6"/>
          </p:nvPr>
        </p:nvSpPr>
        <p:spPr>
          <a:xfrm>
            <a:off x="1754768" y="3098985"/>
            <a:ext cx="731520" cy="73152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29"/>
          <p:cNvSpPr>
            <a:spLocks noGrp="1"/>
          </p:cNvSpPr>
          <p:nvPr>
            <p:ph type="clipArt" idx="7"/>
          </p:nvPr>
        </p:nvSpPr>
        <p:spPr>
          <a:xfrm>
            <a:off x="5730240" y="3098985"/>
            <a:ext cx="731520" cy="73152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29"/>
          <p:cNvSpPr>
            <a:spLocks noGrp="1"/>
          </p:cNvSpPr>
          <p:nvPr>
            <p:ph type="clipArt" idx="8"/>
          </p:nvPr>
        </p:nvSpPr>
        <p:spPr>
          <a:xfrm>
            <a:off x="9705712" y="3098985"/>
            <a:ext cx="731520" cy="73152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7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37"/>
          <p:cNvSpPr txBox="1"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8995B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  <a:defRPr sz="1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7"/>
          <p:cNvSpPr txBox="1">
            <a:spLocks noGrp="1"/>
          </p:cNvSpPr>
          <p:nvPr>
            <p:ph type="body" idx="1"/>
          </p:nvPr>
        </p:nvSpPr>
        <p:spPr>
          <a:xfrm>
            <a:off x="1478756" y="1569719"/>
            <a:ext cx="9234488" cy="2651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/>
            </a:lvl1pPr>
            <a:lvl2pPr marL="914400" lvl="1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bg>
      <p:bgPr>
        <a:solidFill>
          <a:schemeClr val="dk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40"/>
          <p:cNvSpPr txBox="1">
            <a:spLocks noGrp="1"/>
          </p:cNvSpPr>
          <p:nvPr>
            <p:ph type="body" idx="1"/>
          </p:nvPr>
        </p:nvSpPr>
        <p:spPr>
          <a:xfrm>
            <a:off x="3512343" y="5922140"/>
            <a:ext cx="5167313" cy="5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40"/>
          <p:cNvSpPr txBox="1">
            <a:spLocks noGrp="1"/>
          </p:cNvSpPr>
          <p:nvPr>
            <p:ph type="body" idx="3"/>
          </p:nvPr>
        </p:nvSpPr>
        <p:spPr>
          <a:xfrm>
            <a:off x="4038600" y="3608511"/>
            <a:ext cx="4114800" cy="518795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8995B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/>
            </a:lvl1pPr>
            <a:lvl2pPr marL="914400" lvl="1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0"/>
          <p:cNvSpPr txBox="1">
            <a:spLocks noGrp="1"/>
          </p:cNvSpPr>
          <p:nvPr>
            <p:ph type="title"/>
          </p:nvPr>
        </p:nvSpPr>
        <p:spPr>
          <a:xfrm>
            <a:off x="350836" y="2445633"/>
            <a:ext cx="11490325" cy="8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">
  <p:cSld name="Closing">
    <p:bg>
      <p:bgPr>
        <a:solidFill>
          <a:schemeClr val="dk1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1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41"/>
          <p:cNvSpPr txBox="1">
            <a:spLocks noGrp="1"/>
          </p:cNvSpPr>
          <p:nvPr>
            <p:ph type="title"/>
          </p:nvPr>
        </p:nvSpPr>
        <p:spPr>
          <a:xfrm>
            <a:off x="702365" y="1660810"/>
            <a:ext cx="10787270" cy="830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41"/>
          <p:cNvSpPr txBox="1">
            <a:spLocks noGrp="1"/>
          </p:cNvSpPr>
          <p:nvPr>
            <p:ph type="body" idx="1"/>
          </p:nvPr>
        </p:nvSpPr>
        <p:spPr>
          <a:xfrm>
            <a:off x="3512343" y="5137992"/>
            <a:ext cx="5167313" cy="518795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8995B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41"/>
          <p:cNvSpPr txBox="1">
            <a:spLocks noGrp="1"/>
          </p:cNvSpPr>
          <p:nvPr>
            <p:ph type="body" idx="3"/>
          </p:nvPr>
        </p:nvSpPr>
        <p:spPr>
          <a:xfrm>
            <a:off x="588194" y="3903126"/>
            <a:ext cx="3064668" cy="5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41"/>
          <p:cNvSpPr txBox="1">
            <a:spLocks noGrp="1"/>
          </p:cNvSpPr>
          <p:nvPr>
            <p:ph type="body" idx="4"/>
          </p:nvPr>
        </p:nvSpPr>
        <p:spPr>
          <a:xfrm>
            <a:off x="4563664" y="3893330"/>
            <a:ext cx="3064668" cy="5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41"/>
          <p:cNvSpPr txBox="1">
            <a:spLocks noGrp="1"/>
          </p:cNvSpPr>
          <p:nvPr>
            <p:ph type="body" idx="5"/>
          </p:nvPr>
        </p:nvSpPr>
        <p:spPr>
          <a:xfrm>
            <a:off x="8539138" y="3903126"/>
            <a:ext cx="3064668" cy="5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41"/>
          <p:cNvSpPr>
            <a:spLocks noGrp="1"/>
          </p:cNvSpPr>
          <p:nvPr>
            <p:ph type="clipArt" idx="6"/>
          </p:nvPr>
        </p:nvSpPr>
        <p:spPr>
          <a:xfrm>
            <a:off x="1754768" y="3098985"/>
            <a:ext cx="731520" cy="731520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41"/>
          <p:cNvSpPr>
            <a:spLocks noGrp="1"/>
          </p:cNvSpPr>
          <p:nvPr>
            <p:ph type="clipArt" idx="7"/>
          </p:nvPr>
        </p:nvSpPr>
        <p:spPr>
          <a:xfrm>
            <a:off x="5730240" y="3098985"/>
            <a:ext cx="731520" cy="73152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41"/>
          <p:cNvSpPr>
            <a:spLocks noGrp="1"/>
          </p:cNvSpPr>
          <p:nvPr>
            <p:ph type="clipArt" idx="8"/>
          </p:nvPr>
        </p:nvSpPr>
        <p:spPr>
          <a:xfrm>
            <a:off x="9705712" y="3098985"/>
            <a:ext cx="731520" cy="73152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">
  <p:cSld name="Closing">
    <p:bg>
      <p:bgPr>
        <a:solidFill>
          <a:schemeClr val="dk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11"/>
          <p:cNvSpPr txBox="1">
            <a:spLocks noGrp="1"/>
          </p:cNvSpPr>
          <p:nvPr>
            <p:ph type="title"/>
          </p:nvPr>
        </p:nvSpPr>
        <p:spPr>
          <a:xfrm>
            <a:off x="702365" y="1660810"/>
            <a:ext cx="10787270" cy="830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1"/>
          <p:cNvSpPr txBox="1">
            <a:spLocks noGrp="1"/>
          </p:cNvSpPr>
          <p:nvPr>
            <p:ph type="body" idx="1"/>
          </p:nvPr>
        </p:nvSpPr>
        <p:spPr>
          <a:xfrm>
            <a:off x="3512343" y="5137992"/>
            <a:ext cx="5167313" cy="518795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8995B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11"/>
          <p:cNvSpPr txBox="1">
            <a:spLocks noGrp="1"/>
          </p:cNvSpPr>
          <p:nvPr>
            <p:ph type="body" idx="3"/>
          </p:nvPr>
        </p:nvSpPr>
        <p:spPr>
          <a:xfrm>
            <a:off x="588194" y="3903126"/>
            <a:ext cx="3064668" cy="5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11"/>
          <p:cNvSpPr txBox="1">
            <a:spLocks noGrp="1"/>
          </p:cNvSpPr>
          <p:nvPr>
            <p:ph type="body" idx="4"/>
          </p:nvPr>
        </p:nvSpPr>
        <p:spPr>
          <a:xfrm>
            <a:off x="4563664" y="3893330"/>
            <a:ext cx="3064668" cy="5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11"/>
          <p:cNvSpPr txBox="1">
            <a:spLocks noGrp="1"/>
          </p:cNvSpPr>
          <p:nvPr>
            <p:ph type="body" idx="5"/>
          </p:nvPr>
        </p:nvSpPr>
        <p:spPr>
          <a:xfrm>
            <a:off x="8539138" y="3903126"/>
            <a:ext cx="3064668" cy="5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11"/>
          <p:cNvSpPr>
            <a:spLocks noGrp="1"/>
          </p:cNvSpPr>
          <p:nvPr>
            <p:ph type="clipArt" idx="6"/>
          </p:nvPr>
        </p:nvSpPr>
        <p:spPr>
          <a:xfrm>
            <a:off x="1754768" y="3098985"/>
            <a:ext cx="731520" cy="73152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11"/>
          <p:cNvSpPr>
            <a:spLocks noGrp="1"/>
          </p:cNvSpPr>
          <p:nvPr>
            <p:ph type="clipArt" idx="7"/>
          </p:nvPr>
        </p:nvSpPr>
        <p:spPr>
          <a:xfrm>
            <a:off x="5730240" y="3098985"/>
            <a:ext cx="731520" cy="73152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11"/>
          <p:cNvSpPr>
            <a:spLocks noGrp="1"/>
          </p:cNvSpPr>
          <p:nvPr>
            <p:ph type="clipArt" idx="8"/>
          </p:nvPr>
        </p:nvSpPr>
        <p:spPr>
          <a:xfrm>
            <a:off x="9705712" y="3098985"/>
            <a:ext cx="731520" cy="73152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"/>
          <p:cNvSpPr txBox="1"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2"/>
          <p:cNvSpPr txBox="1"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42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0F486F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2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12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2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2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29" name="Google Shape;129;p12"/>
          <p:cNvCxnSpPr/>
          <p:nvPr/>
        </p:nvCxnSpPr>
        <p:spPr>
          <a:xfrm flipH="1">
            <a:off x="8228012" y="8467"/>
            <a:ext cx="3810000" cy="38100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0" name="Google Shape;130;p12"/>
          <p:cNvCxnSpPr/>
          <p:nvPr/>
        </p:nvCxnSpPr>
        <p:spPr>
          <a:xfrm flipH="1">
            <a:off x="6108170" y="91545"/>
            <a:ext cx="6080655" cy="6080655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1" name="Google Shape;131;p12"/>
          <p:cNvCxnSpPr/>
          <p:nvPr/>
        </p:nvCxnSpPr>
        <p:spPr>
          <a:xfrm flipH="1">
            <a:off x="7235825" y="228600"/>
            <a:ext cx="4953000" cy="49530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2" name="Google Shape;132;p12"/>
          <p:cNvCxnSpPr/>
          <p:nvPr/>
        </p:nvCxnSpPr>
        <p:spPr>
          <a:xfrm flipH="1">
            <a:off x="7335837" y="32278"/>
            <a:ext cx="4852989" cy="4852989"/>
          </a:xfrm>
          <a:prstGeom prst="straightConnector1">
            <a:avLst/>
          </a:prstGeom>
          <a:noFill/>
          <a:ln w="317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3" name="Google Shape;133;p12"/>
          <p:cNvCxnSpPr/>
          <p:nvPr/>
        </p:nvCxnSpPr>
        <p:spPr>
          <a:xfrm flipH="1">
            <a:off x="7845426" y="609601"/>
            <a:ext cx="4343399" cy="4343399"/>
          </a:xfrm>
          <a:prstGeom prst="straightConnector1">
            <a:avLst/>
          </a:prstGeom>
          <a:noFill/>
          <a:ln w="317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3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3"/>
          <p:cNvSpPr txBox="1"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400" lvl="1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137" name="Google Shape;137;p13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3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3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  <a:defRPr sz="36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4"/>
          <p:cNvSpPr txBox="1"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0F486F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14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4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4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4"/>
          <p:cNvSpPr txBox="1">
            <a:spLocks noGrp="1"/>
          </p:cNvSpPr>
          <p:nvPr>
            <p:ph type="body" idx="1"/>
          </p:nvPr>
        </p:nvSpPr>
        <p:spPr>
          <a:xfrm>
            <a:off x="684211" y="685800"/>
            <a:ext cx="4937655" cy="3615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400" lvl="1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149" name="Google Shape;149;p24"/>
          <p:cNvSpPr txBox="1">
            <a:spLocks noGrp="1"/>
          </p:cNvSpPr>
          <p:nvPr>
            <p:ph type="body" idx="2"/>
          </p:nvPr>
        </p:nvSpPr>
        <p:spPr>
          <a:xfrm>
            <a:off x="5808133" y="685801"/>
            <a:ext cx="4934479" cy="361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400" lvl="1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150" name="Google Shape;150;p24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4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4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6"/>
          <p:cNvSpPr txBox="1"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240"/>
              <a:buNone/>
              <a:defRPr sz="28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56" name="Google Shape;156;p26"/>
          <p:cNvSpPr txBox="1">
            <a:spLocks noGrp="1"/>
          </p:cNvSpPr>
          <p:nvPr>
            <p:ph type="body" idx="2"/>
          </p:nvPr>
        </p:nvSpPr>
        <p:spPr>
          <a:xfrm>
            <a:off x="684211" y="1270529"/>
            <a:ext cx="4937655" cy="303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400" lvl="1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157" name="Google Shape;157;p26"/>
          <p:cNvSpPr txBox="1">
            <a:spLocks noGrp="1"/>
          </p:cNvSpPr>
          <p:nvPr>
            <p:ph type="body" idx="3"/>
          </p:nvPr>
        </p:nvSpPr>
        <p:spPr>
          <a:xfrm>
            <a:off x="6079066" y="685800"/>
            <a:ext cx="466513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240"/>
              <a:buNone/>
              <a:defRPr sz="28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58" name="Google Shape;158;p26"/>
          <p:cNvSpPr txBox="1">
            <a:spLocks noGrp="1"/>
          </p:cNvSpPr>
          <p:nvPr>
            <p:ph type="body" idx="4"/>
          </p:nvPr>
        </p:nvSpPr>
        <p:spPr>
          <a:xfrm>
            <a:off x="5806545" y="1262062"/>
            <a:ext cx="4929188" cy="303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400" lvl="1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159" name="Google Shape;159;p26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6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6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7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7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7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8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8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2"/>
          <p:cNvSpPr txBox="1"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42"/>
          <p:cNvSpPr txBox="1">
            <a:spLocks noGrp="1"/>
          </p:cNvSpPr>
          <p:nvPr>
            <p:ph type="body" idx="1"/>
          </p:nvPr>
        </p:nvSpPr>
        <p:spPr>
          <a:xfrm>
            <a:off x="684212" y="685800"/>
            <a:ext cx="5943601" cy="53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400" lvl="1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174" name="Google Shape;174;p42"/>
          <p:cNvSpPr txBox="1">
            <a:spLocks noGrp="1"/>
          </p:cNvSpPr>
          <p:nvPr>
            <p:ph type="body" idx="2"/>
          </p:nvPr>
        </p:nvSpPr>
        <p:spPr>
          <a:xfrm>
            <a:off x="7085012" y="2209799"/>
            <a:ext cx="3657600" cy="2091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75" name="Google Shape;175;p42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42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42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3"/>
          <p:cNvSpPr txBox="1"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43"/>
          <p:cNvSpPr>
            <a:spLocks noGrp="1"/>
          </p:cNvSpPr>
          <p:nvPr>
            <p:ph type="pic" idx="2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noFill/>
          <a:ln w="15875" cap="flat" cmpd="sng">
            <a:solidFill>
              <a:schemeClr val="l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43"/>
          <p:cNvSpPr txBox="1">
            <a:spLocks noGrp="1"/>
          </p:cNvSpPr>
          <p:nvPr>
            <p:ph type="body" idx="1"/>
          </p:nvPr>
        </p:nvSpPr>
        <p:spPr>
          <a:xfrm>
            <a:off x="4722812" y="2777066"/>
            <a:ext cx="6021388" cy="2048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40"/>
              <a:buNone/>
              <a:defRPr sz="18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82" name="Google Shape;182;p43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43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43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4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44"/>
          <p:cNvSpPr>
            <a:spLocks noGrp="1"/>
          </p:cNvSpPr>
          <p:nvPr>
            <p:ph type="pic" idx="2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noFill/>
          <a:ln w="15875" cap="flat" cmpd="sng">
            <a:solidFill>
              <a:schemeClr val="l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p44"/>
          <p:cNvSpPr txBox="1">
            <a:spLocks noGrp="1"/>
          </p:cNvSpPr>
          <p:nvPr>
            <p:ph type="body" idx="1"/>
          </p:nvPr>
        </p:nvSpPr>
        <p:spPr>
          <a:xfrm>
            <a:off x="914402" y="3843867"/>
            <a:ext cx="83042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SzPts val="1280"/>
              <a:buFont typeface="Century Gothic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40"/>
              <a:buFont typeface="Century Gothic"/>
              <a:buNone/>
              <a:defRPr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80"/>
              <a:buFont typeface="Century Gothic"/>
              <a:buNone/>
              <a:defRPr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Font typeface="Century Gothic"/>
              <a:buNone/>
              <a:defRPr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Font typeface="Century Gothic"/>
              <a:buNone/>
              <a:defRPr/>
            </a:lvl5pPr>
            <a:lvl6pPr marL="2743200" lvl="5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189" name="Google Shape;189;p44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44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44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5"/>
          <p:cNvSpPr txBox="1"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45"/>
          <p:cNvSpPr txBox="1"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0F486F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5" name="Google Shape;195;p45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45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45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6"/>
          <p:cNvSpPr txBox="1"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 b="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46"/>
          <p:cNvSpPr txBox="1">
            <a:spLocks noGrp="1"/>
          </p:cNvSpPr>
          <p:nvPr>
            <p:ph type="body" idx="1"/>
          </p:nvPr>
        </p:nvSpPr>
        <p:spPr>
          <a:xfrm>
            <a:off x="1446212" y="3429000"/>
            <a:ext cx="8534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40"/>
              <a:buFont typeface="Century Gothic"/>
              <a:buNone/>
              <a:defRPr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80"/>
              <a:buFont typeface="Century Gothic"/>
              <a:buNone/>
              <a:defRPr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Font typeface="Century Gothic"/>
              <a:buNone/>
              <a:defRPr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Font typeface="Century Gothic"/>
              <a:buNone/>
              <a:defRPr/>
            </a:lvl5pPr>
            <a:lvl6pPr marL="2743200" lvl="5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201" name="Google Shape;201;p46"/>
          <p:cNvSpPr txBox="1">
            <a:spLocks noGrp="1"/>
          </p:cNvSpPr>
          <p:nvPr>
            <p:ph type="body" idx="2"/>
          </p:nvPr>
        </p:nvSpPr>
        <p:spPr>
          <a:xfrm>
            <a:off x="684213" y="4301067"/>
            <a:ext cx="8534400" cy="1684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0F486F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2" name="Google Shape;202;p46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46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46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5" name="Google Shape;205;p46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 dirty="0">
                <a:solidFill>
                  <a:schemeClr val="lt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“</a:t>
            </a:r>
            <a:endParaRPr dirty="0">
              <a:latin typeface="Aptos" panose="020B0004020202020204" pitchFamily="34" charset="0"/>
            </a:endParaRPr>
          </a:p>
        </p:txBody>
      </p:sp>
      <p:sp>
        <p:nvSpPr>
          <p:cNvPr id="206" name="Google Shape;206;p46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 dirty="0">
                <a:solidFill>
                  <a:schemeClr val="lt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”</a:t>
            </a:r>
            <a:endParaRPr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7"/>
          <p:cNvSpPr txBox="1"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47"/>
          <p:cNvSpPr txBox="1"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0F486F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47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47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47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8"/>
          <p:cNvSpPr txBox="1"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 b="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48"/>
          <p:cNvSpPr txBox="1">
            <a:spLocks noGrp="1"/>
          </p:cNvSpPr>
          <p:nvPr>
            <p:ph type="body" idx="1"/>
          </p:nvPr>
        </p:nvSpPr>
        <p:spPr>
          <a:xfrm>
            <a:off x="684212" y="3928534"/>
            <a:ext cx="8534401" cy="1049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920"/>
              <a:buNone/>
              <a:defRPr sz="2400" b="0" cap="none">
                <a:solidFill>
                  <a:schemeClr val="lt1"/>
                </a:solidFill>
              </a:defRPr>
            </a:lvl1pPr>
            <a:lvl2pPr marL="914400" lvl="1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216" name="Google Shape;216;p48"/>
          <p:cNvSpPr txBox="1">
            <a:spLocks noGrp="1"/>
          </p:cNvSpPr>
          <p:nvPr>
            <p:ph type="body" idx="2"/>
          </p:nvPr>
        </p:nvSpPr>
        <p:spPr>
          <a:xfrm>
            <a:off x="684211" y="4978400"/>
            <a:ext cx="8534401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0F486F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7" name="Google Shape;217;p48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48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48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0" name="Google Shape;220;p48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 dirty="0">
                <a:solidFill>
                  <a:schemeClr val="lt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“</a:t>
            </a:r>
            <a:endParaRPr dirty="0">
              <a:latin typeface="Aptos" panose="020B0004020202020204" pitchFamily="34" charset="0"/>
            </a:endParaRPr>
          </a:p>
        </p:txBody>
      </p:sp>
      <p:sp>
        <p:nvSpPr>
          <p:cNvPr id="221" name="Google Shape;221;p48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 dirty="0">
                <a:solidFill>
                  <a:schemeClr val="lt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”</a:t>
            </a:r>
            <a:endParaRPr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9"/>
          <p:cNvSpPr txBox="1"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49"/>
          <p:cNvSpPr txBox="1">
            <a:spLocks noGrp="1"/>
          </p:cNvSpPr>
          <p:nvPr>
            <p:ph type="body" idx="1"/>
          </p:nvPr>
        </p:nvSpPr>
        <p:spPr>
          <a:xfrm>
            <a:off x="684212" y="3928534"/>
            <a:ext cx="8534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920"/>
              <a:buNone/>
              <a:defRPr sz="2400" b="0" cap="none">
                <a:solidFill>
                  <a:schemeClr val="lt1"/>
                </a:solidFill>
              </a:defRPr>
            </a:lvl1pPr>
            <a:lvl2pPr marL="914400" lvl="1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225" name="Google Shape;225;p49"/>
          <p:cNvSpPr txBox="1">
            <a:spLocks noGrp="1"/>
          </p:cNvSpPr>
          <p:nvPr>
            <p:ph type="body" idx="2"/>
          </p:nvPr>
        </p:nvSpPr>
        <p:spPr>
          <a:xfrm>
            <a:off x="684211" y="4766732"/>
            <a:ext cx="8534401" cy="1227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0F486F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6" name="Google Shape;226;p49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49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49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0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50"/>
          <p:cNvSpPr txBox="1">
            <a:spLocks noGrp="1"/>
          </p:cNvSpPr>
          <p:nvPr>
            <p:ph type="body" idx="1"/>
          </p:nvPr>
        </p:nvSpPr>
        <p:spPr>
          <a:xfrm rot="5400000">
            <a:off x="3143778" y="-1773766"/>
            <a:ext cx="3615267" cy="85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400" lvl="1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232" name="Google Shape;232;p50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50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50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1"/>
          <p:cNvSpPr txBox="1">
            <a:spLocks noGrp="1"/>
          </p:cNvSpPr>
          <p:nvPr>
            <p:ph type="title"/>
          </p:nvPr>
        </p:nvSpPr>
        <p:spPr>
          <a:xfrm rot="5400000">
            <a:off x="7427912" y="1943100"/>
            <a:ext cx="45720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51"/>
          <p:cNvSpPr txBox="1">
            <a:spLocks noGrp="1"/>
          </p:cNvSpPr>
          <p:nvPr>
            <p:ph type="body" idx="1"/>
          </p:nvPr>
        </p:nvSpPr>
        <p:spPr>
          <a:xfrm rot="5400000">
            <a:off x="1943100" y="-571500"/>
            <a:ext cx="5308600" cy="78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400" lvl="1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238" name="Google Shape;238;p51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51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51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sldNum" idx="12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6"/>
          <p:cNvSpPr txBox="1"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36"/>
          <p:cNvSpPr txBox="1"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36"/>
          <p:cNvSpPr txBox="1">
            <a:spLocks noGrp="1"/>
          </p:cNvSpPr>
          <p:nvPr>
            <p:ph type="sldNum" idx="12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62D2EF"/>
            </a:gs>
            <a:gs pos="10000">
              <a:srgbClr val="62D2EF"/>
            </a:gs>
            <a:gs pos="100000">
              <a:srgbClr val="05578D"/>
            </a:gs>
          </a:gsLst>
          <a:lin ang="6120000" scaled="0"/>
        </a:gra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5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3" name="Google Shape;103;p5"/>
            <p:cNvCxnSpPr/>
            <p:nvPr/>
          </p:nvCxnSpPr>
          <p:spPr>
            <a:xfrm flipH="1">
              <a:off x="11276012" y="2963333"/>
              <a:ext cx="912814" cy="912812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4" name="Google Shape;104;p5"/>
            <p:cNvCxnSpPr/>
            <p:nvPr/>
          </p:nvCxnSpPr>
          <p:spPr>
            <a:xfrm flipH="1">
              <a:off x="9206969" y="3190344"/>
              <a:ext cx="2981857" cy="2981856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5" name="Google Shape;105;p5"/>
            <p:cNvCxnSpPr/>
            <p:nvPr/>
          </p:nvCxnSpPr>
          <p:spPr>
            <a:xfrm flipH="1">
              <a:off x="10292292" y="3285067"/>
              <a:ext cx="1896534" cy="1896533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6" name="Google Shape;106;p5"/>
            <p:cNvCxnSpPr/>
            <p:nvPr/>
          </p:nvCxnSpPr>
          <p:spPr>
            <a:xfrm flipH="1">
              <a:off x="10443103" y="3131080"/>
              <a:ext cx="1745722" cy="1745720"/>
            </a:xfrm>
            <a:prstGeom prst="straightConnector1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7" name="Google Shape;107;p5"/>
            <p:cNvCxnSpPr/>
            <p:nvPr/>
          </p:nvCxnSpPr>
          <p:spPr>
            <a:xfrm flipH="1">
              <a:off x="10918826" y="3683001"/>
              <a:ext cx="1270001" cy="1269999"/>
            </a:xfrm>
            <a:prstGeom prst="straightConnector1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08" name="Google Shape;108;p5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  <a:defRPr sz="3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5"/>
          <p:cNvSpPr txBox="1"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02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Char char="▶"/>
              <a:defRPr sz="20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20040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Noto Sans Symbols"/>
              <a:buChar char="▶"/>
              <a:defRPr sz="18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09880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80"/>
              <a:buFont typeface="Noto Sans Symbols"/>
              <a:buChar char="▶"/>
              <a:defRPr sz="16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99719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99720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99720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99720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99720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99720" algn="l" rtl="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10" name="Google Shape;110;p5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" name="Google Shape;111;p5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" name="Google Shape;112;p5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microsoft.com/office/2007/relationships/hdphoto" Target="../media/hdphoto4.wdp"/><Relationship Id="rId5" Type="http://schemas.openxmlformats.org/officeDocument/2006/relationships/image" Target="../media/image13.png"/><Relationship Id="rId10" Type="http://schemas.microsoft.com/office/2007/relationships/hdphoto" Target="../media/hdphoto6.wdp"/><Relationship Id="rId4" Type="http://schemas.microsoft.com/office/2007/relationships/hdphoto" Target="../media/hdphoto3.wdp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jpg"/><Relationship Id="rId5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hyperlink" Target="mailto:ramizilikovich@gmail.com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246" name="Google Shape;246;p1"/>
          <p:cNvSpPr/>
          <p:nvPr/>
        </p:nvSpPr>
        <p:spPr>
          <a:xfrm>
            <a:off x="-5023" y="0"/>
            <a:ext cx="12226755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374C81"/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247" name="Google Shape;247;p1"/>
          <p:cNvSpPr/>
          <p:nvPr/>
        </p:nvSpPr>
        <p:spPr>
          <a:xfrm rot="5400000">
            <a:off x="2903156" y="-2460574"/>
            <a:ext cx="6859919" cy="11777232"/>
          </a:xfrm>
          <a:prstGeom prst="rect">
            <a:avLst/>
          </a:prstGeom>
          <a:gradFill>
            <a:gsLst>
              <a:gs pos="0">
                <a:srgbClr val="253356">
                  <a:alpha val="0"/>
                </a:srgbClr>
              </a:gs>
              <a:gs pos="100000">
                <a:srgbClr val="253356"/>
              </a:gs>
            </a:gsLst>
            <a:lin ang="21593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248" name="Google Shape;248;p1"/>
          <p:cNvSpPr/>
          <p:nvPr/>
        </p:nvSpPr>
        <p:spPr>
          <a:xfrm>
            <a:off x="-5023" y="-864"/>
            <a:ext cx="3608179" cy="6858864"/>
          </a:xfrm>
          <a:prstGeom prst="rect">
            <a:avLst/>
          </a:prstGeom>
          <a:gradFill>
            <a:gsLst>
              <a:gs pos="0">
                <a:srgbClr val="374C81">
                  <a:alpha val="47450"/>
                </a:srgbClr>
              </a:gs>
              <a:gs pos="99000">
                <a:srgbClr val="000000">
                  <a:alpha val="45490"/>
                </a:srgbClr>
              </a:gs>
              <a:gs pos="100000">
                <a:srgbClr val="000000">
                  <a:alpha val="45490"/>
                </a:srgbClr>
              </a:gs>
            </a:gsLst>
            <a:lin ang="10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249" name="Google Shape;249;p1"/>
          <p:cNvSpPr/>
          <p:nvPr/>
        </p:nvSpPr>
        <p:spPr>
          <a:xfrm rot="-5973297">
            <a:off x="1164940" y="1025588"/>
            <a:ext cx="4967533" cy="4988390"/>
          </a:xfrm>
          <a:prstGeom prst="ellipse">
            <a:avLst/>
          </a:prstGeom>
          <a:gradFill>
            <a:gsLst>
              <a:gs pos="0">
                <a:srgbClr val="4A66AC">
                  <a:alpha val="23529"/>
                </a:srgbClr>
              </a:gs>
              <a:gs pos="79000">
                <a:srgbClr val="8FA1CF">
                  <a:alpha val="0"/>
                </a:srgbClr>
              </a:gs>
              <a:gs pos="100000">
                <a:srgbClr val="8FA1CF">
                  <a:alpha val="0"/>
                </a:srgbClr>
              </a:gs>
            </a:gsLst>
            <a:lin ang="14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250" name="Google Shape;250;p1"/>
          <p:cNvSpPr/>
          <p:nvPr/>
        </p:nvSpPr>
        <p:spPr>
          <a:xfrm rot="10800000" flipH="1">
            <a:off x="0" y="2409782"/>
            <a:ext cx="12221732" cy="4443259"/>
          </a:xfrm>
          <a:prstGeom prst="rect">
            <a:avLst/>
          </a:prstGeom>
          <a:gradFill>
            <a:gsLst>
              <a:gs pos="0">
                <a:srgbClr val="374C81">
                  <a:alpha val="49411"/>
                </a:srgbClr>
              </a:gs>
              <a:gs pos="99000">
                <a:srgbClr val="000000">
                  <a:alpha val="10588"/>
                </a:srgbClr>
              </a:gs>
              <a:gs pos="100000">
                <a:srgbClr val="000000">
                  <a:alpha val="10588"/>
                </a:srgbClr>
              </a:gs>
            </a:gsLst>
            <a:lin ang="14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251" name="Google Shape;251;p1"/>
          <p:cNvSpPr/>
          <p:nvPr/>
        </p:nvSpPr>
        <p:spPr>
          <a:xfrm rot="-5400000" flipH="1">
            <a:off x="2942096" y="-2872097"/>
            <a:ext cx="6407535" cy="12151737"/>
          </a:xfrm>
          <a:prstGeom prst="rect">
            <a:avLst/>
          </a:prstGeom>
          <a:gradFill>
            <a:gsLst>
              <a:gs pos="0">
                <a:srgbClr val="000000">
                  <a:alpha val="32549"/>
                </a:srgbClr>
              </a:gs>
              <a:gs pos="1000">
                <a:srgbClr val="000000">
                  <a:alpha val="32549"/>
                </a:srgbClr>
              </a:gs>
              <a:gs pos="100000">
                <a:srgbClr val="253356">
                  <a:alpha val="0"/>
                </a:srgbClr>
              </a:gs>
            </a:gsLst>
            <a:lin ang="12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252" name="Google Shape;252;p1"/>
          <p:cNvSpPr txBox="1">
            <a:spLocks noGrp="1"/>
          </p:cNvSpPr>
          <p:nvPr>
            <p:ph type="title"/>
          </p:nvPr>
        </p:nvSpPr>
        <p:spPr>
          <a:xfrm>
            <a:off x="1134880" y="2862551"/>
            <a:ext cx="7209020" cy="657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CC59"/>
              </a:buClr>
              <a:buSzPct val="74074"/>
              <a:buNone/>
            </a:pPr>
            <a:r>
              <a:rPr lang="en-US" sz="5400" dirty="0">
                <a:solidFill>
                  <a:srgbClr val="FFFFFF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FINANCIAL STRATEGY</a:t>
            </a:r>
            <a:endParaRPr sz="5400" dirty="0">
              <a:solidFill>
                <a:srgbClr val="FFFFFF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0D5F0B-FDB8-A3A8-6A5B-A3FE53439749}"/>
              </a:ext>
            </a:extLst>
          </p:cNvPr>
          <p:cNvSpPr txBox="1"/>
          <p:nvPr/>
        </p:nvSpPr>
        <p:spPr>
          <a:xfrm>
            <a:off x="8459040" y="1510992"/>
            <a:ext cx="1794509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900" dirty="0">
                <a:solidFill>
                  <a:schemeClr val="bg1"/>
                </a:solidFill>
                <a:latin typeface="Century Gothic" panose="020B0502020202020204" pitchFamily="34" charset="0"/>
              </a:rPr>
              <a:t>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22677D-8110-CA50-248F-D022C1DF8D24}"/>
              </a:ext>
            </a:extLst>
          </p:cNvPr>
          <p:cNvSpPr txBox="1"/>
          <p:nvPr/>
        </p:nvSpPr>
        <p:spPr>
          <a:xfrm>
            <a:off x="1134880" y="4375648"/>
            <a:ext cx="6167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CPA. Rami </a:t>
            </a:r>
            <a:r>
              <a:rPr lang="en-US" sz="1800" dirty="0" err="1">
                <a:solidFill>
                  <a:schemeClr val="bg1"/>
                </a:solidFill>
              </a:rPr>
              <a:t>Zelikovich</a:t>
            </a:r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CPA. Raphael Haim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alpha val="20000"/>
          </a:schemeClr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"/>
          <p:cNvSpPr txBox="1">
            <a:spLocks noGrp="1"/>
          </p:cNvSpPr>
          <p:nvPr>
            <p:ph type="title"/>
          </p:nvPr>
        </p:nvSpPr>
        <p:spPr>
          <a:xfrm>
            <a:off x="208290" y="270033"/>
            <a:ext cx="4471244" cy="88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</a:pPr>
            <a:r>
              <a:rPr lang="en-US" sz="5400" dirty="0">
                <a:solidFill>
                  <a:schemeClr val="dk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What is it?</a:t>
            </a:r>
            <a:endParaRPr dirty="0"/>
          </a:p>
        </p:txBody>
      </p:sp>
      <p:sp>
        <p:nvSpPr>
          <p:cNvPr id="259" name="Google Shape;259;p4"/>
          <p:cNvSpPr/>
          <p:nvPr/>
        </p:nvSpPr>
        <p:spPr>
          <a:xfrm flipH="1">
            <a:off x="8123333" y="0"/>
            <a:ext cx="4068666" cy="6867829"/>
          </a:xfrm>
          <a:prstGeom prst="rect">
            <a:avLst/>
          </a:prstGeom>
          <a:gradFill>
            <a:gsLst>
              <a:gs pos="0">
                <a:srgbClr val="000000"/>
              </a:gs>
              <a:gs pos="26000">
                <a:srgbClr val="000000"/>
              </a:gs>
              <a:gs pos="100000">
                <a:schemeClr val="accent1"/>
              </a:gs>
            </a:gsLst>
            <a:lin ang="9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260" name="Google Shape;260;p4"/>
          <p:cNvSpPr/>
          <p:nvPr/>
        </p:nvSpPr>
        <p:spPr>
          <a:xfrm flipH="1">
            <a:off x="8153772" y="0"/>
            <a:ext cx="3621649" cy="6867364"/>
          </a:xfrm>
          <a:prstGeom prst="rect">
            <a:avLst/>
          </a:prstGeom>
          <a:gradFill>
            <a:gsLst>
              <a:gs pos="0">
                <a:srgbClr val="374C81">
                  <a:alpha val="55294"/>
                </a:srgbClr>
              </a:gs>
              <a:gs pos="100000">
                <a:srgbClr val="000000">
                  <a:alpha val="51372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261" name="Google Shape;261;p4"/>
          <p:cNvSpPr/>
          <p:nvPr/>
        </p:nvSpPr>
        <p:spPr>
          <a:xfrm rot="5400000">
            <a:off x="8167614" y="2843212"/>
            <a:ext cx="3980106" cy="4068665"/>
          </a:xfrm>
          <a:prstGeom prst="rect">
            <a:avLst/>
          </a:prstGeom>
          <a:gradFill>
            <a:gsLst>
              <a:gs pos="0">
                <a:srgbClr val="000000">
                  <a:alpha val="33333"/>
                </a:srgbClr>
              </a:gs>
              <a:gs pos="96000">
                <a:srgbClr val="4A66AC">
                  <a:alpha val="0"/>
                </a:srgbClr>
              </a:gs>
              <a:gs pos="100000">
                <a:srgbClr val="4A66AC">
                  <a:alpha val="0"/>
                </a:srgbClr>
              </a:gs>
            </a:gsLst>
            <a:lin ang="8400000" scaled="0"/>
          </a:gradFill>
          <a:ln>
            <a:noFill/>
          </a:ln>
          <a:effectLst>
            <a:reflection stA="20000" endPos="65000" dist="50800" dir="5400000" sy="-100000" algn="bl" rotWithShape="0"/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263" name="Google Shape;263;p4"/>
          <p:cNvSpPr txBox="1">
            <a:spLocks noGrp="1"/>
          </p:cNvSpPr>
          <p:nvPr>
            <p:ph type="sldNum" idx="12"/>
          </p:nvPr>
        </p:nvSpPr>
        <p:spPr>
          <a:xfrm>
            <a:off x="11704320" y="6455664"/>
            <a:ext cx="4480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SzPts val="1100"/>
              <a:buNone/>
            </a:pPr>
            <a:fld id="{00000000-1234-1234-1234-123412341234}" type="slidenum">
              <a:rPr lang="en-US" sz="1100">
                <a:solidFill>
                  <a:srgbClr val="FFFFFF"/>
                </a:solidFill>
                <a:latin typeface="Aptos" panose="020B0004020202020204" pitchFamily="34" charset="0"/>
              </a:rPr>
              <a:t>2</a:t>
            </a:fld>
            <a:endParaRPr sz="110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64" name="Google Shape;264;p4"/>
          <p:cNvSpPr txBox="1"/>
          <p:nvPr/>
        </p:nvSpPr>
        <p:spPr bwMode="ltGray">
          <a:xfrm>
            <a:off x="196480" y="2213351"/>
            <a:ext cx="7911634" cy="2001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Financial </a:t>
            </a:r>
            <a:r>
              <a:rPr lang="en-US" sz="2400" dirty="0">
                <a:solidFill>
                  <a:schemeClr val="dk1"/>
                </a:solidFill>
                <a:latin typeface="Aptos" panose="020B0004020202020204" pitchFamily="34" charset="0"/>
              </a:rPr>
              <a:t>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trategy is a 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Flow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 </a:t>
            </a:r>
            <a:r>
              <a:rPr lang="en-US" sz="2400" dirty="0">
                <a:solidFill>
                  <a:schemeClr val="dk1"/>
                </a:solidFill>
                <a:latin typeface="Aptos" panose="020B0004020202020204" pitchFamily="34" charset="0"/>
              </a:rPr>
              <a:t>focusing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 the business operations from a financial prism, to create 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Growth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 and to </a:t>
            </a:r>
            <a:r>
              <a:rPr lang="en-US" sz="2400" dirty="0">
                <a:solidFill>
                  <a:schemeClr val="dk1"/>
                </a:solidFill>
                <a:latin typeface="Aptos" panose="020B0004020202020204" pitchFamily="34" charset="0"/>
              </a:rPr>
              <a:t>achieve its </a:t>
            </a:r>
            <a:r>
              <a:rPr lang="en-US" sz="2400" b="1" dirty="0">
                <a:solidFill>
                  <a:schemeClr val="dk1"/>
                </a:solidFill>
                <a:latin typeface="Aptos" panose="020B0004020202020204" pitchFamily="34" charset="0"/>
              </a:rPr>
              <a:t>Objectives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11E8E1-6B58-33E3-F745-070D51F86901}"/>
              </a:ext>
            </a:extLst>
          </p:cNvPr>
          <p:cNvSpPr txBox="1"/>
          <p:nvPr/>
        </p:nvSpPr>
        <p:spPr>
          <a:xfrm>
            <a:off x="10189201" y="1851645"/>
            <a:ext cx="1794509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900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V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>
          <a:extLst>
            <a:ext uri="{FF2B5EF4-FFF2-40B4-BE49-F238E27FC236}">
              <a16:creationId xmlns:a16="http://schemas.microsoft.com/office/drawing/2014/main" id="{63EF687D-70DE-78FF-18F3-73360E894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">
            <a:extLst>
              <a:ext uri="{FF2B5EF4-FFF2-40B4-BE49-F238E27FC236}">
                <a16:creationId xmlns:a16="http://schemas.microsoft.com/office/drawing/2014/main" id="{9DD4E18D-CBE1-144D-628D-FE09EDDEE770}"/>
              </a:ext>
            </a:extLst>
          </p:cNvPr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294"/>
                </a:srgbClr>
              </a:gs>
              <a:gs pos="100000">
                <a:srgbClr val="374C8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06" name="Google Shape;306;p2">
            <a:extLst>
              <a:ext uri="{FF2B5EF4-FFF2-40B4-BE49-F238E27FC236}">
                <a16:creationId xmlns:a16="http://schemas.microsoft.com/office/drawing/2014/main" id="{69CB0826-CC3C-E65E-6774-448F80278012}"/>
              </a:ext>
            </a:extLst>
          </p:cNvPr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253356">
                  <a:alpha val="67450"/>
                </a:srgbClr>
              </a:gs>
              <a:gs pos="19000">
                <a:srgbClr val="253356">
                  <a:alpha val="67450"/>
                </a:srgbClr>
              </a:gs>
              <a:gs pos="100000">
                <a:srgbClr val="4A66AC">
                  <a:alpha val="78431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07" name="Google Shape;307;p2">
            <a:extLst>
              <a:ext uri="{FF2B5EF4-FFF2-40B4-BE49-F238E27FC236}">
                <a16:creationId xmlns:a16="http://schemas.microsoft.com/office/drawing/2014/main" id="{D3B36A44-AFD4-A416-E13D-ACD414215222}"/>
              </a:ext>
            </a:extLst>
          </p:cNvPr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4A66AC">
                  <a:alpha val="0"/>
                </a:srgbClr>
              </a:gs>
              <a:gs pos="23000">
                <a:srgbClr val="4A66AC">
                  <a:alpha val="0"/>
                </a:srgbClr>
              </a:gs>
              <a:gs pos="99000">
                <a:srgbClr val="000000">
                  <a:alpha val="73333"/>
                </a:srgbClr>
              </a:gs>
              <a:gs pos="100000">
                <a:srgbClr val="000000">
                  <a:alpha val="73333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08" name="Google Shape;308;p2">
            <a:extLst>
              <a:ext uri="{FF2B5EF4-FFF2-40B4-BE49-F238E27FC236}">
                <a16:creationId xmlns:a16="http://schemas.microsoft.com/office/drawing/2014/main" id="{00A3AC10-02BB-9A3A-FEBE-FD185F0D6CA1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FFFFFF"/>
                </a:solidFill>
                <a:latin typeface="Aptos" panose="020B0004020202020204" pitchFamily="34" charset="0"/>
                <a:sym typeface="Arial"/>
              </a:rPr>
              <a:t>FINANCIAL STRATEGY PROGRESS TIMELINE</a:t>
            </a: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B0DA1B-5ED6-7E3A-F239-A16FB3C650CA}"/>
              </a:ext>
            </a:extLst>
          </p:cNvPr>
          <p:cNvSpPr txBox="1"/>
          <p:nvPr/>
        </p:nvSpPr>
        <p:spPr>
          <a:xfrm>
            <a:off x="10399015" y="4332537"/>
            <a:ext cx="1794509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900" dirty="0">
                <a:solidFill>
                  <a:schemeClr val="accent1">
                    <a:lumMod val="75000"/>
                    <a:alpha val="17000"/>
                  </a:schemeClr>
                </a:solidFill>
                <a:latin typeface="Century Gothic" panose="020B0502020202020204" pitchFamily="34" charset="0"/>
              </a:rPr>
              <a:t>V</a:t>
            </a:r>
          </a:p>
        </p:txBody>
      </p:sp>
      <p:sp>
        <p:nvSpPr>
          <p:cNvPr id="3" name="Rectangle 29">
            <a:extLst>
              <a:ext uri="{FF2B5EF4-FFF2-40B4-BE49-F238E27FC236}">
                <a16:creationId xmlns:a16="http://schemas.microsoft.com/office/drawing/2014/main" id="{72E126DA-752B-A4A8-ECE4-482C3B79016B}"/>
              </a:ext>
            </a:extLst>
          </p:cNvPr>
          <p:cNvSpPr/>
          <p:nvPr/>
        </p:nvSpPr>
        <p:spPr>
          <a:xfrm rot="5400000">
            <a:off x="810369" y="3166200"/>
            <a:ext cx="192594" cy="153614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EACAA10-DEA8-47B8-DAF8-1B366F7D73B9}"/>
              </a:ext>
            </a:extLst>
          </p:cNvPr>
          <p:cNvSpPr/>
          <p:nvPr/>
        </p:nvSpPr>
        <p:spPr>
          <a:xfrm>
            <a:off x="3442296" y="3837976"/>
            <a:ext cx="1692000" cy="19259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6F597B-2D99-C1C6-87E5-B3526ECE30D7}"/>
              </a:ext>
            </a:extLst>
          </p:cNvPr>
          <p:cNvSpPr/>
          <p:nvPr/>
        </p:nvSpPr>
        <p:spPr>
          <a:xfrm>
            <a:off x="5172074" y="3837976"/>
            <a:ext cx="1692000" cy="19259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DCB625-B478-04EC-B778-1E2CC79C18D1}"/>
              </a:ext>
            </a:extLst>
          </p:cNvPr>
          <p:cNvSpPr/>
          <p:nvPr/>
        </p:nvSpPr>
        <p:spPr>
          <a:xfrm>
            <a:off x="6901852" y="3837976"/>
            <a:ext cx="1692000" cy="19259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FA05A4-3FCB-238F-9612-4AE3331BDDA1}"/>
              </a:ext>
            </a:extLst>
          </p:cNvPr>
          <p:cNvSpPr/>
          <p:nvPr/>
        </p:nvSpPr>
        <p:spPr>
          <a:xfrm rot="16200000">
            <a:off x="11111832" y="3088995"/>
            <a:ext cx="192594" cy="169055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B2ED598-8AFA-00FE-99E9-A48F75B29256}"/>
              </a:ext>
            </a:extLst>
          </p:cNvPr>
          <p:cNvSpPr/>
          <p:nvPr/>
        </p:nvSpPr>
        <p:spPr>
          <a:xfrm>
            <a:off x="8631629" y="3837976"/>
            <a:ext cx="1692000" cy="1925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6B4D006-43BB-FB2C-556F-D70845EAA5A3}"/>
              </a:ext>
            </a:extLst>
          </p:cNvPr>
          <p:cNvSpPr/>
          <p:nvPr/>
        </p:nvSpPr>
        <p:spPr>
          <a:xfrm>
            <a:off x="1712518" y="3837976"/>
            <a:ext cx="1692000" cy="1925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1" name="타원 1367">
            <a:extLst>
              <a:ext uri="{FF2B5EF4-FFF2-40B4-BE49-F238E27FC236}">
                <a16:creationId xmlns:a16="http://schemas.microsoft.com/office/drawing/2014/main" id="{C9B092CA-77A3-E4B5-AE9F-F4FC9961AC26}"/>
              </a:ext>
            </a:extLst>
          </p:cNvPr>
          <p:cNvSpPr/>
          <p:nvPr/>
        </p:nvSpPr>
        <p:spPr>
          <a:xfrm>
            <a:off x="2458370" y="3830275"/>
            <a:ext cx="200297" cy="200297"/>
          </a:xfrm>
          <a:prstGeom prst="ellipse">
            <a:avLst/>
          </a:prstGeom>
          <a:solidFill>
            <a:schemeClr val="accent6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ptos" panose="020B0004020202020204" pitchFamily="34" charset="0"/>
            </a:endParaRPr>
          </a:p>
        </p:txBody>
      </p:sp>
      <p:sp>
        <p:nvSpPr>
          <p:cNvPr id="12" name="타원 1368">
            <a:extLst>
              <a:ext uri="{FF2B5EF4-FFF2-40B4-BE49-F238E27FC236}">
                <a16:creationId xmlns:a16="http://schemas.microsoft.com/office/drawing/2014/main" id="{13990D6B-4D2D-C141-321D-BE5CE403C215}"/>
              </a:ext>
            </a:extLst>
          </p:cNvPr>
          <p:cNvSpPr/>
          <p:nvPr/>
        </p:nvSpPr>
        <p:spPr>
          <a:xfrm>
            <a:off x="4188148" y="3830275"/>
            <a:ext cx="200297" cy="200297"/>
          </a:xfrm>
          <a:prstGeom prst="ellipse">
            <a:avLst/>
          </a:prstGeom>
          <a:solidFill>
            <a:schemeClr val="accent5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ptos" panose="020B0004020202020204" pitchFamily="34" charset="0"/>
            </a:endParaRPr>
          </a:p>
        </p:txBody>
      </p:sp>
      <p:sp>
        <p:nvSpPr>
          <p:cNvPr id="13" name="타원 1369">
            <a:extLst>
              <a:ext uri="{FF2B5EF4-FFF2-40B4-BE49-F238E27FC236}">
                <a16:creationId xmlns:a16="http://schemas.microsoft.com/office/drawing/2014/main" id="{62E0B126-6C4B-E737-DE68-0C85CFA22144}"/>
              </a:ext>
            </a:extLst>
          </p:cNvPr>
          <p:cNvSpPr/>
          <p:nvPr/>
        </p:nvSpPr>
        <p:spPr>
          <a:xfrm>
            <a:off x="5917926" y="3830275"/>
            <a:ext cx="200297" cy="200297"/>
          </a:xfrm>
          <a:prstGeom prst="ellipse">
            <a:avLst/>
          </a:prstGeom>
          <a:solidFill>
            <a:schemeClr val="accent4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ptos" panose="020B0004020202020204" pitchFamily="34" charset="0"/>
            </a:endParaRPr>
          </a:p>
        </p:txBody>
      </p:sp>
      <p:sp>
        <p:nvSpPr>
          <p:cNvPr id="14" name="타원 1370">
            <a:extLst>
              <a:ext uri="{FF2B5EF4-FFF2-40B4-BE49-F238E27FC236}">
                <a16:creationId xmlns:a16="http://schemas.microsoft.com/office/drawing/2014/main" id="{7AF96740-E275-0BA4-A5B0-D03E5708945D}"/>
              </a:ext>
            </a:extLst>
          </p:cNvPr>
          <p:cNvSpPr/>
          <p:nvPr/>
        </p:nvSpPr>
        <p:spPr>
          <a:xfrm>
            <a:off x="7647704" y="3830275"/>
            <a:ext cx="200297" cy="200297"/>
          </a:xfrm>
          <a:prstGeom prst="ellipse">
            <a:avLst/>
          </a:prstGeom>
          <a:solidFill>
            <a:schemeClr val="accent3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ptos" panose="020B0004020202020204" pitchFamily="34" charset="0"/>
            </a:endParaRPr>
          </a:p>
        </p:txBody>
      </p:sp>
      <p:sp>
        <p:nvSpPr>
          <p:cNvPr id="16" name="타원 1372">
            <a:extLst>
              <a:ext uri="{FF2B5EF4-FFF2-40B4-BE49-F238E27FC236}">
                <a16:creationId xmlns:a16="http://schemas.microsoft.com/office/drawing/2014/main" id="{D242007B-5C8A-9760-05D7-D779246166F2}"/>
              </a:ext>
            </a:extLst>
          </p:cNvPr>
          <p:cNvSpPr/>
          <p:nvPr/>
        </p:nvSpPr>
        <p:spPr>
          <a:xfrm>
            <a:off x="9339704" y="3837976"/>
            <a:ext cx="200297" cy="200297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ptos" panose="020B0004020202020204" pitchFamily="34" charset="0"/>
            </a:endParaRPr>
          </a:p>
        </p:txBody>
      </p:sp>
      <p:cxnSp>
        <p:nvCxnSpPr>
          <p:cNvPr id="17" name="직선 연결선 1373">
            <a:extLst>
              <a:ext uri="{FF2B5EF4-FFF2-40B4-BE49-F238E27FC236}">
                <a16:creationId xmlns:a16="http://schemas.microsoft.com/office/drawing/2014/main" id="{BF9722F0-6E47-5A88-0CD1-1DCECDA061E4}"/>
              </a:ext>
            </a:extLst>
          </p:cNvPr>
          <p:cNvCxnSpPr>
            <a:cxnSpLocks/>
          </p:cNvCxnSpPr>
          <p:nvPr/>
        </p:nvCxnSpPr>
        <p:spPr>
          <a:xfrm>
            <a:off x="2558518" y="3949011"/>
            <a:ext cx="0" cy="905688"/>
          </a:xfrm>
          <a:prstGeom prst="line">
            <a:avLst/>
          </a:prstGeom>
          <a:ln w="19050">
            <a:solidFill>
              <a:schemeClr val="accent6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374">
            <a:extLst>
              <a:ext uri="{FF2B5EF4-FFF2-40B4-BE49-F238E27FC236}">
                <a16:creationId xmlns:a16="http://schemas.microsoft.com/office/drawing/2014/main" id="{DF00DE0B-774E-4FD5-B3E1-40089889D268}"/>
              </a:ext>
            </a:extLst>
          </p:cNvPr>
          <p:cNvCxnSpPr>
            <a:cxnSpLocks/>
          </p:cNvCxnSpPr>
          <p:nvPr/>
        </p:nvCxnSpPr>
        <p:spPr>
          <a:xfrm flipV="1">
            <a:off x="4288296" y="2973645"/>
            <a:ext cx="0" cy="905688"/>
          </a:xfrm>
          <a:prstGeom prst="line">
            <a:avLst/>
          </a:prstGeom>
          <a:ln w="19050">
            <a:solidFill>
              <a:schemeClr val="accent5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375">
            <a:extLst>
              <a:ext uri="{FF2B5EF4-FFF2-40B4-BE49-F238E27FC236}">
                <a16:creationId xmlns:a16="http://schemas.microsoft.com/office/drawing/2014/main" id="{A33EE1B7-DD6B-E647-39D4-F9805EB98AC3}"/>
              </a:ext>
            </a:extLst>
          </p:cNvPr>
          <p:cNvCxnSpPr>
            <a:cxnSpLocks/>
          </p:cNvCxnSpPr>
          <p:nvPr/>
        </p:nvCxnSpPr>
        <p:spPr>
          <a:xfrm>
            <a:off x="6018074" y="3949011"/>
            <a:ext cx="0" cy="905688"/>
          </a:xfrm>
          <a:prstGeom prst="line">
            <a:avLst/>
          </a:prstGeom>
          <a:ln w="19050">
            <a:solidFill>
              <a:schemeClr val="accent4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376">
            <a:extLst>
              <a:ext uri="{FF2B5EF4-FFF2-40B4-BE49-F238E27FC236}">
                <a16:creationId xmlns:a16="http://schemas.microsoft.com/office/drawing/2014/main" id="{F6FCE58E-836D-B0A7-270D-A4448E1CBCFC}"/>
              </a:ext>
            </a:extLst>
          </p:cNvPr>
          <p:cNvCxnSpPr>
            <a:cxnSpLocks/>
          </p:cNvCxnSpPr>
          <p:nvPr/>
        </p:nvCxnSpPr>
        <p:spPr>
          <a:xfrm flipV="1">
            <a:off x="7747852" y="2973645"/>
            <a:ext cx="0" cy="905688"/>
          </a:xfrm>
          <a:prstGeom prst="line">
            <a:avLst/>
          </a:prstGeom>
          <a:ln w="19050">
            <a:solidFill>
              <a:schemeClr val="accent3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1378">
            <a:extLst>
              <a:ext uri="{FF2B5EF4-FFF2-40B4-BE49-F238E27FC236}">
                <a16:creationId xmlns:a16="http://schemas.microsoft.com/office/drawing/2014/main" id="{311FC939-CC96-47DD-D0FE-A7B5CF69918E}"/>
              </a:ext>
            </a:extLst>
          </p:cNvPr>
          <p:cNvCxnSpPr>
            <a:cxnSpLocks/>
          </p:cNvCxnSpPr>
          <p:nvPr/>
        </p:nvCxnSpPr>
        <p:spPr>
          <a:xfrm>
            <a:off x="9439852" y="4030572"/>
            <a:ext cx="0" cy="824127"/>
          </a:xfrm>
          <a:prstGeom prst="line">
            <a:avLst/>
          </a:prstGeom>
          <a:ln w="19050">
            <a:solidFill>
              <a:schemeClr val="accent1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8591480-56C0-FA74-2190-93C706ACE1F7}"/>
              </a:ext>
            </a:extLst>
          </p:cNvPr>
          <p:cNvSpPr txBox="1"/>
          <p:nvPr/>
        </p:nvSpPr>
        <p:spPr>
          <a:xfrm>
            <a:off x="3664021" y="2402515"/>
            <a:ext cx="1254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5"/>
                </a:solidFill>
                <a:latin typeface="Aptos" panose="020B0004020202020204" pitchFamily="34" charset="0"/>
              </a:rPr>
              <a:t>1970</a:t>
            </a:r>
            <a:endParaRPr lang="ko-KR" altLang="en-US" sz="2400" b="1" dirty="0">
              <a:solidFill>
                <a:schemeClr val="accent5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952DD1-C5B1-648E-6752-1099FE603FB3}"/>
              </a:ext>
            </a:extLst>
          </p:cNvPr>
          <p:cNvSpPr txBox="1"/>
          <p:nvPr/>
        </p:nvSpPr>
        <p:spPr>
          <a:xfrm>
            <a:off x="7131556" y="2112463"/>
            <a:ext cx="12541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3"/>
                </a:solidFill>
                <a:latin typeface="Aptos" panose="020B0004020202020204" pitchFamily="34" charset="0"/>
              </a:rPr>
              <a:t>2000-2010s</a:t>
            </a:r>
            <a:endParaRPr lang="ko-KR" altLang="en-US" sz="2400" b="1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2BDB5B-2871-4E2D-DCFC-B7F8DC0EE5C0}"/>
              </a:ext>
            </a:extLst>
          </p:cNvPr>
          <p:cNvSpPr txBox="1"/>
          <p:nvPr/>
        </p:nvSpPr>
        <p:spPr>
          <a:xfrm>
            <a:off x="5399316" y="4985026"/>
            <a:ext cx="12541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4"/>
                </a:solidFill>
                <a:latin typeface="Aptos" panose="020B0004020202020204" pitchFamily="34" charset="0"/>
              </a:rPr>
              <a:t>1980-1990s</a:t>
            </a:r>
            <a:endParaRPr lang="ko-KR" altLang="en-US" sz="2400" b="1" dirty="0">
              <a:solidFill>
                <a:schemeClr val="accent4"/>
              </a:solidFill>
              <a:latin typeface="Aptos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A8092A-EDF3-42BC-3C84-E851789E94EF}"/>
              </a:ext>
            </a:extLst>
          </p:cNvPr>
          <p:cNvSpPr txBox="1"/>
          <p:nvPr/>
        </p:nvSpPr>
        <p:spPr>
          <a:xfrm>
            <a:off x="8763277" y="4980073"/>
            <a:ext cx="1353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1"/>
                </a:solidFill>
                <a:latin typeface="Aptos" panose="020B0004020202020204" pitchFamily="34" charset="0"/>
              </a:rPr>
              <a:t>2025</a:t>
            </a:r>
            <a:endParaRPr lang="ko-KR" altLang="en-US" sz="2400" b="1" dirty="0">
              <a:solidFill>
                <a:schemeClr val="accent1"/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6DC2D2-B795-B417-C598-CFFEFF4D13D9}"/>
              </a:ext>
            </a:extLst>
          </p:cNvPr>
          <p:cNvSpPr txBox="1"/>
          <p:nvPr/>
        </p:nvSpPr>
        <p:spPr>
          <a:xfrm>
            <a:off x="1931432" y="4985026"/>
            <a:ext cx="12541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6"/>
                </a:solidFill>
                <a:latin typeface="Aptos" panose="020B0004020202020204" pitchFamily="34" charset="0"/>
              </a:rPr>
              <a:t>1950-1960s</a:t>
            </a:r>
            <a:endParaRPr lang="ko-KR" altLang="en-US" sz="2400" b="1" dirty="0">
              <a:solidFill>
                <a:schemeClr val="accent6"/>
              </a:solidFill>
              <a:latin typeface="Aptos" panose="020B0004020202020204" pitchFamily="34" charset="0"/>
            </a:endParaRPr>
          </a:p>
        </p:txBody>
      </p:sp>
      <p:grpSp>
        <p:nvGrpSpPr>
          <p:cNvPr id="29" name="Group 66">
            <a:extLst>
              <a:ext uri="{FF2B5EF4-FFF2-40B4-BE49-F238E27FC236}">
                <a16:creationId xmlns:a16="http://schemas.microsoft.com/office/drawing/2014/main" id="{B09F90F1-6E41-78B4-6786-B345B369B897}"/>
              </a:ext>
            </a:extLst>
          </p:cNvPr>
          <p:cNvGrpSpPr/>
          <p:nvPr/>
        </p:nvGrpSpPr>
        <p:grpSpPr>
          <a:xfrm>
            <a:off x="8424950" y="1620317"/>
            <a:ext cx="3096155" cy="2092288"/>
            <a:chOff x="3017861" y="4222351"/>
            <a:chExt cx="2000218" cy="2092288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D212327-9716-35EB-32C7-83A382F4671E}"/>
                </a:ext>
              </a:extLst>
            </p:cNvPr>
            <p:cNvSpPr txBox="1"/>
            <p:nvPr/>
          </p:nvSpPr>
          <p:spPr>
            <a:xfrm>
              <a:off x="3017861" y="4560313"/>
              <a:ext cx="2000218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By 2025, financial strategy is the 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heart of business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, shaping corporate decisions in real-time through AI, digital finance, and sustainable growth initiatives, driven by: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AI-driven financial decision-making will replace traditional models.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Focus on cash flow efficiency (post COVID-19).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Decentralized finance (crypto).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737A9CD-288D-D114-8930-BF1086726B97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accent1"/>
                  </a:solidFill>
                  <a:latin typeface="Aptos" panose="020B0004020202020204" pitchFamily="34" charset="0"/>
                  <a:cs typeface="Arial" pitchFamily="34" charset="0"/>
                </a:rPr>
                <a:t>The Core</a:t>
              </a:r>
              <a:endParaRPr lang="ko-KR" altLang="en-US" sz="1400" b="1" dirty="0">
                <a:solidFill>
                  <a:schemeClr val="accent1"/>
                </a:solidFill>
                <a:latin typeface="Aptos" panose="020B0004020202020204" pitchFamily="34" charset="0"/>
                <a:cs typeface="Arial" pitchFamily="34" charset="0"/>
              </a:endParaRPr>
            </a:p>
          </p:txBody>
        </p:sp>
      </p:grpSp>
      <p:grpSp>
        <p:nvGrpSpPr>
          <p:cNvPr id="35" name="Group 66">
            <a:extLst>
              <a:ext uri="{FF2B5EF4-FFF2-40B4-BE49-F238E27FC236}">
                <a16:creationId xmlns:a16="http://schemas.microsoft.com/office/drawing/2014/main" id="{F5620335-168E-4B5B-149D-88DADB0B2586}"/>
              </a:ext>
            </a:extLst>
          </p:cNvPr>
          <p:cNvGrpSpPr/>
          <p:nvPr/>
        </p:nvGrpSpPr>
        <p:grpSpPr>
          <a:xfrm>
            <a:off x="6716566" y="4088061"/>
            <a:ext cx="2305068" cy="2073630"/>
            <a:chOff x="3007450" y="4159117"/>
            <a:chExt cx="2377061" cy="2073630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51D2804-4DB6-0728-D7BC-E8DC47573603}"/>
                </a:ext>
              </a:extLst>
            </p:cNvPr>
            <p:cNvSpPr txBox="1"/>
            <p:nvPr/>
          </p:nvSpPr>
          <p:spPr>
            <a:xfrm>
              <a:off x="3042434" y="4663087"/>
              <a:ext cx="2342077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A transformative period for financial strategy, from aggressive expansion to risk management and 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long-term planning, driven by: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Technological innovation.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Globalization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Financial crises. 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AEE2DD3-DF37-3A9F-8483-A06A7F894336}"/>
                </a:ext>
              </a:extLst>
            </p:cNvPr>
            <p:cNvSpPr txBox="1"/>
            <p:nvPr/>
          </p:nvSpPr>
          <p:spPr>
            <a:xfrm>
              <a:off x="3007450" y="4159117"/>
              <a:ext cx="19013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accent3"/>
                  </a:solidFill>
                  <a:latin typeface="Aptos" panose="020B0004020202020204" pitchFamily="34" charset="0"/>
                  <a:cs typeface="Arial" pitchFamily="34" charset="0"/>
                </a:rPr>
                <a:t>Long-Term Planning</a:t>
              </a:r>
              <a:endParaRPr lang="ko-KR" altLang="en-US" sz="1400" b="1" dirty="0">
                <a:solidFill>
                  <a:schemeClr val="accent3"/>
                </a:solidFill>
                <a:latin typeface="Aptos" panose="020B0004020202020204" pitchFamily="34" charset="0"/>
                <a:cs typeface="Arial" pitchFamily="34" charset="0"/>
              </a:endParaRPr>
            </a:p>
          </p:txBody>
        </p:sp>
      </p:grpSp>
      <p:grpSp>
        <p:nvGrpSpPr>
          <p:cNvPr id="38" name="Group 66">
            <a:extLst>
              <a:ext uri="{FF2B5EF4-FFF2-40B4-BE49-F238E27FC236}">
                <a16:creationId xmlns:a16="http://schemas.microsoft.com/office/drawing/2014/main" id="{C56402D7-8769-18A6-6CB9-9AA4BB31BFCD}"/>
              </a:ext>
            </a:extLst>
          </p:cNvPr>
          <p:cNvGrpSpPr/>
          <p:nvPr/>
        </p:nvGrpSpPr>
        <p:grpSpPr>
          <a:xfrm>
            <a:off x="4775971" y="1614550"/>
            <a:ext cx="2494997" cy="1907622"/>
            <a:chOff x="3017861" y="4222351"/>
            <a:chExt cx="1917633" cy="190762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10A54B8-5BDC-199B-B116-AEF22B7442AA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Financial strategy transformed into a core driver of business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success. It was no longer just about managing money—it was about </a:t>
              </a:r>
              <a:r>
                <a:rPr lang="en-US" altLang="ko-KR" sz="1200" b="1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shaping corporate destiny</a:t>
              </a:r>
              <a:r>
                <a:rPr lang="en-US" altLang="ko-KR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1980s Stock Market Boom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1987 Black Monday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1990s Dot-Com Boom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95009BA-62FA-E8AB-65A4-3114C1FD032C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accent4"/>
                  </a:solidFill>
                  <a:latin typeface="Aptos" panose="020B0004020202020204" pitchFamily="34" charset="0"/>
                  <a:cs typeface="Arial" pitchFamily="34" charset="0"/>
                </a:rPr>
                <a:t>Business Focus</a:t>
              </a:r>
              <a:endParaRPr lang="ko-KR" altLang="en-US" sz="1400" b="1" dirty="0">
                <a:solidFill>
                  <a:schemeClr val="accent4"/>
                </a:solidFill>
                <a:latin typeface="Aptos" panose="020B0004020202020204" pitchFamily="34" charset="0"/>
                <a:cs typeface="Arial" pitchFamily="34" charset="0"/>
              </a:endParaRPr>
            </a:p>
          </p:txBody>
        </p:sp>
      </p:grpSp>
      <p:grpSp>
        <p:nvGrpSpPr>
          <p:cNvPr id="41" name="Group 66">
            <a:extLst>
              <a:ext uri="{FF2B5EF4-FFF2-40B4-BE49-F238E27FC236}">
                <a16:creationId xmlns:a16="http://schemas.microsoft.com/office/drawing/2014/main" id="{AD9E7A6A-59FE-1E71-3C81-B40B0A1C493E}"/>
              </a:ext>
            </a:extLst>
          </p:cNvPr>
          <p:cNvGrpSpPr/>
          <p:nvPr/>
        </p:nvGrpSpPr>
        <p:grpSpPr>
          <a:xfrm>
            <a:off x="3331933" y="4068811"/>
            <a:ext cx="2226963" cy="2808145"/>
            <a:chOff x="3017860" y="4160796"/>
            <a:chExt cx="2463318" cy="2808145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A9F7015-66C5-67DD-258A-F08B0E00663E}"/>
                </a:ext>
              </a:extLst>
            </p:cNvPr>
            <p:cNvSpPr txBox="1"/>
            <p:nvPr/>
          </p:nvSpPr>
          <p:spPr>
            <a:xfrm>
              <a:off x="3017860" y="4660617"/>
              <a:ext cx="2463318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A pivotal decade for financial strategy. </a:t>
              </a:r>
              <a:r>
                <a:rPr lang="en-US" altLang="ko-KR" sz="1200" b="1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Transition from basic financial management to a structured corporate finance strategy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, driven by: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Rise of multinational corporations Economic shocks (e.g., oil crisis, inflation).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M&amp;M theories.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Risk Mgmt. advancement.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Financial markets growth.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5FD4433-4282-2AB0-8075-6BB5EB3B2E91}"/>
                </a:ext>
              </a:extLst>
            </p:cNvPr>
            <p:cNvSpPr txBox="1"/>
            <p:nvPr/>
          </p:nvSpPr>
          <p:spPr>
            <a:xfrm>
              <a:off x="3047519" y="4160796"/>
              <a:ext cx="190133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accent5"/>
                  </a:solidFill>
                  <a:latin typeface="Aptos" panose="020B0004020202020204" pitchFamily="34" charset="0"/>
                  <a:cs typeface="Arial" pitchFamily="34" charset="0"/>
                </a:rPr>
                <a:t>From Basic to Strategy</a:t>
              </a:r>
              <a:endParaRPr lang="ko-KR" altLang="en-US" sz="1400" b="1" dirty="0">
                <a:solidFill>
                  <a:schemeClr val="accent5"/>
                </a:solidFill>
                <a:latin typeface="Aptos" panose="020B0004020202020204" pitchFamily="34" charset="0"/>
                <a:cs typeface="Arial" pitchFamily="34" charset="0"/>
              </a:endParaRPr>
            </a:p>
          </p:txBody>
        </p:sp>
      </p:grpSp>
      <p:grpSp>
        <p:nvGrpSpPr>
          <p:cNvPr id="44" name="Group 66">
            <a:extLst>
              <a:ext uri="{FF2B5EF4-FFF2-40B4-BE49-F238E27FC236}">
                <a16:creationId xmlns:a16="http://schemas.microsoft.com/office/drawing/2014/main" id="{FA9C520F-72FD-80EC-E328-3E7126A3EF02}"/>
              </a:ext>
            </a:extLst>
          </p:cNvPr>
          <p:cNvGrpSpPr/>
          <p:nvPr/>
        </p:nvGrpSpPr>
        <p:grpSpPr>
          <a:xfrm>
            <a:off x="1425095" y="1573124"/>
            <a:ext cx="2047446" cy="1907622"/>
            <a:chOff x="3017861" y="4222351"/>
            <a:chExt cx="1964784" cy="1907622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70A9354-494F-130D-CE40-0C9A484E70B4}"/>
                </a:ext>
              </a:extLst>
            </p:cNvPr>
            <p:cNvSpPr txBox="1"/>
            <p:nvPr/>
          </p:nvSpPr>
          <p:spPr>
            <a:xfrm>
              <a:off x="3017861" y="4560313"/>
              <a:ext cx="1964784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Modigliani and Miller </a:t>
              </a:r>
              <a:r>
                <a:rPr lang="en-US" altLang="ko-KR" sz="1200" b="1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(M&amp;M)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 Theorem is a foundational concept in corporate finance. focuses on capital structure, discussing how a company's financing decisions </a:t>
              </a:r>
              <a:r>
                <a:rPr lang="en-US" altLang="ko-KR" sz="1200" b="1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(debt vs. equity) affect its value.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03D0BD7-B0A5-736F-F39A-62D306A3416A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accent6"/>
                  </a:solidFill>
                  <a:latin typeface="Aptos" panose="020B0004020202020204" pitchFamily="34" charset="0"/>
                  <a:cs typeface="Arial" pitchFamily="34" charset="0"/>
                </a:rPr>
                <a:t>M&amp;M</a:t>
              </a:r>
              <a:endParaRPr lang="ko-KR" altLang="en-US" sz="1400" b="1" dirty="0">
                <a:solidFill>
                  <a:schemeClr val="accent6"/>
                </a:solidFill>
                <a:latin typeface="Aptos" panose="020B0004020202020204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1354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>
          <a:extLst>
            <a:ext uri="{FF2B5EF4-FFF2-40B4-BE49-F238E27FC236}">
              <a16:creationId xmlns:a16="http://schemas.microsoft.com/office/drawing/2014/main" id="{FE23641A-8A31-FD06-ECD2-67D18BC4F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">
            <a:extLst>
              <a:ext uri="{FF2B5EF4-FFF2-40B4-BE49-F238E27FC236}">
                <a16:creationId xmlns:a16="http://schemas.microsoft.com/office/drawing/2014/main" id="{354C724E-D078-9824-8F8C-1F20FB19F420}"/>
              </a:ext>
            </a:extLst>
          </p:cNvPr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294"/>
                </a:srgbClr>
              </a:gs>
              <a:gs pos="100000">
                <a:srgbClr val="374C8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06" name="Google Shape;306;p2">
            <a:extLst>
              <a:ext uri="{FF2B5EF4-FFF2-40B4-BE49-F238E27FC236}">
                <a16:creationId xmlns:a16="http://schemas.microsoft.com/office/drawing/2014/main" id="{84BDC5C3-BE0D-3E87-50A1-8A5CF4960E44}"/>
              </a:ext>
            </a:extLst>
          </p:cNvPr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253356">
                  <a:alpha val="67450"/>
                </a:srgbClr>
              </a:gs>
              <a:gs pos="19000">
                <a:srgbClr val="253356">
                  <a:alpha val="67450"/>
                </a:srgbClr>
              </a:gs>
              <a:gs pos="100000">
                <a:srgbClr val="4A66AC">
                  <a:alpha val="78431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07" name="Google Shape;307;p2">
            <a:extLst>
              <a:ext uri="{FF2B5EF4-FFF2-40B4-BE49-F238E27FC236}">
                <a16:creationId xmlns:a16="http://schemas.microsoft.com/office/drawing/2014/main" id="{245CC3E7-C50B-981F-E317-F740C70B74F5}"/>
              </a:ext>
            </a:extLst>
          </p:cNvPr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4A66AC">
                  <a:alpha val="0"/>
                </a:srgbClr>
              </a:gs>
              <a:gs pos="23000">
                <a:srgbClr val="4A66AC">
                  <a:alpha val="0"/>
                </a:srgbClr>
              </a:gs>
              <a:gs pos="99000">
                <a:srgbClr val="000000">
                  <a:alpha val="73333"/>
                </a:srgbClr>
              </a:gs>
              <a:gs pos="100000">
                <a:srgbClr val="000000">
                  <a:alpha val="73333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08" name="Google Shape;308;p2">
            <a:extLst>
              <a:ext uri="{FF2B5EF4-FFF2-40B4-BE49-F238E27FC236}">
                <a16:creationId xmlns:a16="http://schemas.microsoft.com/office/drawing/2014/main" id="{FE4CCDD6-C8E5-B8C6-A8D1-0BE51B7E36AC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FFFFFF"/>
                </a:solidFill>
                <a:latin typeface="Aptos" panose="020B0004020202020204" pitchFamily="34" charset="0"/>
                <a:sym typeface="Arial"/>
              </a:rPr>
              <a:t>SUCCESS Vs. FAILURE</a:t>
            </a: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325035-A303-8CBE-2C04-7C33F19A5102}"/>
              </a:ext>
            </a:extLst>
          </p:cNvPr>
          <p:cNvSpPr txBox="1"/>
          <p:nvPr/>
        </p:nvSpPr>
        <p:spPr>
          <a:xfrm>
            <a:off x="10399015" y="4332537"/>
            <a:ext cx="1794509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900" dirty="0">
                <a:solidFill>
                  <a:schemeClr val="accent1">
                    <a:lumMod val="75000"/>
                    <a:alpha val="17000"/>
                  </a:schemeClr>
                </a:solidFill>
                <a:latin typeface="Century Gothic" panose="020B0502020202020204" pitchFamily="34" charset="0"/>
              </a:rPr>
              <a:t>V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166AB735-885E-ADAB-EAFB-2C07B93FDEC2}"/>
              </a:ext>
            </a:extLst>
          </p:cNvPr>
          <p:cNvSpPr/>
          <p:nvPr/>
        </p:nvSpPr>
        <p:spPr>
          <a:xfrm>
            <a:off x="8500256" y="1661503"/>
            <a:ext cx="2934586" cy="1344297"/>
          </a:xfrm>
          <a:prstGeom prst="rightArrow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2C726B3C-3333-B416-11F2-D849042DBB05}"/>
              </a:ext>
            </a:extLst>
          </p:cNvPr>
          <p:cNvSpPr/>
          <p:nvPr/>
        </p:nvSpPr>
        <p:spPr>
          <a:xfrm rot="10800000">
            <a:off x="827814" y="1661503"/>
            <a:ext cx="2934586" cy="134429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0D5822F-2D47-F476-6E01-60A828C127AC}"/>
              </a:ext>
            </a:extLst>
          </p:cNvPr>
          <p:cNvSpPr/>
          <p:nvPr/>
        </p:nvSpPr>
        <p:spPr>
          <a:xfrm>
            <a:off x="3944668" y="1994680"/>
            <a:ext cx="382772" cy="67794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9A5F6DB-7FDC-54F1-E55A-C771A675BE96}"/>
              </a:ext>
            </a:extLst>
          </p:cNvPr>
          <p:cNvSpPr/>
          <p:nvPr/>
        </p:nvSpPr>
        <p:spPr>
          <a:xfrm>
            <a:off x="7935216" y="1989857"/>
            <a:ext cx="382772" cy="67794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8BE71F6-FC45-A12E-5859-C5620A4FF671}"/>
              </a:ext>
            </a:extLst>
          </p:cNvPr>
          <p:cNvSpPr/>
          <p:nvPr/>
        </p:nvSpPr>
        <p:spPr>
          <a:xfrm>
            <a:off x="7548376" y="1989857"/>
            <a:ext cx="204572" cy="67794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EA87B00-5D97-B3DF-CC10-49A098070F73}"/>
              </a:ext>
            </a:extLst>
          </p:cNvPr>
          <p:cNvSpPr/>
          <p:nvPr/>
        </p:nvSpPr>
        <p:spPr>
          <a:xfrm>
            <a:off x="4509708" y="1994680"/>
            <a:ext cx="204572" cy="67794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600C170-6A53-6F69-2FEC-105FEC36992D}"/>
              </a:ext>
            </a:extLst>
          </p:cNvPr>
          <p:cNvSpPr/>
          <p:nvPr/>
        </p:nvSpPr>
        <p:spPr>
          <a:xfrm>
            <a:off x="4896548" y="1994680"/>
            <a:ext cx="77966" cy="67794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29A1600-3797-27DC-9EB5-BD48EE4D4A6A}"/>
              </a:ext>
            </a:extLst>
          </p:cNvPr>
          <p:cNvSpPr/>
          <p:nvPr/>
        </p:nvSpPr>
        <p:spPr>
          <a:xfrm>
            <a:off x="7288142" y="1989857"/>
            <a:ext cx="77966" cy="67794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B3255CC-7B2B-533F-AF39-79A9775644E5}"/>
              </a:ext>
            </a:extLst>
          </p:cNvPr>
          <p:cNvSpPr txBox="1"/>
          <p:nvPr/>
        </p:nvSpPr>
        <p:spPr>
          <a:xfrm>
            <a:off x="1912565" y="2148983"/>
            <a:ext cx="1338191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Aptos" panose="020B0004020202020204" pitchFamily="34" charset="0"/>
              </a:rPr>
              <a:t>SUCCESS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DAC09A1-7DF3-C198-1ADF-A583778C9430}"/>
              </a:ext>
            </a:extLst>
          </p:cNvPr>
          <p:cNvCxnSpPr>
            <a:stCxn id="307" idx="3"/>
          </p:cNvCxnSpPr>
          <p:nvPr/>
        </p:nvCxnSpPr>
        <p:spPr>
          <a:xfrm>
            <a:off x="6096000" y="1576446"/>
            <a:ext cx="0" cy="52815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83EF8A3-B585-E1AE-1894-0EF1CE97CAF0}"/>
              </a:ext>
            </a:extLst>
          </p:cNvPr>
          <p:cNvSpPr txBox="1"/>
          <p:nvPr/>
        </p:nvSpPr>
        <p:spPr>
          <a:xfrm>
            <a:off x="9044026" y="2144160"/>
            <a:ext cx="1338191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Aptos" panose="020B0004020202020204" pitchFamily="34" charset="0"/>
              </a:rPr>
              <a:t>FAILURE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F0824FE-6258-A0FB-4800-AACB53954D3B}"/>
              </a:ext>
            </a:extLst>
          </p:cNvPr>
          <p:cNvSpPr/>
          <p:nvPr/>
        </p:nvSpPr>
        <p:spPr>
          <a:xfrm>
            <a:off x="5156782" y="1994680"/>
            <a:ext cx="77966" cy="67794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669A2D7-4A48-D44E-EFF3-063B660B8E79}"/>
              </a:ext>
            </a:extLst>
          </p:cNvPr>
          <p:cNvSpPr/>
          <p:nvPr/>
        </p:nvSpPr>
        <p:spPr>
          <a:xfrm>
            <a:off x="7027908" y="1989855"/>
            <a:ext cx="77966" cy="67794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892B51B-7E7B-51F3-5F3E-0FBCDBCF83A1}"/>
              </a:ext>
            </a:extLst>
          </p:cNvPr>
          <p:cNvSpPr txBox="1"/>
          <p:nvPr/>
        </p:nvSpPr>
        <p:spPr>
          <a:xfrm>
            <a:off x="6430655" y="3078699"/>
            <a:ext cx="559271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Companies That Failed Due to </a:t>
            </a:r>
            <a:r>
              <a:rPr lang="en-US" b="1" i="1" dirty="0">
                <a:latin typeface="Aptos" panose="020B0004020202020204" pitchFamily="34" charset="0"/>
              </a:rPr>
              <a:t>Poor Financial Strategy</a:t>
            </a:r>
            <a:r>
              <a:rPr lang="en-US" dirty="0">
                <a:latin typeface="Aptos" panose="020B0004020202020204" pitchFamily="34" charset="0"/>
              </a:rPr>
              <a:t>: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WeWork – Over-expansion, reckless spending, failed IPO → Bankruptcy (2023).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Lehman Brothers – Excessive leverage, risky mortgage exposure → Collapse (2008).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General Electric – Poor acquisitions, over-reliance on financial engineering → Breakup.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Kodak – Ignored digital transformation, clung to outdated business model → Bankruptcy (2012).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7D68ECE-9E48-02A4-6FD1-15ECC609F955}"/>
              </a:ext>
            </a:extLst>
          </p:cNvPr>
          <p:cNvSpPr txBox="1"/>
          <p:nvPr/>
        </p:nvSpPr>
        <p:spPr>
          <a:xfrm>
            <a:off x="72655" y="3078699"/>
            <a:ext cx="559271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Companies That </a:t>
            </a:r>
            <a:r>
              <a:rPr lang="en-US" b="1" i="1" dirty="0">
                <a:latin typeface="Aptos" panose="020B0004020202020204" pitchFamily="34" charset="0"/>
              </a:rPr>
              <a:t>Excelled in Financial Strategy</a:t>
            </a:r>
            <a:r>
              <a:rPr lang="en-US" dirty="0">
                <a:latin typeface="Aptos" panose="020B0004020202020204" pitchFamily="34" charset="0"/>
              </a:rPr>
              <a:t>: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Apple – Strong cash reserves, smart R&amp;D investments → World’s most valuable company.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Amazon – Reinvestment, diversified revenue (AWS, retail, logistics) → Trillion-dollar giant.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Tesla – Strategic risk-taking, vertical integration, EV dominance → Industry leader.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Microsoft – Cloud-focused growth (Azure), strong financial discipline → Tech powerhouse.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8E0B314-BD72-F8A7-817E-1AEAE9389BA0}"/>
              </a:ext>
            </a:extLst>
          </p:cNvPr>
          <p:cNvSpPr txBox="1"/>
          <p:nvPr/>
        </p:nvSpPr>
        <p:spPr>
          <a:xfrm>
            <a:off x="393405" y="6177516"/>
            <a:ext cx="5271969" cy="523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u="sng" dirty="0">
                <a:latin typeface="Aptos" panose="020B0004020202020204" pitchFamily="34" charset="0"/>
              </a:rPr>
              <a:t>Winning Strategy</a:t>
            </a:r>
            <a:r>
              <a:rPr lang="en-US" dirty="0">
                <a:latin typeface="Aptos" panose="020B0004020202020204" pitchFamily="34" charset="0"/>
              </a:rPr>
              <a:t>: Cash flow discipline, Pro-Active &amp; Detailed Planning, Smart Investments, Adaptability, Profitability oriented.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1E2A87-E811-C12D-135A-F3DD1D7EFE5D}"/>
              </a:ext>
            </a:extLst>
          </p:cNvPr>
          <p:cNvSpPr txBox="1"/>
          <p:nvPr/>
        </p:nvSpPr>
        <p:spPr>
          <a:xfrm>
            <a:off x="6469902" y="6177516"/>
            <a:ext cx="5271969" cy="52322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u="sng" dirty="0">
                <a:latin typeface="Aptos" panose="020B0004020202020204" pitchFamily="34" charset="0"/>
              </a:rPr>
              <a:t>Failing Strategy</a:t>
            </a:r>
            <a:r>
              <a:rPr lang="en-US" dirty="0">
                <a:latin typeface="Aptos" panose="020B0004020202020204" pitchFamily="34" charset="0"/>
              </a:rPr>
              <a:t>: Over-leverage, Poor Forecasting, Ignoring Market Shifts, Incorrect Market-Focus, Passive.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17C038-4FDF-EC1A-4587-FD529ADD5766}"/>
              </a:ext>
            </a:extLst>
          </p:cNvPr>
          <p:cNvSpPr/>
          <p:nvPr/>
        </p:nvSpPr>
        <p:spPr>
          <a:xfrm>
            <a:off x="-1" y="1575955"/>
            <a:ext cx="6095999" cy="5281554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5E5D3E-1293-5D95-BF11-F4D9FF8DE30E}"/>
              </a:ext>
            </a:extLst>
          </p:cNvPr>
          <p:cNvSpPr/>
          <p:nvPr/>
        </p:nvSpPr>
        <p:spPr>
          <a:xfrm>
            <a:off x="6095999" y="1576446"/>
            <a:ext cx="6095999" cy="5281554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385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-17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293" name="Google Shape;293;p7"/>
          <p:cNvSpPr/>
          <p:nvPr/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374C81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294" name="Google Shape;294;p7"/>
          <p:cNvSpPr/>
          <p:nvPr/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A66AC">
                  <a:alpha val="45490"/>
                </a:srgbClr>
              </a:gs>
              <a:gs pos="100000">
                <a:srgbClr val="4A66AC">
                  <a:alpha val="45490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295" name="Google Shape;295;p7"/>
          <p:cNvSpPr/>
          <p:nvPr/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4A66AC">
                  <a:alpha val="28235"/>
                </a:srgbClr>
              </a:gs>
              <a:gs pos="2000">
                <a:srgbClr val="4A66AC">
                  <a:alpha val="28235"/>
                </a:srgbClr>
              </a:gs>
              <a:gs pos="100000">
                <a:srgbClr val="000000">
                  <a:alpha val="29411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296" name="Google Shape;296;p7"/>
          <p:cNvSpPr/>
          <p:nvPr/>
        </p:nvSpPr>
        <p:spPr>
          <a:xfrm rot="-964587">
            <a:off x="-501737" y="969718"/>
            <a:ext cx="3900357" cy="4178958"/>
          </a:xfrm>
          <a:custGeom>
            <a:avLst/>
            <a:gdLst/>
            <a:ahLst/>
            <a:cxnLst/>
            <a:rect l="l" t="t" r="r" b="b"/>
            <a:pathLst>
              <a:path w="3900357" h="4178958" extrusionOk="0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A66AC">
                  <a:alpha val="42352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297" name="Google Shape;297;p7"/>
          <p:cNvSpPr/>
          <p:nvPr/>
        </p:nvSpPr>
        <p:spPr>
          <a:xfrm rot="5400000" flipH="1">
            <a:off x="-1641591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FA1CF">
                  <a:alpha val="10588"/>
                </a:srgbClr>
              </a:gs>
              <a:gs pos="100000">
                <a:srgbClr val="8FA1CF">
                  <a:alpha val="10588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298" name="Google Shape;298;p7"/>
          <p:cNvSpPr txBox="1"/>
          <p:nvPr/>
        </p:nvSpPr>
        <p:spPr>
          <a:xfrm>
            <a:off x="-231507" y="1624279"/>
            <a:ext cx="4436402" cy="2307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FFFFFF"/>
                </a:solidFill>
                <a:latin typeface="Aptos" panose="020B0004020202020204" pitchFamily="34" charset="0"/>
                <a:sym typeface="Arial"/>
              </a:rPr>
              <a:t>THE METHODOLOGY</a:t>
            </a:r>
            <a:endParaRPr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587EC3-54F2-2129-D940-5D43C0AE9D79}"/>
              </a:ext>
            </a:extLst>
          </p:cNvPr>
          <p:cNvSpPr txBox="1"/>
          <p:nvPr/>
        </p:nvSpPr>
        <p:spPr>
          <a:xfrm>
            <a:off x="10397491" y="4356016"/>
            <a:ext cx="1794509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900" dirty="0">
                <a:solidFill>
                  <a:schemeClr val="accent1">
                    <a:lumMod val="75000"/>
                    <a:alpha val="17000"/>
                  </a:schemeClr>
                </a:solidFill>
                <a:latin typeface="Century Gothic" panose="020B0502020202020204" pitchFamily="34" charset="0"/>
              </a:rPr>
              <a:t>V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7182C2C-78A6-86C3-EDE2-E2A5C32EA0C5}"/>
              </a:ext>
            </a:extLst>
          </p:cNvPr>
          <p:cNvGrpSpPr/>
          <p:nvPr/>
        </p:nvGrpSpPr>
        <p:grpSpPr>
          <a:xfrm>
            <a:off x="4032711" y="707646"/>
            <a:ext cx="8471045" cy="4999802"/>
            <a:chOff x="1743038" y="1429541"/>
            <a:chExt cx="8471045" cy="499980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EE39BB8-7118-E153-4FA1-5804016D51A8}"/>
                </a:ext>
              </a:extLst>
            </p:cNvPr>
            <p:cNvGrpSpPr/>
            <p:nvPr/>
          </p:nvGrpSpPr>
          <p:grpSpPr>
            <a:xfrm>
              <a:off x="1743038" y="1429541"/>
              <a:ext cx="8471045" cy="4999802"/>
              <a:chOff x="1731872" y="1098550"/>
              <a:chExt cx="8471045" cy="4999802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08B46B79-FEF6-A1A2-0C7D-38D324C529C3}"/>
                  </a:ext>
                </a:extLst>
              </p:cNvPr>
              <p:cNvSpPr/>
              <p:nvPr/>
            </p:nvSpPr>
            <p:spPr>
              <a:xfrm>
                <a:off x="3608427" y="1098550"/>
                <a:ext cx="1551232" cy="1516327"/>
              </a:xfrm>
              <a:custGeom>
                <a:avLst/>
                <a:gdLst>
                  <a:gd name="connsiteX0" fmla="*/ 299823 w 1724424"/>
                  <a:gd name="connsiteY0" fmla="*/ 1674902 h 1685623"/>
                  <a:gd name="connsiteX1" fmla="*/ 79785 w 1724424"/>
                  <a:gd name="connsiteY1" fmla="*/ 1579521 h 1685623"/>
                  <a:gd name="connsiteX2" fmla="*/ 10945 w 1724424"/>
                  <a:gd name="connsiteY2" fmla="*/ 1404985 h 1685623"/>
                  <a:gd name="connsiteX3" fmla="*/ 13681 w 1724424"/>
                  <a:gd name="connsiteY3" fmla="*/ 1399083 h 1685623"/>
                  <a:gd name="connsiteX4" fmla="*/ 1450403 w 1724424"/>
                  <a:gd name="connsiteY4" fmla="*/ 11362 h 1685623"/>
                  <a:gd name="connsiteX5" fmla="*/ 1625648 w 1724424"/>
                  <a:gd name="connsiteY5" fmla="*/ 78984 h 1685623"/>
                  <a:gd name="connsiteX6" fmla="*/ 1627605 w 1724424"/>
                  <a:gd name="connsiteY6" fmla="*/ 83630 h 1685623"/>
                  <a:gd name="connsiteX7" fmla="*/ 1715127 w 1724424"/>
                  <a:gd name="connsiteY7" fmla="*/ 306904 h 1685623"/>
                  <a:gd name="connsiteX8" fmla="*/ 1647020 w 1724424"/>
                  <a:gd name="connsiteY8" fmla="*/ 475631 h 1685623"/>
                  <a:gd name="connsiteX9" fmla="*/ 470091 w 1724424"/>
                  <a:gd name="connsiteY9" fmla="*/ 1612342 h 1685623"/>
                  <a:gd name="connsiteX10" fmla="*/ 299823 w 1724424"/>
                  <a:gd name="connsiteY10" fmla="*/ 1674902 h 1685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24424" h="1685623">
                    <a:moveTo>
                      <a:pt x="299823" y="1674902"/>
                    </a:moveTo>
                    <a:lnTo>
                      <a:pt x="79785" y="1579521"/>
                    </a:lnTo>
                    <a:cubicBezTo>
                      <a:pt x="12577" y="1550337"/>
                      <a:pt x="-18244" y="1472183"/>
                      <a:pt x="10945" y="1404985"/>
                    </a:cubicBezTo>
                    <a:cubicBezTo>
                      <a:pt x="11808" y="1402997"/>
                      <a:pt x="12721" y="1401025"/>
                      <a:pt x="13681" y="1399083"/>
                    </a:cubicBezTo>
                    <a:cubicBezTo>
                      <a:pt x="317582" y="784193"/>
                      <a:pt x="825343" y="293752"/>
                      <a:pt x="1450403" y="11362"/>
                    </a:cubicBezTo>
                    <a:cubicBezTo>
                      <a:pt x="1517462" y="-18359"/>
                      <a:pt x="1595924" y="11918"/>
                      <a:pt x="1625648" y="78984"/>
                    </a:cubicBezTo>
                    <a:cubicBezTo>
                      <a:pt x="1626326" y="80520"/>
                      <a:pt x="1626989" y="82069"/>
                      <a:pt x="1627605" y="83630"/>
                    </a:cubicBezTo>
                    <a:lnTo>
                      <a:pt x="1715127" y="306904"/>
                    </a:lnTo>
                    <a:cubicBezTo>
                      <a:pt x="1740891" y="372308"/>
                      <a:pt x="1710967" y="446439"/>
                      <a:pt x="1647020" y="475631"/>
                    </a:cubicBezTo>
                    <a:cubicBezTo>
                      <a:pt x="1136324" y="708890"/>
                      <a:pt x="720947" y="1110060"/>
                      <a:pt x="470091" y="1612342"/>
                    </a:cubicBezTo>
                    <a:cubicBezTo>
                      <a:pt x="438847" y="1674979"/>
                      <a:pt x="364191" y="1702407"/>
                      <a:pt x="299823" y="1674902"/>
                    </a:cubicBezTo>
                    <a:close/>
                  </a:path>
                </a:pathLst>
              </a:custGeom>
              <a:solidFill>
                <a:schemeClr val="bg1"/>
              </a:solidFill>
              <a:ln w="15409" cap="flat">
                <a:noFill/>
                <a:prstDash val="solid"/>
                <a:miter/>
              </a:ln>
              <a:effectLst>
                <a:outerShdw blurRad="63500" sx="102000" sy="102000" algn="ctr" rotWithShape="0">
                  <a:prstClr val="black">
                    <a:alpha val="1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4E855913-B7D7-5C9E-E551-D1D5A7B2E589}"/>
                  </a:ext>
                </a:extLst>
              </p:cNvPr>
              <p:cNvSpPr/>
              <p:nvPr/>
            </p:nvSpPr>
            <p:spPr>
              <a:xfrm>
                <a:off x="7078981" y="1110090"/>
                <a:ext cx="1517070" cy="1552187"/>
              </a:xfrm>
              <a:custGeom>
                <a:avLst/>
                <a:gdLst>
                  <a:gd name="connsiteX0" fmla="*/ 11097 w 1686448"/>
                  <a:gd name="connsiteY0" fmla="*/ 299776 h 1725486"/>
                  <a:gd name="connsiteX1" fmla="*/ 106478 w 1686448"/>
                  <a:gd name="connsiteY1" fmla="*/ 79738 h 1725486"/>
                  <a:gd name="connsiteX2" fmla="*/ 281307 w 1686448"/>
                  <a:gd name="connsiteY2" fmla="*/ 11031 h 1725486"/>
                  <a:gd name="connsiteX3" fmla="*/ 286916 w 1686448"/>
                  <a:gd name="connsiteY3" fmla="*/ 13634 h 1725486"/>
                  <a:gd name="connsiteX4" fmla="*/ 1674638 w 1686448"/>
                  <a:gd name="connsiteY4" fmla="*/ 1450356 h 1725486"/>
                  <a:gd name="connsiteX5" fmla="*/ 1608180 w 1686448"/>
                  <a:gd name="connsiteY5" fmla="*/ 1625816 h 1725486"/>
                  <a:gd name="connsiteX6" fmla="*/ 1602216 w 1686448"/>
                  <a:gd name="connsiteY6" fmla="*/ 1628328 h 1725486"/>
                  <a:gd name="connsiteX7" fmla="*/ 1378942 w 1686448"/>
                  <a:gd name="connsiteY7" fmla="*/ 1716004 h 1725486"/>
                  <a:gd name="connsiteX8" fmla="*/ 1209445 w 1686448"/>
                  <a:gd name="connsiteY8" fmla="*/ 1647743 h 1725486"/>
                  <a:gd name="connsiteX9" fmla="*/ 73349 w 1686448"/>
                  <a:gd name="connsiteY9" fmla="*/ 471431 h 1725486"/>
                  <a:gd name="connsiteX10" fmla="*/ 11097 w 1686448"/>
                  <a:gd name="connsiteY10" fmla="*/ 299776 h 1725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86448" h="1725486">
                    <a:moveTo>
                      <a:pt x="11097" y="299776"/>
                    </a:moveTo>
                    <a:lnTo>
                      <a:pt x="106478" y="79738"/>
                    </a:lnTo>
                    <a:cubicBezTo>
                      <a:pt x="135786" y="12489"/>
                      <a:pt x="214047" y="-18273"/>
                      <a:pt x="281307" y="11031"/>
                    </a:cubicBezTo>
                    <a:cubicBezTo>
                      <a:pt x="283187" y="11856"/>
                      <a:pt x="285067" y="12723"/>
                      <a:pt x="286916" y="13634"/>
                    </a:cubicBezTo>
                    <a:cubicBezTo>
                      <a:pt x="901745" y="317620"/>
                      <a:pt x="1392163" y="825357"/>
                      <a:pt x="1674638" y="1450356"/>
                    </a:cubicBezTo>
                    <a:cubicBezTo>
                      <a:pt x="1704732" y="1517153"/>
                      <a:pt x="1674977" y="1595723"/>
                      <a:pt x="1608180" y="1625816"/>
                    </a:cubicBezTo>
                    <a:cubicBezTo>
                      <a:pt x="1606207" y="1626694"/>
                      <a:pt x="1604220" y="1627542"/>
                      <a:pt x="1602216" y="1628328"/>
                    </a:cubicBezTo>
                    <a:lnTo>
                      <a:pt x="1378942" y="1716004"/>
                    </a:lnTo>
                    <a:cubicBezTo>
                      <a:pt x="1313285" y="1742153"/>
                      <a:pt x="1238660" y="1712106"/>
                      <a:pt x="1209445" y="1647743"/>
                    </a:cubicBezTo>
                    <a:cubicBezTo>
                      <a:pt x="976154" y="1137433"/>
                      <a:pt x="575247" y="722318"/>
                      <a:pt x="73349" y="471431"/>
                    </a:cubicBezTo>
                    <a:cubicBezTo>
                      <a:pt x="10142" y="439975"/>
                      <a:pt x="-17255" y="364440"/>
                      <a:pt x="11097" y="299776"/>
                    </a:cubicBezTo>
                    <a:close/>
                  </a:path>
                </a:pathLst>
              </a:custGeom>
              <a:solidFill>
                <a:schemeClr val="bg1"/>
              </a:solidFill>
              <a:ln w="15409" cap="flat">
                <a:noFill/>
                <a:prstDash val="solid"/>
                <a:miter/>
              </a:ln>
              <a:effectLst>
                <a:outerShdw blurRad="63500" sx="102000" sy="102000" algn="ctr" rotWithShape="0">
                  <a:prstClr val="black">
                    <a:alpha val="1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685580C2-3EBC-B3CD-4490-EDFAA3A61168}"/>
                  </a:ext>
                </a:extLst>
              </p:cNvPr>
              <p:cNvSpPr/>
              <p:nvPr/>
            </p:nvSpPr>
            <p:spPr>
              <a:xfrm>
                <a:off x="7032350" y="4581800"/>
                <a:ext cx="1551915" cy="1516552"/>
              </a:xfrm>
              <a:custGeom>
                <a:avLst/>
                <a:gdLst>
                  <a:gd name="connsiteX0" fmla="*/ 1425233 w 1725184"/>
                  <a:gd name="connsiteY0" fmla="*/ 10687 h 1685873"/>
                  <a:gd name="connsiteX1" fmla="*/ 1645271 w 1725184"/>
                  <a:gd name="connsiteY1" fmla="*/ 106068 h 1685873"/>
                  <a:gd name="connsiteX2" fmla="*/ 1714149 w 1725184"/>
                  <a:gd name="connsiteY2" fmla="*/ 280358 h 1685873"/>
                  <a:gd name="connsiteX3" fmla="*/ 1711375 w 1725184"/>
                  <a:gd name="connsiteY3" fmla="*/ 286352 h 1685873"/>
                  <a:gd name="connsiteX4" fmla="*/ 274653 w 1725184"/>
                  <a:gd name="connsiteY4" fmla="*/ 1674073 h 1685873"/>
                  <a:gd name="connsiteX5" fmla="*/ 99192 w 1725184"/>
                  <a:gd name="connsiteY5" fmla="*/ 1607614 h 1685873"/>
                  <a:gd name="connsiteX6" fmla="*/ 96680 w 1725184"/>
                  <a:gd name="connsiteY6" fmla="*/ 1601651 h 1685873"/>
                  <a:gd name="connsiteX7" fmla="*/ 9158 w 1725184"/>
                  <a:gd name="connsiteY7" fmla="*/ 1378377 h 1685873"/>
                  <a:gd name="connsiteX8" fmla="*/ 77265 w 1725184"/>
                  <a:gd name="connsiteY8" fmla="*/ 1209650 h 1685873"/>
                  <a:gd name="connsiteX9" fmla="*/ 1254965 w 1725184"/>
                  <a:gd name="connsiteY9" fmla="*/ 72785 h 1685873"/>
                  <a:gd name="connsiteX10" fmla="*/ 1425233 w 1725184"/>
                  <a:gd name="connsiteY10" fmla="*/ 10687 h 1685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25184" h="1685873">
                    <a:moveTo>
                      <a:pt x="1425233" y="10687"/>
                    </a:moveTo>
                    <a:lnTo>
                      <a:pt x="1645271" y="106068"/>
                    </a:lnTo>
                    <a:cubicBezTo>
                      <a:pt x="1712423" y="135175"/>
                      <a:pt x="1743256" y="213206"/>
                      <a:pt x="1714149" y="280358"/>
                    </a:cubicBezTo>
                    <a:cubicBezTo>
                      <a:pt x="1713271" y="282376"/>
                      <a:pt x="1712346" y="284379"/>
                      <a:pt x="1711375" y="286352"/>
                    </a:cubicBezTo>
                    <a:cubicBezTo>
                      <a:pt x="1407512" y="901273"/>
                      <a:pt x="899744" y="1391721"/>
                      <a:pt x="274653" y="1674073"/>
                    </a:cubicBezTo>
                    <a:cubicBezTo>
                      <a:pt x="207856" y="1704167"/>
                      <a:pt x="129286" y="1674412"/>
                      <a:pt x="99192" y="1607614"/>
                    </a:cubicBezTo>
                    <a:cubicBezTo>
                      <a:pt x="98314" y="1605642"/>
                      <a:pt x="97466" y="1603654"/>
                      <a:pt x="96680" y="1601651"/>
                    </a:cubicBezTo>
                    <a:lnTo>
                      <a:pt x="9158" y="1378377"/>
                    </a:lnTo>
                    <a:cubicBezTo>
                      <a:pt x="-16606" y="1312967"/>
                      <a:pt x="13319" y="1238835"/>
                      <a:pt x="77265" y="1209650"/>
                    </a:cubicBezTo>
                    <a:cubicBezTo>
                      <a:pt x="588254" y="976483"/>
                      <a:pt x="1003924" y="575237"/>
                      <a:pt x="1254965" y="72785"/>
                    </a:cubicBezTo>
                    <a:cubicBezTo>
                      <a:pt x="1286368" y="10317"/>
                      <a:pt x="1360978" y="-16895"/>
                      <a:pt x="1425233" y="10687"/>
                    </a:cubicBezTo>
                    <a:close/>
                  </a:path>
                </a:pathLst>
              </a:custGeom>
              <a:solidFill>
                <a:schemeClr val="bg1"/>
              </a:solidFill>
              <a:ln w="15409" cap="flat">
                <a:noFill/>
                <a:prstDash val="solid"/>
                <a:miter/>
              </a:ln>
              <a:effectLst>
                <a:outerShdw blurRad="63500" sx="102000" sy="102000" algn="ctr" rotWithShape="0">
                  <a:prstClr val="black">
                    <a:alpha val="1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CC940F3D-EFCC-042A-FE5B-0057A96E8C54}"/>
                  </a:ext>
                </a:extLst>
              </p:cNvPr>
              <p:cNvSpPr/>
              <p:nvPr/>
            </p:nvSpPr>
            <p:spPr>
              <a:xfrm>
                <a:off x="3595949" y="4534436"/>
                <a:ext cx="1517201" cy="1552761"/>
              </a:xfrm>
              <a:custGeom>
                <a:avLst/>
                <a:gdLst>
                  <a:gd name="connsiteX0" fmla="*/ 1675222 w 1686594"/>
                  <a:gd name="connsiteY0" fmla="*/ 1426098 h 1726124"/>
                  <a:gd name="connsiteX1" fmla="*/ 1579841 w 1686594"/>
                  <a:gd name="connsiteY1" fmla="*/ 1646137 h 1726124"/>
                  <a:gd name="connsiteX2" fmla="*/ 1405089 w 1686594"/>
                  <a:gd name="connsiteY2" fmla="*/ 1715030 h 1726124"/>
                  <a:gd name="connsiteX3" fmla="*/ 1399403 w 1686594"/>
                  <a:gd name="connsiteY3" fmla="*/ 1712395 h 1726124"/>
                  <a:gd name="connsiteX4" fmla="*/ 11680 w 1686594"/>
                  <a:gd name="connsiteY4" fmla="*/ 275057 h 1726124"/>
                  <a:gd name="connsiteX5" fmla="*/ 78242 w 1686594"/>
                  <a:gd name="connsiteY5" fmla="*/ 99396 h 1726124"/>
                  <a:gd name="connsiteX6" fmla="*/ 84102 w 1686594"/>
                  <a:gd name="connsiteY6" fmla="*/ 96930 h 1726124"/>
                  <a:gd name="connsiteX7" fmla="*/ 307377 w 1686594"/>
                  <a:gd name="connsiteY7" fmla="*/ 9408 h 1726124"/>
                  <a:gd name="connsiteX8" fmla="*/ 476874 w 1686594"/>
                  <a:gd name="connsiteY8" fmla="*/ 77669 h 1726124"/>
                  <a:gd name="connsiteX9" fmla="*/ 1613740 w 1686594"/>
                  <a:gd name="connsiteY9" fmla="*/ 1254443 h 1726124"/>
                  <a:gd name="connsiteX10" fmla="*/ 1675222 w 1686594"/>
                  <a:gd name="connsiteY10" fmla="*/ 1426098 h 1726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86594" h="1726124">
                    <a:moveTo>
                      <a:pt x="1675222" y="1426098"/>
                    </a:moveTo>
                    <a:lnTo>
                      <a:pt x="1579841" y="1646137"/>
                    </a:lnTo>
                    <a:cubicBezTo>
                      <a:pt x="1550610" y="1713412"/>
                      <a:pt x="1472364" y="1744260"/>
                      <a:pt x="1405089" y="1715030"/>
                    </a:cubicBezTo>
                    <a:cubicBezTo>
                      <a:pt x="1403178" y="1714198"/>
                      <a:pt x="1401283" y="1713320"/>
                      <a:pt x="1399403" y="1712395"/>
                    </a:cubicBezTo>
                    <a:cubicBezTo>
                      <a:pt x="784481" y="1408255"/>
                      <a:pt x="294040" y="900287"/>
                      <a:pt x="11680" y="275057"/>
                    </a:cubicBezTo>
                    <a:cubicBezTo>
                      <a:pt x="-18445" y="208167"/>
                      <a:pt x="11355" y="129536"/>
                      <a:pt x="78242" y="99396"/>
                    </a:cubicBezTo>
                    <a:cubicBezTo>
                      <a:pt x="80174" y="98533"/>
                      <a:pt x="82130" y="97701"/>
                      <a:pt x="84102" y="96930"/>
                    </a:cubicBezTo>
                    <a:lnTo>
                      <a:pt x="307377" y="9408"/>
                    </a:lnTo>
                    <a:cubicBezTo>
                      <a:pt x="373038" y="-16833"/>
                      <a:pt x="447720" y="13245"/>
                      <a:pt x="476874" y="77669"/>
                    </a:cubicBezTo>
                    <a:cubicBezTo>
                      <a:pt x="710195" y="588335"/>
                      <a:pt x="1111426" y="1003649"/>
                      <a:pt x="1613740" y="1254443"/>
                    </a:cubicBezTo>
                    <a:cubicBezTo>
                      <a:pt x="1676655" y="1286171"/>
                      <a:pt x="1703682" y="1361643"/>
                      <a:pt x="1675222" y="1426098"/>
                    </a:cubicBezTo>
                    <a:close/>
                  </a:path>
                </a:pathLst>
              </a:custGeom>
              <a:solidFill>
                <a:schemeClr val="bg1"/>
              </a:solidFill>
              <a:ln w="15409" cap="flat">
                <a:noFill/>
                <a:prstDash val="solid"/>
                <a:miter/>
              </a:ln>
              <a:effectLst>
                <a:outerShdw blurRad="63500" sx="102000" sy="102000" algn="ctr" rotWithShape="0">
                  <a:prstClr val="black">
                    <a:alpha val="1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A5690D0F-BEF7-DFAC-52C6-EFDCE83653A5}"/>
                  </a:ext>
                </a:extLst>
              </p:cNvPr>
              <p:cNvSpPr/>
              <p:nvPr/>
            </p:nvSpPr>
            <p:spPr>
              <a:xfrm>
                <a:off x="3761488" y="1279139"/>
                <a:ext cx="2583957" cy="2231982"/>
              </a:xfrm>
              <a:custGeom>
                <a:avLst/>
                <a:gdLst>
                  <a:gd name="connsiteX0" fmla="*/ 1144809 w 2872452"/>
                  <a:gd name="connsiteY0" fmla="*/ 2474493 h 2481179"/>
                  <a:gd name="connsiteX1" fmla="*/ 2368427 w 2872452"/>
                  <a:gd name="connsiteY1" fmla="*/ 1141781 h 2481179"/>
                  <a:gd name="connsiteX2" fmla="*/ 2698639 w 2872452"/>
                  <a:gd name="connsiteY2" fmla="*/ 963963 h 2481179"/>
                  <a:gd name="connsiteX3" fmla="*/ 2729457 w 2872452"/>
                  <a:gd name="connsiteY3" fmla="*/ 928831 h 2481179"/>
                  <a:gd name="connsiteX4" fmla="*/ 2722369 w 2872452"/>
                  <a:gd name="connsiteY4" fmla="*/ 176570 h 2481179"/>
                  <a:gd name="connsiteX5" fmla="*/ 2722369 w 2872452"/>
                  <a:gd name="connsiteY5" fmla="*/ 176570 h 2481179"/>
                  <a:gd name="connsiteX6" fmla="*/ 2244694 w 2872452"/>
                  <a:gd name="connsiteY6" fmla="*/ 4608 h 2481179"/>
                  <a:gd name="connsiteX7" fmla="*/ -70 w 2872452"/>
                  <a:gd name="connsiteY7" fmla="*/ 2481119 h 2481179"/>
                  <a:gd name="connsiteX8" fmla="*/ -70 w 2872452"/>
                  <a:gd name="connsiteY8" fmla="*/ 2481119 h 2481179"/>
                  <a:gd name="connsiteX9" fmla="*/ 1140186 w 2872452"/>
                  <a:gd name="connsiteY9" fmla="*/ 2470178 h 2481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872452" h="2481179">
                    <a:moveTo>
                      <a:pt x="1144809" y="2474493"/>
                    </a:moveTo>
                    <a:cubicBezTo>
                      <a:pt x="1194009" y="1800140"/>
                      <a:pt x="1700715" y="1248256"/>
                      <a:pt x="2368427" y="1141781"/>
                    </a:cubicBezTo>
                    <a:cubicBezTo>
                      <a:pt x="2495643" y="1122181"/>
                      <a:pt x="2612242" y="1059390"/>
                      <a:pt x="2698639" y="963963"/>
                    </a:cubicBezTo>
                    <a:lnTo>
                      <a:pt x="2729457" y="928831"/>
                    </a:lnTo>
                    <a:cubicBezTo>
                      <a:pt x="2922715" y="714247"/>
                      <a:pt x="2919633" y="387470"/>
                      <a:pt x="2722369" y="176570"/>
                    </a:cubicBezTo>
                    <a:lnTo>
                      <a:pt x="2722369" y="176570"/>
                    </a:lnTo>
                    <a:cubicBezTo>
                      <a:pt x="2600253" y="45475"/>
                      <a:pt x="2422343" y="-18572"/>
                      <a:pt x="2244694" y="4608"/>
                    </a:cubicBezTo>
                    <a:cubicBezTo>
                      <a:pt x="1006900" y="172102"/>
                      <a:pt x="46619" y="1214357"/>
                      <a:pt x="-70" y="2481119"/>
                    </a:cubicBezTo>
                    <a:lnTo>
                      <a:pt x="-70" y="2481119"/>
                    </a:lnTo>
                    <a:cubicBezTo>
                      <a:pt x="300557" y="2101599"/>
                      <a:pt x="837710" y="2115158"/>
                      <a:pt x="1140186" y="247017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5409" cap="flat">
                <a:noFill/>
                <a:prstDash val="solid"/>
                <a:miter/>
              </a:ln>
              <a:effectLst>
                <a:outerShdw blurRad="63500" sx="102000" sy="102000" algn="ctr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C7ADEAA-1C92-7D87-4BB2-88D5BAAF1042}"/>
                  </a:ext>
                </a:extLst>
              </p:cNvPr>
              <p:cNvSpPr/>
              <p:nvPr/>
            </p:nvSpPr>
            <p:spPr>
              <a:xfrm>
                <a:off x="5413337" y="1377318"/>
                <a:ext cx="812270" cy="812269"/>
              </a:xfrm>
              <a:custGeom>
                <a:avLst/>
                <a:gdLst>
                  <a:gd name="connsiteX0" fmla="*/ 902960 w 902959"/>
                  <a:gd name="connsiteY0" fmla="*/ 451479 h 902958"/>
                  <a:gd name="connsiteX1" fmla="*/ 451480 w 902959"/>
                  <a:gd name="connsiteY1" fmla="*/ 902959 h 902958"/>
                  <a:gd name="connsiteX2" fmla="*/ 0 w 902959"/>
                  <a:gd name="connsiteY2" fmla="*/ 451479 h 902958"/>
                  <a:gd name="connsiteX3" fmla="*/ 451480 w 902959"/>
                  <a:gd name="connsiteY3" fmla="*/ 0 h 902958"/>
                  <a:gd name="connsiteX4" fmla="*/ 902960 w 902959"/>
                  <a:gd name="connsiteY4" fmla="*/ 451479 h 9029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2959" h="902958">
                    <a:moveTo>
                      <a:pt x="902960" y="451479"/>
                    </a:moveTo>
                    <a:cubicBezTo>
                      <a:pt x="902960" y="700825"/>
                      <a:pt x="700825" y="902959"/>
                      <a:pt x="451480" y="902959"/>
                    </a:cubicBezTo>
                    <a:cubicBezTo>
                      <a:pt x="202134" y="902959"/>
                      <a:pt x="0" y="700825"/>
                      <a:pt x="0" y="451479"/>
                    </a:cubicBezTo>
                    <a:cubicBezTo>
                      <a:pt x="0" y="202134"/>
                      <a:pt x="202134" y="0"/>
                      <a:pt x="451480" y="0"/>
                    </a:cubicBezTo>
                    <a:cubicBezTo>
                      <a:pt x="700825" y="0"/>
                      <a:pt x="902960" y="202134"/>
                      <a:pt x="902960" y="451479"/>
                    </a:cubicBezTo>
                    <a:close/>
                  </a:path>
                </a:pathLst>
              </a:custGeom>
              <a:solidFill>
                <a:schemeClr val="bg1"/>
              </a:solidFill>
              <a:ln w="15409" cap="flat">
                <a:noFill/>
                <a:prstDash val="solid"/>
                <a:miter/>
              </a:ln>
              <a:effectLst>
                <a:outerShdw blurRad="63500" sx="102000" sy="102000" algn="ctr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7A41757B-A73D-D3B5-DCC4-74CCBDA96C72}"/>
                  </a:ext>
                </a:extLst>
              </p:cNvPr>
              <p:cNvSpPr/>
              <p:nvPr/>
            </p:nvSpPr>
            <p:spPr>
              <a:xfrm>
                <a:off x="6183330" y="1263794"/>
                <a:ext cx="2231861" cy="2584636"/>
              </a:xfrm>
              <a:custGeom>
                <a:avLst/>
                <a:gdLst>
                  <a:gd name="connsiteX0" fmla="*/ 6402 w 2481044"/>
                  <a:gd name="connsiteY0" fmla="*/ 1144817 h 2873206"/>
                  <a:gd name="connsiteX1" fmla="*/ 1339115 w 2481044"/>
                  <a:gd name="connsiteY1" fmla="*/ 2368434 h 2873206"/>
                  <a:gd name="connsiteX2" fmla="*/ 1516933 w 2481044"/>
                  <a:gd name="connsiteY2" fmla="*/ 2698800 h 2873206"/>
                  <a:gd name="connsiteX3" fmla="*/ 1552065 w 2481044"/>
                  <a:gd name="connsiteY3" fmla="*/ 2730388 h 2873206"/>
                  <a:gd name="connsiteX4" fmla="*/ 2304480 w 2481044"/>
                  <a:gd name="connsiteY4" fmla="*/ 2723146 h 2873206"/>
                  <a:gd name="connsiteX5" fmla="*/ 2304480 w 2481044"/>
                  <a:gd name="connsiteY5" fmla="*/ 2723146 h 2873206"/>
                  <a:gd name="connsiteX6" fmla="*/ 2476289 w 2481044"/>
                  <a:gd name="connsiteY6" fmla="*/ 2245472 h 2873206"/>
                  <a:gd name="connsiteX7" fmla="*/ -70 w 2481044"/>
                  <a:gd name="connsiteY7" fmla="*/ -61 h 2873206"/>
                  <a:gd name="connsiteX8" fmla="*/ -70 w 2481044"/>
                  <a:gd name="connsiteY8" fmla="*/ -61 h 2873206"/>
                  <a:gd name="connsiteX9" fmla="*/ 10871 w 2481044"/>
                  <a:gd name="connsiteY9" fmla="*/ 1140195 h 2873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481044" h="2873206">
                    <a:moveTo>
                      <a:pt x="6402" y="1144817"/>
                    </a:moveTo>
                    <a:cubicBezTo>
                      <a:pt x="680787" y="1193972"/>
                      <a:pt x="1232686" y="1700692"/>
                      <a:pt x="1339115" y="2368434"/>
                    </a:cubicBezTo>
                    <a:cubicBezTo>
                      <a:pt x="1358761" y="2495681"/>
                      <a:pt x="1421537" y="2612326"/>
                      <a:pt x="1516933" y="2698800"/>
                    </a:cubicBezTo>
                    <a:lnTo>
                      <a:pt x="1552065" y="2730388"/>
                    </a:lnTo>
                    <a:cubicBezTo>
                      <a:pt x="1766788" y="2923477"/>
                      <a:pt x="2093518" y="2920333"/>
                      <a:pt x="2304480" y="2723146"/>
                    </a:cubicBezTo>
                    <a:lnTo>
                      <a:pt x="2304480" y="2723146"/>
                    </a:lnTo>
                    <a:cubicBezTo>
                      <a:pt x="2435518" y="2601000"/>
                      <a:pt x="2499510" y="2423105"/>
                      <a:pt x="2476289" y="2245472"/>
                    </a:cubicBezTo>
                    <a:cubicBezTo>
                      <a:pt x="2308949" y="1007062"/>
                      <a:pt x="1266539" y="46628"/>
                      <a:pt x="-70" y="-61"/>
                    </a:cubicBezTo>
                    <a:lnTo>
                      <a:pt x="-70" y="-61"/>
                    </a:lnTo>
                    <a:cubicBezTo>
                      <a:pt x="323517" y="217050"/>
                      <a:pt x="429530" y="827395"/>
                      <a:pt x="10871" y="1140195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5409" cap="flat">
                <a:noFill/>
                <a:prstDash val="solid"/>
                <a:miter/>
              </a:ln>
              <a:effectLst>
                <a:outerShdw blurRad="63500" sx="102000" sy="102000" algn="ctr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2EAECDD6-8F41-0806-6BBB-5BCFED4169F1}"/>
                  </a:ext>
                </a:extLst>
              </p:cNvPr>
              <p:cNvSpPr/>
              <p:nvPr/>
            </p:nvSpPr>
            <p:spPr>
              <a:xfrm>
                <a:off x="7504726" y="2915641"/>
                <a:ext cx="812270" cy="812269"/>
              </a:xfrm>
              <a:custGeom>
                <a:avLst/>
                <a:gdLst>
                  <a:gd name="connsiteX0" fmla="*/ 902959 w 902959"/>
                  <a:gd name="connsiteY0" fmla="*/ 451479 h 902958"/>
                  <a:gd name="connsiteX1" fmla="*/ 451480 w 902959"/>
                  <a:gd name="connsiteY1" fmla="*/ 902959 h 902958"/>
                  <a:gd name="connsiteX2" fmla="*/ 0 w 902959"/>
                  <a:gd name="connsiteY2" fmla="*/ 451479 h 902958"/>
                  <a:gd name="connsiteX3" fmla="*/ 451480 w 902959"/>
                  <a:gd name="connsiteY3" fmla="*/ 0 h 902958"/>
                  <a:gd name="connsiteX4" fmla="*/ 902959 w 902959"/>
                  <a:gd name="connsiteY4" fmla="*/ 451479 h 9029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2959" h="902958">
                    <a:moveTo>
                      <a:pt x="902959" y="451479"/>
                    </a:moveTo>
                    <a:cubicBezTo>
                      <a:pt x="902959" y="700825"/>
                      <a:pt x="700825" y="902959"/>
                      <a:pt x="451480" y="902959"/>
                    </a:cubicBezTo>
                    <a:cubicBezTo>
                      <a:pt x="202134" y="902959"/>
                      <a:pt x="0" y="700825"/>
                      <a:pt x="0" y="451479"/>
                    </a:cubicBezTo>
                    <a:cubicBezTo>
                      <a:pt x="0" y="202134"/>
                      <a:pt x="202134" y="0"/>
                      <a:pt x="451480" y="0"/>
                    </a:cubicBezTo>
                    <a:cubicBezTo>
                      <a:pt x="700825" y="0"/>
                      <a:pt x="902959" y="202134"/>
                      <a:pt x="902959" y="451479"/>
                    </a:cubicBezTo>
                    <a:close/>
                  </a:path>
                </a:pathLst>
              </a:custGeom>
              <a:solidFill>
                <a:schemeClr val="bg1"/>
              </a:solidFill>
              <a:ln w="15409" cap="flat">
                <a:noFill/>
                <a:prstDash val="solid"/>
                <a:miter/>
              </a:ln>
              <a:effectLst>
                <a:outerShdw blurRad="63500" sx="102000" sy="102000" algn="ctr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6011B296-7779-AD02-0370-55AAA3D5C221}"/>
                  </a:ext>
                </a:extLst>
              </p:cNvPr>
              <p:cNvSpPr/>
              <p:nvPr/>
            </p:nvSpPr>
            <p:spPr>
              <a:xfrm>
                <a:off x="5845893" y="3686327"/>
                <a:ext cx="2584489" cy="2231916"/>
              </a:xfrm>
              <a:custGeom>
                <a:avLst/>
                <a:gdLst>
                  <a:gd name="connsiteX0" fmla="*/ 1728249 w 2873043"/>
                  <a:gd name="connsiteY0" fmla="*/ 5795 h 2481106"/>
                  <a:gd name="connsiteX1" fmla="*/ 504631 w 2873043"/>
                  <a:gd name="connsiteY1" fmla="*/ 1338353 h 2481106"/>
                  <a:gd name="connsiteX2" fmla="*/ 174419 w 2873043"/>
                  <a:gd name="connsiteY2" fmla="*/ 1516325 h 2481106"/>
                  <a:gd name="connsiteX3" fmla="*/ 142677 w 2873043"/>
                  <a:gd name="connsiteY3" fmla="*/ 1552227 h 2481106"/>
                  <a:gd name="connsiteX4" fmla="*/ 149919 w 2873043"/>
                  <a:gd name="connsiteY4" fmla="*/ 2304488 h 2481106"/>
                  <a:gd name="connsiteX5" fmla="*/ 149919 w 2873043"/>
                  <a:gd name="connsiteY5" fmla="*/ 2304488 h 2481106"/>
                  <a:gd name="connsiteX6" fmla="*/ 627594 w 2873043"/>
                  <a:gd name="connsiteY6" fmla="*/ 2476296 h 2481106"/>
                  <a:gd name="connsiteX7" fmla="*/ 2872974 w 2873043"/>
                  <a:gd name="connsiteY7" fmla="*/ -61 h 2481106"/>
                  <a:gd name="connsiteX8" fmla="*/ 2872974 w 2873043"/>
                  <a:gd name="connsiteY8" fmla="*/ -61 h 2481106"/>
                  <a:gd name="connsiteX9" fmla="*/ 1732718 w 2873043"/>
                  <a:gd name="connsiteY9" fmla="*/ 10880 h 2481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873043" h="2481106">
                    <a:moveTo>
                      <a:pt x="1728249" y="5795"/>
                    </a:moveTo>
                    <a:cubicBezTo>
                      <a:pt x="1679095" y="680133"/>
                      <a:pt x="1172344" y="1232000"/>
                      <a:pt x="504631" y="1338353"/>
                    </a:cubicBezTo>
                    <a:cubicBezTo>
                      <a:pt x="377369" y="1357953"/>
                      <a:pt x="260755" y="1420805"/>
                      <a:pt x="174419" y="1516325"/>
                    </a:cubicBezTo>
                    <a:lnTo>
                      <a:pt x="142677" y="1552227"/>
                    </a:lnTo>
                    <a:cubicBezTo>
                      <a:pt x="-50396" y="1766904"/>
                      <a:pt x="-47253" y="2093571"/>
                      <a:pt x="149919" y="2304488"/>
                    </a:cubicBezTo>
                    <a:lnTo>
                      <a:pt x="149919" y="2304488"/>
                    </a:lnTo>
                    <a:cubicBezTo>
                      <a:pt x="271957" y="2435679"/>
                      <a:pt x="449945" y="2499703"/>
                      <a:pt x="627594" y="2476296"/>
                    </a:cubicBezTo>
                    <a:cubicBezTo>
                      <a:pt x="1866004" y="2308956"/>
                      <a:pt x="2826285" y="1266701"/>
                      <a:pt x="2872974" y="-61"/>
                    </a:cubicBezTo>
                    <a:lnTo>
                      <a:pt x="2872974" y="-61"/>
                    </a:lnTo>
                    <a:cubicBezTo>
                      <a:pt x="2600237" y="411048"/>
                      <a:pt x="2006225" y="383928"/>
                      <a:pt x="1732718" y="1088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15409" cap="flat">
                <a:noFill/>
                <a:prstDash val="solid"/>
                <a:miter/>
              </a:ln>
              <a:effectLst>
                <a:outerShdw blurRad="63500" sx="102000" sy="102000" algn="ctr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AF22BCA-A68D-3F44-B67F-0FCC603CD002}"/>
                  </a:ext>
                </a:extLst>
              </p:cNvPr>
              <p:cNvSpPr/>
              <p:nvPr/>
            </p:nvSpPr>
            <p:spPr>
              <a:xfrm>
                <a:off x="5966401" y="5007029"/>
                <a:ext cx="812270" cy="812269"/>
              </a:xfrm>
              <a:custGeom>
                <a:avLst/>
                <a:gdLst>
                  <a:gd name="connsiteX0" fmla="*/ 902959 w 902959"/>
                  <a:gd name="connsiteY0" fmla="*/ 451480 h 902958"/>
                  <a:gd name="connsiteX1" fmla="*/ 451480 w 902959"/>
                  <a:gd name="connsiteY1" fmla="*/ 902959 h 902958"/>
                  <a:gd name="connsiteX2" fmla="*/ 0 w 902959"/>
                  <a:gd name="connsiteY2" fmla="*/ 451480 h 902958"/>
                  <a:gd name="connsiteX3" fmla="*/ 451480 w 902959"/>
                  <a:gd name="connsiteY3" fmla="*/ 0 h 902958"/>
                  <a:gd name="connsiteX4" fmla="*/ 902959 w 902959"/>
                  <a:gd name="connsiteY4" fmla="*/ 451480 h 9029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2959" h="902958">
                    <a:moveTo>
                      <a:pt x="902959" y="451480"/>
                    </a:moveTo>
                    <a:cubicBezTo>
                      <a:pt x="902959" y="700825"/>
                      <a:pt x="700825" y="902959"/>
                      <a:pt x="451480" y="902959"/>
                    </a:cubicBezTo>
                    <a:cubicBezTo>
                      <a:pt x="202134" y="902959"/>
                      <a:pt x="0" y="700825"/>
                      <a:pt x="0" y="451480"/>
                    </a:cubicBezTo>
                    <a:cubicBezTo>
                      <a:pt x="0" y="202134"/>
                      <a:pt x="202134" y="0"/>
                      <a:pt x="451480" y="0"/>
                    </a:cubicBezTo>
                    <a:cubicBezTo>
                      <a:pt x="700825" y="0"/>
                      <a:pt x="902959" y="202134"/>
                      <a:pt x="902959" y="451480"/>
                    </a:cubicBezTo>
                    <a:close/>
                  </a:path>
                </a:pathLst>
              </a:custGeom>
              <a:solidFill>
                <a:schemeClr val="bg1"/>
              </a:solidFill>
              <a:ln w="15409" cap="flat">
                <a:noFill/>
                <a:prstDash val="solid"/>
                <a:miter/>
              </a:ln>
              <a:effectLst>
                <a:outerShdw blurRad="63500" sx="102000" sy="102000" algn="ctr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0127771D-BDBD-D106-39D7-3878AA064F8F}"/>
                  </a:ext>
                </a:extLst>
              </p:cNvPr>
              <p:cNvSpPr/>
              <p:nvPr/>
            </p:nvSpPr>
            <p:spPr>
              <a:xfrm>
                <a:off x="3777177" y="3348273"/>
                <a:ext cx="2231501" cy="2584549"/>
              </a:xfrm>
              <a:custGeom>
                <a:avLst/>
                <a:gdLst>
                  <a:gd name="connsiteX0" fmla="*/ 2474103 w 2480644"/>
                  <a:gd name="connsiteY0" fmla="*/ 1727710 h 2873110"/>
                  <a:gd name="connsiteX1" fmla="*/ 1141390 w 2480644"/>
                  <a:gd name="connsiteY1" fmla="*/ 504247 h 2873110"/>
                  <a:gd name="connsiteX2" fmla="*/ 963572 w 2480644"/>
                  <a:gd name="connsiteY2" fmla="*/ 173881 h 2873110"/>
                  <a:gd name="connsiteX3" fmla="*/ 928902 w 2480644"/>
                  <a:gd name="connsiteY3" fmla="*/ 142755 h 2873110"/>
                  <a:gd name="connsiteX4" fmla="*/ 176487 w 2480644"/>
                  <a:gd name="connsiteY4" fmla="*/ 149998 h 2873110"/>
                  <a:gd name="connsiteX5" fmla="*/ 176487 w 2480644"/>
                  <a:gd name="connsiteY5" fmla="*/ 149998 h 2873110"/>
                  <a:gd name="connsiteX6" fmla="*/ 4678 w 2480644"/>
                  <a:gd name="connsiteY6" fmla="*/ 627672 h 2873110"/>
                  <a:gd name="connsiteX7" fmla="*/ 2480575 w 2480644"/>
                  <a:gd name="connsiteY7" fmla="*/ 2873050 h 2873110"/>
                  <a:gd name="connsiteX8" fmla="*/ 2480575 w 2480644"/>
                  <a:gd name="connsiteY8" fmla="*/ 2873050 h 2873110"/>
                  <a:gd name="connsiteX9" fmla="*/ 2469635 w 2480644"/>
                  <a:gd name="connsiteY9" fmla="*/ 1732795 h 28731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480644" h="2873110">
                    <a:moveTo>
                      <a:pt x="2474103" y="1727710"/>
                    </a:moveTo>
                    <a:cubicBezTo>
                      <a:pt x="1799750" y="1678633"/>
                      <a:pt x="1247820" y="1171959"/>
                      <a:pt x="1141390" y="504247"/>
                    </a:cubicBezTo>
                    <a:cubicBezTo>
                      <a:pt x="1121790" y="376985"/>
                      <a:pt x="1058999" y="260340"/>
                      <a:pt x="963572" y="173881"/>
                    </a:cubicBezTo>
                    <a:lnTo>
                      <a:pt x="928902" y="142755"/>
                    </a:lnTo>
                    <a:cubicBezTo>
                      <a:pt x="714210" y="-50410"/>
                      <a:pt x="387419" y="-47267"/>
                      <a:pt x="176487" y="149998"/>
                    </a:cubicBezTo>
                    <a:lnTo>
                      <a:pt x="176487" y="149998"/>
                    </a:lnTo>
                    <a:cubicBezTo>
                      <a:pt x="45295" y="272036"/>
                      <a:pt x="-18723" y="450023"/>
                      <a:pt x="4678" y="627672"/>
                    </a:cubicBezTo>
                    <a:cubicBezTo>
                      <a:pt x="171556" y="1866390"/>
                      <a:pt x="1213966" y="2826361"/>
                      <a:pt x="2480575" y="2873050"/>
                    </a:cubicBezTo>
                    <a:lnTo>
                      <a:pt x="2480575" y="2873050"/>
                    </a:lnTo>
                    <a:cubicBezTo>
                      <a:pt x="2095353" y="2700009"/>
                      <a:pt x="2013840" y="2006148"/>
                      <a:pt x="2469635" y="1732795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5409" cap="flat">
                <a:noFill/>
                <a:prstDash val="solid"/>
                <a:miter/>
              </a:ln>
              <a:effectLst>
                <a:outerShdw blurRad="63500" sx="102000" sy="102000" algn="ctr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9A013A0-A8B4-D042-CBA7-947CA6AAF803}"/>
                  </a:ext>
                </a:extLst>
              </p:cNvPr>
              <p:cNvSpPr/>
              <p:nvPr/>
            </p:nvSpPr>
            <p:spPr>
              <a:xfrm rot="20224201">
                <a:off x="3874982" y="3468791"/>
                <a:ext cx="812270" cy="812270"/>
              </a:xfrm>
              <a:custGeom>
                <a:avLst/>
                <a:gdLst>
                  <a:gd name="connsiteX0" fmla="*/ 902890 w 902959"/>
                  <a:gd name="connsiteY0" fmla="*/ 451419 h 902959"/>
                  <a:gd name="connsiteX1" fmla="*/ 451410 w 902959"/>
                  <a:gd name="connsiteY1" fmla="*/ 902898 h 902959"/>
                  <a:gd name="connsiteX2" fmla="*/ -70 w 902959"/>
                  <a:gd name="connsiteY2" fmla="*/ 451419 h 902959"/>
                  <a:gd name="connsiteX3" fmla="*/ 451410 w 902959"/>
                  <a:gd name="connsiteY3" fmla="*/ -61 h 902959"/>
                  <a:gd name="connsiteX4" fmla="*/ 902890 w 902959"/>
                  <a:gd name="connsiteY4" fmla="*/ 451419 h 902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2959" h="902959">
                    <a:moveTo>
                      <a:pt x="902890" y="451419"/>
                    </a:moveTo>
                    <a:cubicBezTo>
                      <a:pt x="902890" y="700764"/>
                      <a:pt x="700756" y="902898"/>
                      <a:pt x="451410" y="902898"/>
                    </a:cubicBezTo>
                    <a:cubicBezTo>
                      <a:pt x="202065" y="902898"/>
                      <a:pt x="-70" y="700764"/>
                      <a:pt x="-70" y="451419"/>
                    </a:cubicBezTo>
                    <a:cubicBezTo>
                      <a:pt x="-70" y="202074"/>
                      <a:pt x="202065" y="-61"/>
                      <a:pt x="451410" y="-61"/>
                    </a:cubicBezTo>
                    <a:cubicBezTo>
                      <a:pt x="700756" y="-61"/>
                      <a:pt x="902890" y="202074"/>
                      <a:pt x="902890" y="451419"/>
                    </a:cubicBezTo>
                    <a:close/>
                  </a:path>
                </a:pathLst>
              </a:custGeom>
              <a:solidFill>
                <a:schemeClr val="bg1"/>
              </a:solidFill>
              <a:ln w="15409" cap="flat">
                <a:noFill/>
                <a:prstDash val="solid"/>
                <a:miter/>
              </a:ln>
              <a:effectLst>
                <a:outerShdw blurRad="63500" sx="102000" sy="102000" algn="ctr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CB4DB32-FF13-E53F-5DC2-4E254C06CFBE}"/>
                  </a:ext>
                </a:extLst>
              </p:cNvPr>
              <p:cNvSpPr/>
              <p:nvPr/>
            </p:nvSpPr>
            <p:spPr>
              <a:xfrm>
                <a:off x="7784894" y="1368260"/>
                <a:ext cx="2418023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cs typeface="Times New Roman" panose="02020603050405020304" pitchFamily="18" charset="0"/>
                  </a:rPr>
                  <a:t>Create Clarity in the numbers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A385BE3-DDBA-76AB-D780-35B927A50370}"/>
                  </a:ext>
                </a:extLst>
              </p:cNvPr>
              <p:cNvSpPr/>
              <p:nvPr/>
            </p:nvSpPr>
            <p:spPr>
              <a:xfrm>
                <a:off x="4113584" y="2265640"/>
                <a:ext cx="1203204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SUCCESS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D3F66832-3930-8BBE-A4C4-F36AEF954DFC}"/>
                  </a:ext>
                </a:extLst>
              </p:cNvPr>
              <p:cNvSpPr/>
              <p:nvPr/>
            </p:nvSpPr>
            <p:spPr>
              <a:xfrm>
                <a:off x="7459562" y="5318199"/>
                <a:ext cx="2655929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cs typeface="Times New Roman" panose="02020603050405020304" pitchFamily="18" charset="0"/>
                  </a:rPr>
                  <a:t>Connect the numbers to the Business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F648C85-8149-E29A-0138-7F956174605C}"/>
                  </a:ext>
                </a:extLst>
              </p:cNvPr>
              <p:cNvSpPr/>
              <p:nvPr/>
            </p:nvSpPr>
            <p:spPr>
              <a:xfrm>
                <a:off x="1731872" y="5163468"/>
                <a:ext cx="2572604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>
                  <a:spcBef>
                    <a:spcPts val="600"/>
                  </a:spcBef>
                </a:pP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cs typeface="Times New Roman" panose="02020603050405020304" pitchFamily="18" charset="0"/>
                  </a:rPr>
                  <a:t>Pro-Active &amp; Efficient approach </a:t>
                </a:r>
              </a:p>
            </p:txBody>
          </p:sp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9774185E-0142-8FA3-DD9D-8107908EA1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-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60191" y="3071106"/>
                <a:ext cx="501340" cy="501338"/>
              </a:xfrm>
              <a:prstGeom prst="rect">
                <a:avLst/>
              </a:prstGeom>
            </p:spPr>
          </p:pic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847A2067-C32D-EC3E-2C3F-0350BE6D3E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-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11100" y="1520121"/>
                <a:ext cx="402890" cy="402888"/>
              </a:xfrm>
              <a:prstGeom prst="rect">
                <a:avLst/>
              </a:prstGeom>
            </p:spPr>
          </p:pic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2C259C3-02E9-7AE5-BE3E-1C07F16B3A56}"/>
                  </a:ext>
                </a:extLst>
              </p:cNvPr>
              <p:cNvSpPr txBox="1"/>
              <p:nvPr/>
            </p:nvSpPr>
            <p:spPr>
              <a:xfrm>
                <a:off x="2442908" y="1676629"/>
                <a:ext cx="206231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spcBef>
                    <a:spcPts val="600"/>
                  </a:spcBef>
                </a:pPr>
                <a:r>
                  <a:rPr lang="en-US" sz="1600" b="0" i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Aptos" panose="020B0004020202020204" pitchFamily="34" charset="0"/>
                  </a:rPr>
                  <a:t>Objectives are met</a:t>
                </a:r>
                <a:endPara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D86FB24-C8FE-3DBC-2E3E-261C0AFA548B}"/>
                  </a:ext>
                </a:extLst>
              </p:cNvPr>
              <p:cNvSpPr/>
              <p:nvPr/>
            </p:nvSpPr>
            <p:spPr>
              <a:xfrm>
                <a:off x="6842171" y="2265640"/>
                <a:ext cx="1203204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VISION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04AB1792-2157-075A-E409-7610C68C22B3}"/>
                  </a:ext>
                </a:extLst>
              </p:cNvPr>
              <p:cNvSpPr/>
              <p:nvPr/>
            </p:nvSpPr>
            <p:spPr>
              <a:xfrm>
                <a:off x="4140586" y="4751943"/>
                <a:ext cx="1428589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EXECUTION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932D83C-C128-4845-0293-5403861C531C}"/>
                  </a:ext>
                </a:extLst>
              </p:cNvPr>
              <p:cNvSpPr/>
              <p:nvPr/>
            </p:nvSpPr>
            <p:spPr>
              <a:xfrm>
                <a:off x="6842171" y="4665610"/>
                <a:ext cx="1203204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STRATEGY</a:t>
                </a:r>
              </a:p>
            </p:txBody>
          </p:sp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B40B1C2-CB5E-D793-DBC8-583E6C914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303623" y="3097247"/>
              <a:ext cx="1620486" cy="1620486"/>
            </a:xfrm>
            <a:prstGeom prst="rect">
              <a:avLst/>
            </a:prstGeom>
          </p:spPr>
        </p:pic>
      </p:grpSp>
      <p:sp>
        <p:nvSpPr>
          <p:cNvPr id="33" name="Google Shape;12590;p89">
            <a:extLst>
              <a:ext uri="{FF2B5EF4-FFF2-40B4-BE49-F238E27FC236}">
                <a16:creationId xmlns:a16="http://schemas.microsoft.com/office/drawing/2014/main" id="{7D0819B2-52AD-DD8E-69C3-474FD18EC047}"/>
              </a:ext>
            </a:extLst>
          </p:cNvPr>
          <p:cNvSpPr/>
          <p:nvPr/>
        </p:nvSpPr>
        <p:spPr>
          <a:xfrm>
            <a:off x="6342078" y="3155367"/>
            <a:ext cx="595793" cy="542094"/>
          </a:xfrm>
          <a:custGeom>
            <a:avLst/>
            <a:gdLst/>
            <a:ahLst/>
            <a:cxnLst/>
            <a:rect l="l" t="t" r="r" b="b"/>
            <a:pathLst>
              <a:path w="12193" h="11674" extrusionOk="0">
                <a:moveTo>
                  <a:pt x="9483" y="1174"/>
                </a:moveTo>
                <a:lnTo>
                  <a:pt x="9483" y="2308"/>
                </a:lnTo>
                <a:cubicBezTo>
                  <a:pt x="9483" y="2497"/>
                  <a:pt x="9641" y="2655"/>
                  <a:pt x="9830" y="2655"/>
                </a:cubicBezTo>
                <a:lnTo>
                  <a:pt x="10901" y="2655"/>
                </a:lnTo>
                <a:lnTo>
                  <a:pt x="9515" y="4041"/>
                </a:lnTo>
                <a:lnTo>
                  <a:pt x="8097" y="4041"/>
                </a:lnTo>
                <a:lnTo>
                  <a:pt x="8097" y="2560"/>
                </a:lnTo>
                <a:lnTo>
                  <a:pt x="9483" y="1174"/>
                </a:lnTo>
                <a:close/>
                <a:moveTo>
                  <a:pt x="4885" y="6181"/>
                </a:moveTo>
                <a:cubicBezTo>
                  <a:pt x="5033" y="6181"/>
                  <a:pt x="5183" y="6212"/>
                  <a:pt x="5325" y="6278"/>
                </a:cubicBezTo>
                <a:lnTo>
                  <a:pt x="4600" y="7003"/>
                </a:lnTo>
                <a:cubicBezTo>
                  <a:pt x="4474" y="7129"/>
                  <a:pt x="4474" y="7349"/>
                  <a:pt x="4600" y="7475"/>
                </a:cubicBezTo>
                <a:cubicBezTo>
                  <a:pt x="4663" y="7538"/>
                  <a:pt x="4750" y="7570"/>
                  <a:pt x="4836" y="7570"/>
                </a:cubicBezTo>
                <a:cubicBezTo>
                  <a:pt x="4923" y="7570"/>
                  <a:pt x="5010" y="7538"/>
                  <a:pt x="5073" y="7475"/>
                </a:cubicBezTo>
                <a:lnTo>
                  <a:pt x="5797" y="6751"/>
                </a:lnTo>
                <a:lnTo>
                  <a:pt x="5797" y="6751"/>
                </a:lnTo>
                <a:cubicBezTo>
                  <a:pt x="5986" y="7160"/>
                  <a:pt x="5892" y="7633"/>
                  <a:pt x="5577" y="7948"/>
                </a:cubicBezTo>
                <a:cubicBezTo>
                  <a:pt x="5388" y="8137"/>
                  <a:pt x="5128" y="8231"/>
                  <a:pt x="4864" y="8231"/>
                </a:cubicBezTo>
                <a:cubicBezTo>
                  <a:pt x="4600" y="8231"/>
                  <a:pt x="4332" y="8137"/>
                  <a:pt x="4127" y="7948"/>
                </a:cubicBezTo>
                <a:cubicBezTo>
                  <a:pt x="3749" y="7538"/>
                  <a:pt x="3749" y="6877"/>
                  <a:pt x="4127" y="6499"/>
                </a:cubicBezTo>
                <a:cubicBezTo>
                  <a:pt x="4333" y="6293"/>
                  <a:pt x="4606" y="6181"/>
                  <a:pt x="4885" y="6181"/>
                </a:cubicBezTo>
                <a:close/>
                <a:moveTo>
                  <a:pt x="4897" y="4831"/>
                </a:moveTo>
                <a:cubicBezTo>
                  <a:pt x="5396" y="4831"/>
                  <a:pt x="5890" y="4990"/>
                  <a:pt x="6301" y="5301"/>
                </a:cubicBezTo>
                <a:lnTo>
                  <a:pt x="5829" y="5774"/>
                </a:lnTo>
                <a:cubicBezTo>
                  <a:pt x="5553" y="5590"/>
                  <a:pt x="5233" y="5499"/>
                  <a:pt x="4911" y="5499"/>
                </a:cubicBezTo>
                <a:cubicBezTo>
                  <a:pt x="4460" y="5499"/>
                  <a:pt x="4004" y="5677"/>
                  <a:pt x="3655" y="6026"/>
                </a:cubicBezTo>
                <a:cubicBezTo>
                  <a:pt x="2993" y="6688"/>
                  <a:pt x="2993" y="7790"/>
                  <a:pt x="3655" y="8420"/>
                </a:cubicBezTo>
                <a:cubicBezTo>
                  <a:pt x="3986" y="8751"/>
                  <a:pt x="4427" y="8917"/>
                  <a:pt x="4864" y="8917"/>
                </a:cubicBezTo>
                <a:cubicBezTo>
                  <a:pt x="5301" y="8917"/>
                  <a:pt x="5734" y="8751"/>
                  <a:pt x="6049" y="8420"/>
                </a:cubicBezTo>
                <a:cubicBezTo>
                  <a:pt x="6648" y="7822"/>
                  <a:pt x="6742" y="6908"/>
                  <a:pt x="6301" y="6246"/>
                </a:cubicBezTo>
                <a:lnTo>
                  <a:pt x="6774" y="5774"/>
                </a:lnTo>
                <a:lnTo>
                  <a:pt x="6774" y="5774"/>
                </a:lnTo>
                <a:cubicBezTo>
                  <a:pt x="7467" y="6719"/>
                  <a:pt x="7404" y="8074"/>
                  <a:pt x="6585" y="8924"/>
                </a:cubicBezTo>
                <a:cubicBezTo>
                  <a:pt x="6112" y="9397"/>
                  <a:pt x="5498" y="9633"/>
                  <a:pt x="4883" y="9633"/>
                </a:cubicBezTo>
                <a:cubicBezTo>
                  <a:pt x="4269" y="9633"/>
                  <a:pt x="3655" y="9397"/>
                  <a:pt x="3182" y="8924"/>
                </a:cubicBezTo>
                <a:cubicBezTo>
                  <a:pt x="2237" y="7979"/>
                  <a:pt x="2237" y="6499"/>
                  <a:pt x="3182" y="5553"/>
                </a:cubicBezTo>
                <a:cubicBezTo>
                  <a:pt x="3667" y="5068"/>
                  <a:pt x="4286" y="4831"/>
                  <a:pt x="4897" y="4831"/>
                </a:cubicBezTo>
                <a:close/>
                <a:moveTo>
                  <a:pt x="4873" y="3463"/>
                </a:moveTo>
                <a:cubicBezTo>
                  <a:pt x="5728" y="3463"/>
                  <a:pt x="6583" y="3748"/>
                  <a:pt x="7278" y="4325"/>
                </a:cubicBezTo>
                <a:lnTo>
                  <a:pt x="6805" y="4797"/>
                </a:lnTo>
                <a:cubicBezTo>
                  <a:pt x="6228" y="4353"/>
                  <a:pt x="5533" y="4125"/>
                  <a:pt x="4844" y="4125"/>
                </a:cubicBezTo>
                <a:cubicBezTo>
                  <a:pt x="4065" y="4125"/>
                  <a:pt x="3294" y="4416"/>
                  <a:pt x="2710" y="5018"/>
                </a:cubicBezTo>
                <a:cubicBezTo>
                  <a:pt x="1481" y="6246"/>
                  <a:pt x="1481" y="8168"/>
                  <a:pt x="2710" y="9397"/>
                </a:cubicBezTo>
                <a:cubicBezTo>
                  <a:pt x="3324" y="10011"/>
                  <a:pt x="4112" y="10318"/>
                  <a:pt x="4899" y="10318"/>
                </a:cubicBezTo>
                <a:cubicBezTo>
                  <a:pt x="5687" y="10318"/>
                  <a:pt x="6474" y="10011"/>
                  <a:pt x="7089" y="9397"/>
                </a:cubicBezTo>
                <a:cubicBezTo>
                  <a:pt x="8223" y="8263"/>
                  <a:pt x="8255" y="6467"/>
                  <a:pt x="7309" y="5301"/>
                </a:cubicBezTo>
                <a:lnTo>
                  <a:pt x="7782" y="4829"/>
                </a:lnTo>
                <a:lnTo>
                  <a:pt x="7782" y="4829"/>
                </a:lnTo>
                <a:cubicBezTo>
                  <a:pt x="8979" y="6278"/>
                  <a:pt x="8885" y="8483"/>
                  <a:pt x="7530" y="9870"/>
                </a:cubicBezTo>
                <a:cubicBezTo>
                  <a:pt x="6790" y="10594"/>
                  <a:pt x="5821" y="10956"/>
                  <a:pt x="4856" y="10956"/>
                </a:cubicBezTo>
                <a:cubicBezTo>
                  <a:pt x="3891" y="10956"/>
                  <a:pt x="2930" y="10594"/>
                  <a:pt x="2206" y="9870"/>
                </a:cubicBezTo>
                <a:cubicBezTo>
                  <a:pt x="756" y="8420"/>
                  <a:pt x="756" y="6026"/>
                  <a:pt x="2206" y="4545"/>
                </a:cubicBezTo>
                <a:cubicBezTo>
                  <a:pt x="2941" y="3827"/>
                  <a:pt x="3907" y="3463"/>
                  <a:pt x="4873" y="3463"/>
                </a:cubicBezTo>
                <a:close/>
                <a:moveTo>
                  <a:pt x="9899" y="0"/>
                </a:moveTo>
                <a:cubicBezTo>
                  <a:pt x="9813" y="0"/>
                  <a:pt x="9722" y="32"/>
                  <a:pt x="9641" y="103"/>
                </a:cubicBezTo>
                <a:lnTo>
                  <a:pt x="7561" y="2182"/>
                </a:lnTo>
                <a:cubicBezTo>
                  <a:pt x="7467" y="2277"/>
                  <a:pt x="7435" y="2340"/>
                  <a:pt x="7435" y="2434"/>
                </a:cubicBezTo>
                <a:lnTo>
                  <a:pt x="7435" y="3600"/>
                </a:lnTo>
                <a:cubicBezTo>
                  <a:pt x="6670" y="3071"/>
                  <a:pt x="5769" y="2807"/>
                  <a:pt x="4868" y="2807"/>
                </a:cubicBezTo>
                <a:cubicBezTo>
                  <a:pt x="3731" y="2807"/>
                  <a:pt x="2595" y="3229"/>
                  <a:pt x="1733" y="4073"/>
                </a:cubicBezTo>
                <a:cubicBezTo>
                  <a:pt x="0" y="5805"/>
                  <a:pt x="0" y="8641"/>
                  <a:pt x="1733" y="10374"/>
                </a:cubicBezTo>
                <a:cubicBezTo>
                  <a:pt x="2599" y="11240"/>
                  <a:pt x="3741" y="11673"/>
                  <a:pt x="4883" y="11673"/>
                </a:cubicBezTo>
                <a:cubicBezTo>
                  <a:pt x="6026" y="11673"/>
                  <a:pt x="7168" y="11240"/>
                  <a:pt x="8034" y="10374"/>
                </a:cubicBezTo>
                <a:cubicBezTo>
                  <a:pt x="9578" y="8861"/>
                  <a:pt x="9735" y="6436"/>
                  <a:pt x="8538" y="4703"/>
                </a:cubicBezTo>
                <a:lnTo>
                  <a:pt x="9672" y="4703"/>
                </a:lnTo>
                <a:cubicBezTo>
                  <a:pt x="9767" y="4703"/>
                  <a:pt x="9893" y="4671"/>
                  <a:pt x="9924" y="4608"/>
                </a:cubicBezTo>
                <a:lnTo>
                  <a:pt x="12004" y="2497"/>
                </a:lnTo>
                <a:cubicBezTo>
                  <a:pt x="12193" y="2308"/>
                  <a:pt x="12035" y="1962"/>
                  <a:pt x="11783" y="1962"/>
                </a:cubicBezTo>
                <a:lnTo>
                  <a:pt x="10239" y="1962"/>
                </a:lnTo>
                <a:lnTo>
                  <a:pt x="10239" y="355"/>
                </a:lnTo>
                <a:cubicBezTo>
                  <a:pt x="10239" y="141"/>
                  <a:pt x="10080" y="0"/>
                  <a:pt x="9899" y="0"/>
                </a:cubicBezTo>
                <a:close/>
              </a:path>
            </a:pathLst>
          </a:custGeom>
          <a:solidFill>
            <a:sysClr val="windowText" lastClr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Google Shape;12425;p89">
            <a:extLst>
              <a:ext uri="{FF2B5EF4-FFF2-40B4-BE49-F238E27FC236}">
                <a16:creationId xmlns:a16="http://schemas.microsoft.com/office/drawing/2014/main" id="{36C10B53-CD55-7446-60E4-823544E68CD8}"/>
              </a:ext>
            </a:extLst>
          </p:cNvPr>
          <p:cNvSpPr/>
          <p:nvPr/>
        </p:nvSpPr>
        <p:spPr>
          <a:xfrm>
            <a:off x="8453658" y="4800204"/>
            <a:ext cx="468529" cy="462305"/>
          </a:xfrm>
          <a:custGeom>
            <a:avLst/>
            <a:gdLst/>
            <a:ahLst/>
            <a:cxnLst/>
            <a:rect l="l" t="t" r="r" b="b"/>
            <a:pathLst>
              <a:path w="11815" h="11658" extrusionOk="0">
                <a:moveTo>
                  <a:pt x="2048" y="1167"/>
                </a:moveTo>
                <a:lnTo>
                  <a:pt x="2048" y="2017"/>
                </a:lnTo>
                <a:lnTo>
                  <a:pt x="1166" y="2017"/>
                </a:lnTo>
                <a:lnTo>
                  <a:pt x="2048" y="1167"/>
                </a:lnTo>
                <a:close/>
                <a:moveTo>
                  <a:pt x="10330" y="2773"/>
                </a:moveTo>
                <a:cubicBezTo>
                  <a:pt x="10507" y="2773"/>
                  <a:pt x="10680" y="2836"/>
                  <a:pt x="10806" y="2962"/>
                </a:cubicBezTo>
                <a:cubicBezTo>
                  <a:pt x="11058" y="3246"/>
                  <a:pt x="11058" y="3687"/>
                  <a:pt x="10775" y="3908"/>
                </a:cubicBezTo>
                <a:lnTo>
                  <a:pt x="10176" y="4506"/>
                </a:lnTo>
                <a:lnTo>
                  <a:pt x="9231" y="3561"/>
                </a:lnTo>
                <a:lnTo>
                  <a:pt x="9830" y="2962"/>
                </a:lnTo>
                <a:cubicBezTo>
                  <a:pt x="9972" y="2836"/>
                  <a:pt x="10153" y="2773"/>
                  <a:pt x="10330" y="2773"/>
                </a:cubicBezTo>
                <a:close/>
                <a:moveTo>
                  <a:pt x="8727" y="4034"/>
                </a:moveTo>
                <a:lnTo>
                  <a:pt x="9672" y="4979"/>
                </a:lnTo>
                <a:cubicBezTo>
                  <a:pt x="8538" y="6207"/>
                  <a:pt x="7026" y="7688"/>
                  <a:pt x="5892" y="8854"/>
                </a:cubicBezTo>
                <a:lnTo>
                  <a:pt x="4915" y="7846"/>
                </a:lnTo>
                <a:lnTo>
                  <a:pt x="8727" y="4034"/>
                </a:lnTo>
                <a:close/>
                <a:moveTo>
                  <a:pt x="4600" y="8539"/>
                </a:moveTo>
                <a:lnTo>
                  <a:pt x="5230" y="9169"/>
                </a:lnTo>
                <a:lnTo>
                  <a:pt x="4285" y="9421"/>
                </a:lnTo>
                <a:cubicBezTo>
                  <a:pt x="4348" y="9232"/>
                  <a:pt x="4505" y="8728"/>
                  <a:pt x="4600" y="8539"/>
                </a:cubicBezTo>
                <a:close/>
                <a:moveTo>
                  <a:pt x="7908" y="694"/>
                </a:moveTo>
                <a:cubicBezTo>
                  <a:pt x="8097" y="694"/>
                  <a:pt x="8255" y="852"/>
                  <a:pt x="8255" y="1041"/>
                </a:cubicBezTo>
                <a:lnTo>
                  <a:pt x="8255" y="3592"/>
                </a:lnTo>
                <a:lnTo>
                  <a:pt x="7467" y="4380"/>
                </a:lnTo>
                <a:cubicBezTo>
                  <a:pt x="7435" y="4286"/>
                  <a:pt x="7309" y="4160"/>
                  <a:pt x="7152" y="4160"/>
                </a:cubicBezTo>
                <a:lnTo>
                  <a:pt x="1733" y="4160"/>
                </a:lnTo>
                <a:cubicBezTo>
                  <a:pt x="1512" y="4160"/>
                  <a:pt x="1386" y="4317"/>
                  <a:pt x="1386" y="4506"/>
                </a:cubicBezTo>
                <a:cubicBezTo>
                  <a:pt x="1386" y="4695"/>
                  <a:pt x="1512" y="4853"/>
                  <a:pt x="1733" y="4853"/>
                </a:cubicBezTo>
                <a:lnTo>
                  <a:pt x="6994" y="4853"/>
                </a:lnTo>
                <a:lnTo>
                  <a:pt x="6333" y="5546"/>
                </a:lnTo>
                <a:lnTo>
                  <a:pt x="1733" y="5546"/>
                </a:lnTo>
                <a:cubicBezTo>
                  <a:pt x="1512" y="5546"/>
                  <a:pt x="1355" y="5703"/>
                  <a:pt x="1355" y="5892"/>
                </a:cubicBezTo>
                <a:cubicBezTo>
                  <a:pt x="1355" y="6081"/>
                  <a:pt x="1512" y="6239"/>
                  <a:pt x="1733" y="6239"/>
                </a:cubicBezTo>
                <a:lnTo>
                  <a:pt x="5608" y="6239"/>
                </a:lnTo>
                <a:lnTo>
                  <a:pt x="4947" y="6901"/>
                </a:lnTo>
                <a:lnTo>
                  <a:pt x="1733" y="6901"/>
                </a:lnTo>
                <a:cubicBezTo>
                  <a:pt x="1512" y="6901"/>
                  <a:pt x="1355" y="7058"/>
                  <a:pt x="1355" y="7279"/>
                </a:cubicBezTo>
                <a:cubicBezTo>
                  <a:pt x="1355" y="7468"/>
                  <a:pt x="1512" y="7625"/>
                  <a:pt x="1733" y="7625"/>
                </a:cubicBezTo>
                <a:lnTo>
                  <a:pt x="4285" y="7625"/>
                </a:lnTo>
                <a:cubicBezTo>
                  <a:pt x="4190" y="7688"/>
                  <a:pt x="4159" y="7751"/>
                  <a:pt x="4127" y="7814"/>
                </a:cubicBezTo>
                <a:lnTo>
                  <a:pt x="3970" y="8287"/>
                </a:lnTo>
                <a:lnTo>
                  <a:pt x="1733" y="8287"/>
                </a:lnTo>
                <a:cubicBezTo>
                  <a:pt x="1512" y="8287"/>
                  <a:pt x="1355" y="8444"/>
                  <a:pt x="1355" y="8633"/>
                </a:cubicBezTo>
                <a:cubicBezTo>
                  <a:pt x="1355" y="8854"/>
                  <a:pt x="1512" y="9011"/>
                  <a:pt x="1733" y="9011"/>
                </a:cubicBezTo>
                <a:lnTo>
                  <a:pt x="3718" y="9011"/>
                </a:lnTo>
                <a:lnTo>
                  <a:pt x="3466" y="9893"/>
                </a:lnTo>
                <a:cubicBezTo>
                  <a:pt x="3385" y="10136"/>
                  <a:pt x="3557" y="10355"/>
                  <a:pt x="3766" y="10355"/>
                </a:cubicBezTo>
                <a:cubicBezTo>
                  <a:pt x="3802" y="10355"/>
                  <a:pt x="3839" y="10348"/>
                  <a:pt x="3875" y="10335"/>
                </a:cubicBezTo>
                <a:lnTo>
                  <a:pt x="6018" y="9704"/>
                </a:lnTo>
                <a:cubicBezTo>
                  <a:pt x="6049" y="9704"/>
                  <a:pt x="6144" y="9673"/>
                  <a:pt x="6175" y="9641"/>
                </a:cubicBezTo>
                <a:lnTo>
                  <a:pt x="8286" y="7499"/>
                </a:lnTo>
                <a:lnTo>
                  <a:pt x="8286" y="10681"/>
                </a:lnTo>
                <a:cubicBezTo>
                  <a:pt x="8255" y="10839"/>
                  <a:pt x="8097" y="10996"/>
                  <a:pt x="7908" y="10996"/>
                </a:cubicBezTo>
                <a:lnTo>
                  <a:pt x="1040" y="10996"/>
                </a:lnTo>
                <a:cubicBezTo>
                  <a:pt x="851" y="10996"/>
                  <a:pt x="693" y="10839"/>
                  <a:pt x="693" y="10650"/>
                </a:cubicBezTo>
                <a:lnTo>
                  <a:pt x="693" y="2742"/>
                </a:lnTo>
                <a:lnTo>
                  <a:pt x="2395" y="2742"/>
                </a:lnTo>
                <a:cubicBezTo>
                  <a:pt x="2584" y="2742"/>
                  <a:pt x="2741" y="2584"/>
                  <a:pt x="2741" y="2395"/>
                </a:cubicBezTo>
                <a:lnTo>
                  <a:pt x="2741" y="694"/>
                </a:lnTo>
                <a:close/>
                <a:moveTo>
                  <a:pt x="2363" y="1"/>
                </a:moveTo>
                <a:cubicBezTo>
                  <a:pt x="2237" y="1"/>
                  <a:pt x="2143" y="64"/>
                  <a:pt x="2111" y="127"/>
                </a:cubicBezTo>
                <a:lnTo>
                  <a:pt x="158" y="2112"/>
                </a:lnTo>
                <a:cubicBezTo>
                  <a:pt x="63" y="2175"/>
                  <a:pt x="0" y="2269"/>
                  <a:pt x="0" y="2364"/>
                </a:cubicBezTo>
                <a:lnTo>
                  <a:pt x="0" y="10650"/>
                </a:lnTo>
                <a:cubicBezTo>
                  <a:pt x="0" y="11217"/>
                  <a:pt x="473" y="11658"/>
                  <a:pt x="1008" y="11658"/>
                </a:cubicBezTo>
                <a:lnTo>
                  <a:pt x="7908" y="11658"/>
                </a:lnTo>
                <a:cubicBezTo>
                  <a:pt x="8444" y="11658"/>
                  <a:pt x="8916" y="11217"/>
                  <a:pt x="8916" y="10650"/>
                </a:cubicBezTo>
                <a:lnTo>
                  <a:pt x="8916" y="6774"/>
                </a:lnTo>
                <a:lnTo>
                  <a:pt x="11279" y="4412"/>
                </a:lnTo>
                <a:cubicBezTo>
                  <a:pt x="11815" y="3876"/>
                  <a:pt x="11815" y="3025"/>
                  <a:pt x="11279" y="2490"/>
                </a:cubicBezTo>
                <a:cubicBezTo>
                  <a:pt x="11011" y="2222"/>
                  <a:pt x="10657" y="2088"/>
                  <a:pt x="10306" y="2088"/>
                </a:cubicBezTo>
                <a:cubicBezTo>
                  <a:pt x="9956" y="2088"/>
                  <a:pt x="9609" y="2222"/>
                  <a:pt x="9357" y="2490"/>
                </a:cubicBezTo>
                <a:lnTo>
                  <a:pt x="8916" y="2931"/>
                </a:lnTo>
                <a:lnTo>
                  <a:pt x="8916" y="1041"/>
                </a:lnTo>
                <a:cubicBezTo>
                  <a:pt x="8916" y="474"/>
                  <a:pt x="8444" y="1"/>
                  <a:pt x="7908" y="1"/>
                </a:cubicBezTo>
                <a:close/>
              </a:path>
            </a:pathLst>
          </a:custGeom>
          <a:solidFill>
            <a:sysClr val="windowText" lastClr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0">
          <a:extLst>
            <a:ext uri="{FF2B5EF4-FFF2-40B4-BE49-F238E27FC236}">
              <a16:creationId xmlns:a16="http://schemas.microsoft.com/office/drawing/2014/main" id="{5170A926-A748-6700-478E-7A2DF03DD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7">
            <a:extLst>
              <a:ext uri="{FF2B5EF4-FFF2-40B4-BE49-F238E27FC236}">
                <a16:creationId xmlns:a16="http://schemas.microsoft.com/office/drawing/2014/main" id="{FA082284-8CE9-E49B-55FA-EF54FC763DE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292" name="Google Shape;292;p7">
            <a:extLst>
              <a:ext uri="{FF2B5EF4-FFF2-40B4-BE49-F238E27FC236}">
                <a16:creationId xmlns:a16="http://schemas.microsoft.com/office/drawing/2014/main" id="{D5F04112-3460-E0FA-658C-86DCEFA21EC7}"/>
              </a:ext>
            </a:extLst>
          </p:cNvPr>
          <p:cNvSpPr/>
          <p:nvPr/>
        </p:nvSpPr>
        <p:spPr>
          <a:xfrm>
            <a:off x="22636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293" name="Google Shape;293;p7">
            <a:extLst>
              <a:ext uri="{FF2B5EF4-FFF2-40B4-BE49-F238E27FC236}">
                <a16:creationId xmlns:a16="http://schemas.microsoft.com/office/drawing/2014/main" id="{59BA64F6-3633-D13D-D297-EEDE26636495}"/>
              </a:ext>
            </a:extLst>
          </p:cNvPr>
          <p:cNvSpPr/>
          <p:nvPr/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374C81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294" name="Google Shape;294;p7">
            <a:extLst>
              <a:ext uri="{FF2B5EF4-FFF2-40B4-BE49-F238E27FC236}">
                <a16:creationId xmlns:a16="http://schemas.microsoft.com/office/drawing/2014/main" id="{E4250676-B6B8-D819-ECD2-0C877F760742}"/>
              </a:ext>
            </a:extLst>
          </p:cNvPr>
          <p:cNvSpPr/>
          <p:nvPr/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A66AC">
                  <a:alpha val="45490"/>
                </a:srgbClr>
              </a:gs>
              <a:gs pos="100000">
                <a:srgbClr val="4A66AC">
                  <a:alpha val="45490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295" name="Google Shape;295;p7">
            <a:extLst>
              <a:ext uri="{FF2B5EF4-FFF2-40B4-BE49-F238E27FC236}">
                <a16:creationId xmlns:a16="http://schemas.microsoft.com/office/drawing/2014/main" id="{E1CBEB43-984E-D546-6F72-374F3C968736}"/>
              </a:ext>
            </a:extLst>
          </p:cNvPr>
          <p:cNvSpPr/>
          <p:nvPr/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4A66AC">
                  <a:alpha val="28235"/>
                </a:srgbClr>
              </a:gs>
              <a:gs pos="2000">
                <a:srgbClr val="4A66AC">
                  <a:alpha val="28235"/>
                </a:srgbClr>
              </a:gs>
              <a:gs pos="100000">
                <a:srgbClr val="000000">
                  <a:alpha val="29411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296" name="Google Shape;296;p7">
            <a:extLst>
              <a:ext uri="{FF2B5EF4-FFF2-40B4-BE49-F238E27FC236}">
                <a16:creationId xmlns:a16="http://schemas.microsoft.com/office/drawing/2014/main" id="{3185FAFC-DB01-0AF9-FA60-71BDCFDC6A2A}"/>
              </a:ext>
            </a:extLst>
          </p:cNvPr>
          <p:cNvSpPr/>
          <p:nvPr/>
        </p:nvSpPr>
        <p:spPr>
          <a:xfrm rot="-964587">
            <a:off x="-501737" y="969718"/>
            <a:ext cx="3900357" cy="4178958"/>
          </a:xfrm>
          <a:custGeom>
            <a:avLst/>
            <a:gdLst/>
            <a:ahLst/>
            <a:cxnLst/>
            <a:rect l="l" t="t" r="r" b="b"/>
            <a:pathLst>
              <a:path w="3900357" h="4178958" extrusionOk="0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A66AC">
                  <a:alpha val="42352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297" name="Google Shape;297;p7">
            <a:extLst>
              <a:ext uri="{FF2B5EF4-FFF2-40B4-BE49-F238E27FC236}">
                <a16:creationId xmlns:a16="http://schemas.microsoft.com/office/drawing/2014/main" id="{3F9F3310-8D5A-1092-9921-6C62226A3B75}"/>
              </a:ext>
            </a:extLst>
          </p:cNvPr>
          <p:cNvSpPr/>
          <p:nvPr/>
        </p:nvSpPr>
        <p:spPr>
          <a:xfrm rot="5400000" flipH="1">
            <a:off x="-1593677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FA1CF">
                  <a:alpha val="10588"/>
                </a:srgbClr>
              </a:gs>
              <a:gs pos="100000">
                <a:srgbClr val="8FA1CF">
                  <a:alpha val="10588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1E4CB2-FEB8-1D31-94D9-DB02D0637756}"/>
              </a:ext>
            </a:extLst>
          </p:cNvPr>
          <p:cNvSpPr txBox="1"/>
          <p:nvPr/>
        </p:nvSpPr>
        <p:spPr>
          <a:xfrm>
            <a:off x="10397491" y="4356016"/>
            <a:ext cx="1794509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9900" b="0" i="0" u="none" strike="noStrike" kern="0" cap="none" spc="0" normalizeH="0" baseline="0" noProof="0" dirty="0">
                <a:ln>
                  <a:noFill/>
                </a:ln>
                <a:solidFill>
                  <a:srgbClr val="4A66AC">
                    <a:lumMod val="75000"/>
                    <a:alpha val="17000"/>
                  </a:srgbClr>
                </a:solidFill>
                <a:effectLst/>
                <a:uLnTx/>
                <a:uFillTx/>
                <a:latin typeface="Century Gothic" panose="020B0502020202020204" pitchFamily="34" charset="0"/>
                <a:cs typeface="Arial"/>
                <a:sym typeface="Arial"/>
              </a:rPr>
              <a:t>V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C1F1D4AD-8C7D-7717-4AB1-025B543763AB}"/>
              </a:ext>
            </a:extLst>
          </p:cNvPr>
          <p:cNvGrpSpPr/>
          <p:nvPr/>
        </p:nvGrpSpPr>
        <p:grpSpPr>
          <a:xfrm>
            <a:off x="6486239" y="1616840"/>
            <a:ext cx="3215141" cy="2739175"/>
            <a:chOff x="3952577" y="1605807"/>
            <a:chExt cx="4286855" cy="3652226"/>
          </a:xfrm>
        </p:grpSpPr>
        <p:grpSp>
          <p:nvGrpSpPr>
            <p:cNvPr id="282" name="Group 281">
              <a:extLst>
                <a:ext uri="{FF2B5EF4-FFF2-40B4-BE49-F238E27FC236}">
                  <a16:creationId xmlns:a16="http://schemas.microsoft.com/office/drawing/2014/main" id="{F460A844-2714-A326-58EB-517B81201D23}"/>
                </a:ext>
              </a:extLst>
            </p:cNvPr>
            <p:cNvGrpSpPr/>
            <p:nvPr/>
          </p:nvGrpSpPr>
          <p:grpSpPr>
            <a:xfrm>
              <a:off x="3952577" y="1605807"/>
              <a:ext cx="1763803" cy="3652226"/>
              <a:chOff x="3952577" y="1605807"/>
              <a:chExt cx="1763803" cy="3652226"/>
            </a:xfrm>
          </p:grpSpPr>
          <p:sp>
            <p:nvSpPr>
              <p:cNvPr id="289" name="Freeform 44">
                <a:extLst>
                  <a:ext uri="{FF2B5EF4-FFF2-40B4-BE49-F238E27FC236}">
                    <a16:creationId xmlns:a16="http://schemas.microsoft.com/office/drawing/2014/main" id="{6BEC0BB4-327C-98CF-8C60-ABA4F3505A32}"/>
                  </a:ext>
                </a:extLst>
              </p:cNvPr>
              <p:cNvSpPr/>
              <p:nvPr/>
            </p:nvSpPr>
            <p:spPr>
              <a:xfrm>
                <a:off x="3952577" y="1605807"/>
                <a:ext cx="1763803" cy="1513479"/>
              </a:xfrm>
              <a:custGeom>
                <a:avLst/>
                <a:gdLst>
                  <a:gd name="connsiteX0" fmla="*/ 95704 w 203539"/>
                  <a:gd name="connsiteY0" fmla="*/ 31020 h 174653"/>
                  <a:gd name="connsiteX1" fmla="*/ 199496 w 203539"/>
                  <a:gd name="connsiteY1" fmla="*/ 174653 h 174653"/>
                  <a:gd name="connsiteX2" fmla="*/ 203540 w 203539"/>
                  <a:gd name="connsiteY2" fmla="*/ 171956 h 174653"/>
                  <a:gd name="connsiteX3" fmla="*/ 99748 w 203539"/>
                  <a:gd name="connsiteY3" fmla="*/ 28322 h 174653"/>
                  <a:gd name="connsiteX4" fmla="*/ 44482 w 203539"/>
                  <a:gd name="connsiteY4" fmla="*/ 0 h 174653"/>
                  <a:gd name="connsiteX5" fmla="*/ 2696 w 203539"/>
                  <a:gd name="connsiteY5" fmla="*/ 0 h 174653"/>
                  <a:gd name="connsiteX6" fmla="*/ 0 w 203539"/>
                  <a:gd name="connsiteY6" fmla="*/ 2698 h 174653"/>
                  <a:gd name="connsiteX7" fmla="*/ 0 w 203539"/>
                  <a:gd name="connsiteY7" fmla="*/ 2698 h 174653"/>
                  <a:gd name="connsiteX8" fmla="*/ 2696 w 203539"/>
                  <a:gd name="connsiteY8" fmla="*/ 5395 h 174653"/>
                  <a:gd name="connsiteX9" fmla="*/ 44482 w 203539"/>
                  <a:gd name="connsiteY9" fmla="*/ 5395 h 174653"/>
                  <a:gd name="connsiteX10" fmla="*/ 95704 w 203539"/>
                  <a:gd name="connsiteY10" fmla="*/ 31694 h 174653"/>
                  <a:gd name="connsiteX0" fmla="*/ 95704 w 203540"/>
                  <a:gd name="connsiteY0" fmla="*/ 31694 h 174653"/>
                  <a:gd name="connsiteX1" fmla="*/ 199496 w 203540"/>
                  <a:gd name="connsiteY1" fmla="*/ 174653 h 174653"/>
                  <a:gd name="connsiteX2" fmla="*/ 203540 w 203540"/>
                  <a:gd name="connsiteY2" fmla="*/ 171956 h 174653"/>
                  <a:gd name="connsiteX3" fmla="*/ 99748 w 203540"/>
                  <a:gd name="connsiteY3" fmla="*/ 28322 h 174653"/>
                  <a:gd name="connsiteX4" fmla="*/ 44482 w 203540"/>
                  <a:gd name="connsiteY4" fmla="*/ 0 h 174653"/>
                  <a:gd name="connsiteX5" fmla="*/ 2696 w 203540"/>
                  <a:gd name="connsiteY5" fmla="*/ 0 h 174653"/>
                  <a:gd name="connsiteX6" fmla="*/ 0 w 203540"/>
                  <a:gd name="connsiteY6" fmla="*/ 2698 h 174653"/>
                  <a:gd name="connsiteX7" fmla="*/ 0 w 203540"/>
                  <a:gd name="connsiteY7" fmla="*/ 2698 h 174653"/>
                  <a:gd name="connsiteX8" fmla="*/ 2696 w 203540"/>
                  <a:gd name="connsiteY8" fmla="*/ 5395 h 174653"/>
                  <a:gd name="connsiteX9" fmla="*/ 44482 w 203540"/>
                  <a:gd name="connsiteY9" fmla="*/ 5395 h 174653"/>
                  <a:gd name="connsiteX10" fmla="*/ 95704 w 203540"/>
                  <a:gd name="connsiteY10" fmla="*/ 31694 h 174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3540" h="174653">
                    <a:moveTo>
                      <a:pt x="95704" y="31694"/>
                    </a:moveTo>
                    <a:lnTo>
                      <a:pt x="199496" y="174653"/>
                    </a:lnTo>
                    <a:lnTo>
                      <a:pt x="203540" y="171956"/>
                    </a:lnTo>
                    <a:lnTo>
                      <a:pt x="99748" y="28322"/>
                    </a:lnTo>
                    <a:cubicBezTo>
                      <a:pt x="86942" y="10789"/>
                      <a:pt x="66723" y="0"/>
                      <a:pt x="44482" y="0"/>
                    </a:cubicBezTo>
                    <a:lnTo>
                      <a:pt x="2696" y="0"/>
                    </a:lnTo>
                    <a:cubicBezTo>
                      <a:pt x="1348" y="0"/>
                      <a:pt x="0" y="1349"/>
                      <a:pt x="0" y="2698"/>
                    </a:cubicBezTo>
                    <a:lnTo>
                      <a:pt x="0" y="2698"/>
                    </a:lnTo>
                    <a:cubicBezTo>
                      <a:pt x="0" y="4046"/>
                      <a:pt x="1348" y="5395"/>
                      <a:pt x="2696" y="5395"/>
                    </a:cubicBezTo>
                    <a:lnTo>
                      <a:pt x="44482" y="5395"/>
                    </a:lnTo>
                    <a:cubicBezTo>
                      <a:pt x="64701" y="5395"/>
                      <a:pt x="83573" y="14835"/>
                      <a:pt x="95704" y="31694"/>
                    </a:cubicBezTo>
                    <a:close/>
                  </a:path>
                </a:pathLst>
              </a:custGeom>
              <a:solidFill>
                <a:schemeClr val="tx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600">
                  <a:latin typeface="Aptos" panose="020B0004020202020204" pitchFamily="34" charset="0"/>
                </a:endParaRPr>
              </a:p>
            </p:txBody>
          </p:sp>
          <p:sp>
            <p:nvSpPr>
              <p:cNvPr id="290" name="Freeform 45">
                <a:extLst>
                  <a:ext uri="{FF2B5EF4-FFF2-40B4-BE49-F238E27FC236}">
                    <a16:creationId xmlns:a16="http://schemas.microsoft.com/office/drawing/2014/main" id="{ABBE962B-546A-8016-5528-FE4FA0DB0EF9}"/>
                  </a:ext>
                </a:extLst>
              </p:cNvPr>
              <p:cNvSpPr/>
              <p:nvPr/>
            </p:nvSpPr>
            <p:spPr>
              <a:xfrm>
                <a:off x="3952577" y="2324570"/>
                <a:ext cx="1763803" cy="987562"/>
              </a:xfrm>
              <a:custGeom>
                <a:avLst/>
                <a:gdLst>
                  <a:gd name="connsiteX0" fmla="*/ 91660 w 203539"/>
                  <a:gd name="connsiteY0" fmla="*/ 20230 h 113962"/>
                  <a:gd name="connsiteX1" fmla="*/ 200170 w 203539"/>
                  <a:gd name="connsiteY1" fmla="*/ 113963 h 113962"/>
                  <a:gd name="connsiteX2" fmla="*/ 203540 w 203539"/>
                  <a:gd name="connsiteY2" fmla="*/ 110591 h 113962"/>
                  <a:gd name="connsiteX3" fmla="*/ 95030 w 203539"/>
                  <a:gd name="connsiteY3" fmla="*/ 16858 h 113962"/>
                  <a:gd name="connsiteX4" fmla="*/ 50548 w 203539"/>
                  <a:gd name="connsiteY4" fmla="*/ 0 h 113962"/>
                  <a:gd name="connsiteX5" fmla="*/ 2696 w 203539"/>
                  <a:gd name="connsiteY5" fmla="*/ 0 h 113962"/>
                  <a:gd name="connsiteX6" fmla="*/ 0 w 203539"/>
                  <a:gd name="connsiteY6" fmla="*/ 2697 h 113962"/>
                  <a:gd name="connsiteX7" fmla="*/ 0 w 203539"/>
                  <a:gd name="connsiteY7" fmla="*/ 2697 h 113962"/>
                  <a:gd name="connsiteX8" fmla="*/ 2696 w 203539"/>
                  <a:gd name="connsiteY8" fmla="*/ 5395 h 113962"/>
                  <a:gd name="connsiteX9" fmla="*/ 50548 w 203539"/>
                  <a:gd name="connsiteY9" fmla="*/ 5395 h 113962"/>
                  <a:gd name="connsiteX10" fmla="*/ 91660 w 203539"/>
                  <a:gd name="connsiteY10" fmla="*/ 20904 h 113962"/>
                  <a:gd name="connsiteX0" fmla="*/ 91660 w 203540"/>
                  <a:gd name="connsiteY0" fmla="*/ 20904 h 113963"/>
                  <a:gd name="connsiteX1" fmla="*/ 200170 w 203540"/>
                  <a:gd name="connsiteY1" fmla="*/ 113963 h 113963"/>
                  <a:gd name="connsiteX2" fmla="*/ 203540 w 203540"/>
                  <a:gd name="connsiteY2" fmla="*/ 110591 h 113963"/>
                  <a:gd name="connsiteX3" fmla="*/ 95030 w 203540"/>
                  <a:gd name="connsiteY3" fmla="*/ 16858 h 113963"/>
                  <a:gd name="connsiteX4" fmla="*/ 50548 w 203540"/>
                  <a:gd name="connsiteY4" fmla="*/ 0 h 113963"/>
                  <a:gd name="connsiteX5" fmla="*/ 2696 w 203540"/>
                  <a:gd name="connsiteY5" fmla="*/ 0 h 113963"/>
                  <a:gd name="connsiteX6" fmla="*/ 0 w 203540"/>
                  <a:gd name="connsiteY6" fmla="*/ 2697 h 113963"/>
                  <a:gd name="connsiteX7" fmla="*/ 0 w 203540"/>
                  <a:gd name="connsiteY7" fmla="*/ 2697 h 113963"/>
                  <a:gd name="connsiteX8" fmla="*/ 2696 w 203540"/>
                  <a:gd name="connsiteY8" fmla="*/ 5395 h 113963"/>
                  <a:gd name="connsiteX9" fmla="*/ 50548 w 203540"/>
                  <a:gd name="connsiteY9" fmla="*/ 5395 h 113963"/>
                  <a:gd name="connsiteX10" fmla="*/ 91660 w 203540"/>
                  <a:gd name="connsiteY10" fmla="*/ 20904 h 113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3540" h="113963">
                    <a:moveTo>
                      <a:pt x="91660" y="20904"/>
                    </a:moveTo>
                    <a:lnTo>
                      <a:pt x="200170" y="113963"/>
                    </a:lnTo>
                    <a:lnTo>
                      <a:pt x="203540" y="110591"/>
                    </a:lnTo>
                    <a:lnTo>
                      <a:pt x="95030" y="16858"/>
                    </a:lnTo>
                    <a:cubicBezTo>
                      <a:pt x="82899" y="6069"/>
                      <a:pt x="66723" y="0"/>
                      <a:pt x="50548" y="0"/>
                    </a:cubicBezTo>
                    <a:lnTo>
                      <a:pt x="2696" y="0"/>
                    </a:lnTo>
                    <a:cubicBezTo>
                      <a:pt x="1348" y="0"/>
                      <a:pt x="0" y="1349"/>
                      <a:pt x="0" y="2697"/>
                    </a:cubicBezTo>
                    <a:lnTo>
                      <a:pt x="0" y="2697"/>
                    </a:lnTo>
                    <a:cubicBezTo>
                      <a:pt x="0" y="4046"/>
                      <a:pt x="1348" y="5395"/>
                      <a:pt x="2696" y="5395"/>
                    </a:cubicBezTo>
                    <a:lnTo>
                      <a:pt x="50548" y="5395"/>
                    </a:lnTo>
                    <a:cubicBezTo>
                      <a:pt x="65375" y="5395"/>
                      <a:pt x="80203" y="10789"/>
                      <a:pt x="91660" y="20904"/>
                    </a:cubicBezTo>
                    <a:close/>
                  </a:path>
                </a:pathLst>
              </a:custGeom>
              <a:solidFill>
                <a:schemeClr val="tx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600">
                  <a:latin typeface="Aptos" panose="020B0004020202020204" pitchFamily="34" charset="0"/>
                </a:endParaRPr>
              </a:p>
            </p:txBody>
          </p:sp>
          <p:sp>
            <p:nvSpPr>
              <p:cNvPr id="299" name="Freeform 46">
                <a:extLst>
                  <a:ext uri="{FF2B5EF4-FFF2-40B4-BE49-F238E27FC236}">
                    <a16:creationId xmlns:a16="http://schemas.microsoft.com/office/drawing/2014/main" id="{0ACAE0A3-BD9A-8F39-075C-C09D1C67C605}"/>
                  </a:ext>
                </a:extLst>
              </p:cNvPr>
              <p:cNvSpPr/>
              <p:nvPr/>
            </p:nvSpPr>
            <p:spPr>
              <a:xfrm>
                <a:off x="3952577" y="3744554"/>
                <a:ext cx="1763803" cy="1513479"/>
              </a:xfrm>
              <a:custGeom>
                <a:avLst/>
                <a:gdLst>
                  <a:gd name="connsiteX0" fmla="*/ 95704 w 203539"/>
                  <a:gd name="connsiteY0" fmla="*/ 142959 h 174653"/>
                  <a:gd name="connsiteX1" fmla="*/ 44482 w 203539"/>
                  <a:gd name="connsiteY1" fmla="*/ 169258 h 174653"/>
                  <a:gd name="connsiteX2" fmla="*/ 2696 w 203539"/>
                  <a:gd name="connsiteY2" fmla="*/ 169258 h 174653"/>
                  <a:gd name="connsiteX3" fmla="*/ 0 w 203539"/>
                  <a:gd name="connsiteY3" fmla="*/ 171956 h 174653"/>
                  <a:gd name="connsiteX4" fmla="*/ 0 w 203539"/>
                  <a:gd name="connsiteY4" fmla="*/ 171956 h 174653"/>
                  <a:gd name="connsiteX5" fmla="*/ 2696 w 203539"/>
                  <a:gd name="connsiteY5" fmla="*/ 174653 h 174653"/>
                  <a:gd name="connsiteX6" fmla="*/ 44482 w 203539"/>
                  <a:gd name="connsiteY6" fmla="*/ 174653 h 174653"/>
                  <a:gd name="connsiteX7" fmla="*/ 99748 w 203539"/>
                  <a:gd name="connsiteY7" fmla="*/ 146331 h 174653"/>
                  <a:gd name="connsiteX8" fmla="*/ 203540 w 203539"/>
                  <a:gd name="connsiteY8" fmla="*/ 2697 h 174653"/>
                  <a:gd name="connsiteX9" fmla="*/ 199496 w 203539"/>
                  <a:gd name="connsiteY9" fmla="*/ 0 h 174653"/>
                  <a:gd name="connsiteX10" fmla="*/ 95704 w 203539"/>
                  <a:gd name="connsiteY10" fmla="*/ 143634 h 174653"/>
                  <a:gd name="connsiteX0" fmla="*/ 95704 w 203540"/>
                  <a:gd name="connsiteY0" fmla="*/ 142959 h 174653"/>
                  <a:gd name="connsiteX1" fmla="*/ 44482 w 203540"/>
                  <a:gd name="connsiteY1" fmla="*/ 169258 h 174653"/>
                  <a:gd name="connsiteX2" fmla="*/ 2696 w 203540"/>
                  <a:gd name="connsiteY2" fmla="*/ 169258 h 174653"/>
                  <a:gd name="connsiteX3" fmla="*/ 0 w 203540"/>
                  <a:gd name="connsiteY3" fmla="*/ 171956 h 174653"/>
                  <a:gd name="connsiteX4" fmla="*/ 0 w 203540"/>
                  <a:gd name="connsiteY4" fmla="*/ 171956 h 174653"/>
                  <a:gd name="connsiteX5" fmla="*/ 2696 w 203540"/>
                  <a:gd name="connsiteY5" fmla="*/ 174653 h 174653"/>
                  <a:gd name="connsiteX6" fmla="*/ 44482 w 203540"/>
                  <a:gd name="connsiteY6" fmla="*/ 174653 h 174653"/>
                  <a:gd name="connsiteX7" fmla="*/ 99748 w 203540"/>
                  <a:gd name="connsiteY7" fmla="*/ 146331 h 174653"/>
                  <a:gd name="connsiteX8" fmla="*/ 203540 w 203540"/>
                  <a:gd name="connsiteY8" fmla="*/ 2697 h 174653"/>
                  <a:gd name="connsiteX9" fmla="*/ 199496 w 203540"/>
                  <a:gd name="connsiteY9" fmla="*/ 0 h 174653"/>
                  <a:gd name="connsiteX10" fmla="*/ 95704 w 203540"/>
                  <a:gd name="connsiteY10" fmla="*/ 142959 h 174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3540" h="174653">
                    <a:moveTo>
                      <a:pt x="95704" y="142959"/>
                    </a:moveTo>
                    <a:cubicBezTo>
                      <a:pt x="83573" y="159143"/>
                      <a:pt x="64701" y="169258"/>
                      <a:pt x="44482" y="169258"/>
                    </a:cubicBezTo>
                    <a:lnTo>
                      <a:pt x="2696" y="169258"/>
                    </a:lnTo>
                    <a:cubicBezTo>
                      <a:pt x="1348" y="169258"/>
                      <a:pt x="0" y="170607"/>
                      <a:pt x="0" y="171956"/>
                    </a:cubicBezTo>
                    <a:lnTo>
                      <a:pt x="0" y="171956"/>
                    </a:lnTo>
                    <a:cubicBezTo>
                      <a:pt x="0" y="173305"/>
                      <a:pt x="1348" y="174653"/>
                      <a:pt x="2696" y="174653"/>
                    </a:cubicBezTo>
                    <a:lnTo>
                      <a:pt x="44482" y="174653"/>
                    </a:lnTo>
                    <a:cubicBezTo>
                      <a:pt x="66049" y="174653"/>
                      <a:pt x="86942" y="163864"/>
                      <a:pt x="99748" y="146331"/>
                    </a:cubicBezTo>
                    <a:lnTo>
                      <a:pt x="203540" y="2697"/>
                    </a:lnTo>
                    <a:lnTo>
                      <a:pt x="199496" y="0"/>
                    </a:lnTo>
                    <a:lnTo>
                      <a:pt x="95704" y="142959"/>
                    </a:lnTo>
                    <a:close/>
                  </a:path>
                </a:pathLst>
              </a:custGeom>
              <a:solidFill>
                <a:schemeClr val="tx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600">
                  <a:latin typeface="Aptos" panose="020B0004020202020204" pitchFamily="34" charset="0"/>
                </a:endParaRPr>
              </a:p>
            </p:txBody>
          </p:sp>
          <p:sp>
            <p:nvSpPr>
              <p:cNvPr id="300" name="Freeform 47">
                <a:extLst>
                  <a:ext uri="{FF2B5EF4-FFF2-40B4-BE49-F238E27FC236}">
                    <a16:creationId xmlns:a16="http://schemas.microsoft.com/office/drawing/2014/main" id="{70EE51EA-0612-9E57-4E3C-8BEF629338FE}"/>
                  </a:ext>
                </a:extLst>
              </p:cNvPr>
              <p:cNvSpPr/>
              <p:nvPr/>
            </p:nvSpPr>
            <p:spPr>
              <a:xfrm>
                <a:off x="3952577" y="3545869"/>
                <a:ext cx="1763803" cy="993402"/>
              </a:xfrm>
              <a:custGeom>
                <a:avLst/>
                <a:gdLst>
                  <a:gd name="connsiteX0" fmla="*/ 95030 w 203539"/>
                  <a:gd name="connsiteY0" fmla="*/ 97104 h 114637"/>
                  <a:gd name="connsiteX1" fmla="*/ 203540 w 203539"/>
                  <a:gd name="connsiteY1" fmla="*/ 3372 h 114637"/>
                  <a:gd name="connsiteX2" fmla="*/ 200170 w 203539"/>
                  <a:gd name="connsiteY2" fmla="*/ 0 h 114637"/>
                  <a:gd name="connsiteX3" fmla="*/ 91660 w 203539"/>
                  <a:gd name="connsiteY3" fmla="*/ 93733 h 114637"/>
                  <a:gd name="connsiteX4" fmla="*/ 50548 w 203539"/>
                  <a:gd name="connsiteY4" fmla="*/ 109243 h 114637"/>
                  <a:gd name="connsiteX5" fmla="*/ 2696 w 203539"/>
                  <a:gd name="connsiteY5" fmla="*/ 109243 h 114637"/>
                  <a:gd name="connsiteX6" fmla="*/ 0 w 203539"/>
                  <a:gd name="connsiteY6" fmla="*/ 111940 h 114637"/>
                  <a:gd name="connsiteX7" fmla="*/ 0 w 203539"/>
                  <a:gd name="connsiteY7" fmla="*/ 111940 h 114637"/>
                  <a:gd name="connsiteX8" fmla="*/ 2696 w 203539"/>
                  <a:gd name="connsiteY8" fmla="*/ 114637 h 114637"/>
                  <a:gd name="connsiteX9" fmla="*/ 50548 w 203539"/>
                  <a:gd name="connsiteY9" fmla="*/ 114637 h 114637"/>
                  <a:gd name="connsiteX10" fmla="*/ 95030 w 203539"/>
                  <a:gd name="connsiteY10" fmla="*/ 97779 h 114637"/>
                  <a:gd name="connsiteX0" fmla="*/ 95030 w 203540"/>
                  <a:gd name="connsiteY0" fmla="*/ 97779 h 114637"/>
                  <a:gd name="connsiteX1" fmla="*/ 203540 w 203540"/>
                  <a:gd name="connsiteY1" fmla="*/ 3372 h 114637"/>
                  <a:gd name="connsiteX2" fmla="*/ 200170 w 203540"/>
                  <a:gd name="connsiteY2" fmla="*/ 0 h 114637"/>
                  <a:gd name="connsiteX3" fmla="*/ 91660 w 203540"/>
                  <a:gd name="connsiteY3" fmla="*/ 93733 h 114637"/>
                  <a:gd name="connsiteX4" fmla="*/ 50548 w 203540"/>
                  <a:gd name="connsiteY4" fmla="*/ 109243 h 114637"/>
                  <a:gd name="connsiteX5" fmla="*/ 2696 w 203540"/>
                  <a:gd name="connsiteY5" fmla="*/ 109243 h 114637"/>
                  <a:gd name="connsiteX6" fmla="*/ 0 w 203540"/>
                  <a:gd name="connsiteY6" fmla="*/ 111940 h 114637"/>
                  <a:gd name="connsiteX7" fmla="*/ 0 w 203540"/>
                  <a:gd name="connsiteY7" fmla="*/ 111940 h 114637"/>
                  <a:gd name="connsiteX8" fmla="*/ 2696 w 203540"/>
                  <a:gd name="connsiteY8" fmla="*/ 114637 h 114637"/>
                  <a:gd name="connsiteX9" fmla="*/ 50548 w 203540"/>
                  <a:gd name="connsiteY9" fmla="*/ 114637 h 114637"/>
                  <a:gd name="connsiteX10" fmla="*/ 95030 w 203540"/>
                  <a:gd name="connsiteY10" fmla="*/ 97779 h 114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3540" h="114637">
                    <a:moveTo>
                      <a:pt x="95030" y="97779"/>
                    </a:moveTo>
                    <a:lnTo>
                      <a:pt x="203540" y="3372"/>
                    </a:lnTo>
                    <a:lnTo>
                      <a:pt x="200170" y="0"/>
                    </a:lnTo>
                    <a:lnTo>
                      <a:pt x="91660" y="93733"/>
                    </a:lnTo>
                    <a:cubicBezTo>
                      <a:pt x="80203" y="103848"/>
                      <a:pt x="65375" y="109243"/>
                      <a:pt x="50548" y="109243"/>
                    </a:cubicBezTo>
                    <a:lnTo>
                      <a:pt x="2696" y="109243"/>
                    </a:lnTo>
                    <a:cubicBezTo>
                      <a:pt x="1348" y="109243"/>
                      <a:pt x="0" y="110591"/>
                      <a:pt x="0" y="111940"/>
                    </a:cubicBezTo>
                    <a:lnTo>
                      <a:pt x="0" y="111940"/>
                    </a:lnTo>
                    <a:cubicBezTo>
                      <a:pt x="0" y="113288"/>
                      <a:pt x="1348" y="114637"/>
                      <a:pt x="2696" y="114637"/>
                    </a:cubicBezTo>
                    <a:lnTo>
                      <a:pt x="50548" y="114637"/>
                    </a:lnTo>
                    <a:cubicBezTo>
                      <a:pt x="66723" y="114637"/>
                      <a:pt x="82899" y="108568"/>
                      <a:pt x="95030" y="97779"/>
                    </a:cubicBezTo>
                    <a:close/>
                  </a:path>
                </a:pathLst>
              </a:custGeom>
              <a:solidFill>
                <a:schemeClr val="tx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600">
                  <a:latin typeface="Aptos" panose="020B0004020202020204" pitchFamily="34" charset="0"/>
                </a:endParaRPr>
              </a:p>
            </p:txBody>
          </p:sp>
          <p:sp>
            <p:nvSpPr>
              <p:cNvPr id="301" name="Freeform 48">
                <a:extLst>
                  <a:ext uri="{FF2B5EF4-FFF2-40B4-BE49-F238E27FC236}">
                    <a16:creationId xmlns:a16="http://schemas.microsoft.com/office/drawing/2014/main" id="{A98A1EA9-1ABA-7FB1-4AA4-D5C590A1B758}"/>
                  </a:ext>
                </a:extLst>
              </p:cNvPr>
              <p:cNvSpPr/>
              <p:nvPr/>
            </p:nvSpPr>
            <p:spPr>
              <a:xfrm>
                <a:off x="3952577" y="3049172"/>
                <a:ext cx="1752122" cy="771345"/>
              </a:xfrm>
              <a:custGeom>
                <a:avLst/>
                <a:gdLst>
                  <a:gd name="connsiteX0" fmla="*/ 84920 w 202191"/>
                  <a:gd name="connsiteY0" fmla="*/ 84292 h 89012"/>
                  <a:gd name="connsiteX1" fmla="*/ 202192 w 202191"/>
                  <a:gd name="connsiteY1" fmla="*/ 47204 h 89012"/>
                  <a:gd name="connsiteX2" fmla="*/ 200844 w 202191"/>
                  <a:gd name="connsiteY2" fmla="*/ 43832 h 89012"/>
                  <a:gd name="connsiteX3" fmla="*/ 202192 w 202191"/>
                  <a:gd name="connsiteY3" fmla="*/ 40460 h 89012"/>
                  <a:gd name="connsiteX4" fmla="*/ 84920 w 202191"/>
                  <a:gd name="connsiteY4" fmla="*/ 3372 h 89012"/>
                  <a:gd name="connsiteX5" fmla="*/ 64701 w 202191"/>
                  <a:gd name="connsiteY5" fmla="*/ 0 h 89012"/>
                  <a:gd name="connsiteX6" fmla="*/ 2696 w 202191"/>
                  <a:gd name="connsiteY6" fmla="*/ 0 h 89012"/>
                  <a:gd name="connsiteX7" fmla="*/ 0 w 202191"/>
                  <a:gd name="connsiteY7" fmla="*/ 2697 h 89012"/>
                  <a:gd name="connsiteX8" fmla="*/ 0 w 202191"/>
                  <a:gd name="connsiteY8" fmla="*/ 2697 h 89012"/>
                  <a:gd name="connsiteX9" fmla="*/ 2696 w 202191"/>
                  <a:gd name="connsiteY9" fmla="*/ 5395 h 89012"/>
                  <a:gd name="connsiteX10" fmla="*/ 64701 w 202191"/>
                  <a:gd name="connsiteY10" fmla="*/ 5395 h 89012"/>
                  <a:gd name="connsiteX11" fmla="*/ 83573 w 202191"/>
                  <a:gd name="connsiteY11" fmla="*/ 8092 h 89012"/>
                  <a:gd name="connsiteX12" fmla="*/ 197474 w 202191"/>
                  <a:gd name="connsiteY12" fmla="*/ 44506 h 89012"/>
                  <a:gd name="connsiteX13" fmla="*/ 83573 w 202191"/>
                  <a:gd name="connsiteY13" fmla="*/ 80920 h 89012"/>
                  <a:gd name="connsiteX14" fmla="*/ 64701 w 202191"/>
                  <a:gd name="connsiteY14" fmla="*/ 83618 h 89012"/>
                  <a:gd name="connsiteX15" fmla="*/ 2696 w 202191"/>
                  <a:gd name="connsiteY15" fmla="*/ 83618 h 89012"/>
                  <a:gd name="connsiteX16" fmla="*/ 0 w 202191"/>
                  <a:gd name="connsiteY16" fmla="*/ 86315 h 89012"/>
                  <a:gd name="connsiteX17" fmla="*/ 0 w 202191"/>
                  <a:gd name="connsiteY17" fmla="*/ 86315 h 89012"/>
                  <a:gd name="connsiteX18" fmla="*/ 2696 w 202191"/>
                  <a:gd name="connsiteY18" fmla="*/ 89012 h 89012"/>
                  <a:gd name="connsiteX19" fmla="*/ 64701 w 202191"/>
                  <a:gd name="connsiteY19" fmla="*/ 89012 h 89012"/>
                  <a:gd name="connsiteX20" fmla="*/ 84920 w 202191"/>
                  <a:gd name="connsiteY20" fmla="*/ 85641 h 89012"/>
                  <a:gd name="connsiteX0" fmla="*/ 84920 w 202192"/>
                  <a:gd name="connsiteY0" fmla="*/ 85641 h 89012"/>
                  <a:gd name="connsiteX1" fmla="*/ 202192 w 202192"/>
                  <a:gd name="connsiteY1" fmla="*/ 47204 h 89012"/>
                  <a:gd name="connsiteX2" fmla="*/ 200844 w 202192"/>
                  <a:gd name="connsiteY2" fmla="*/ 43832 h 89012"/>
                  <a:gd name="connsiteX3" fmla="*/ 202192 w 202192"/>
                  <a:gd name="connsiteY3" fmla="*/ 40460 h 89012"/>
                  <a:gd name="connsiteX4" fmla="*/ 84920 w 202192"/>
                  <a:gd name="connsiteY4" fmla="*/ 3372 h 89012"/>
                  <a:gd name="connsiteX5" fmla="*/ 64701 w 202192"/>
                  <a:gd name="connsiteY5" fmla="*/ 0 h 89012"/>
                  <a:gd name="connsiteX6" fmla="*/ 2696 w 202192"/>
                  <a:gd name="connsiteY6" fmla="*/ 0 h 89012"/>
                  <a:gd name="connsiteX7" fmla="*/ 0 w 202192"/>
                  <a:gd name="connsiteY7" fmla="*/ 2697 h 89012"/>
                  <a:gd name="connsiteX8" fmla="*/ 0 w 202192"/>
                  <a:gd name="connsiteY8" fmla="*/ 2697 h 89012"/>
                  <a:gd name="connsiteX9" fmla="*/ 2696 w 202192"/>
                  <a:gd name="connsiteY9" fmla="*/ 5395 h 89012"/>
                  <a:gd name="connsiteX10" fmla="*/ 64701 w 202192"/>
                  <a:gd name="connsiteY10" fmla="*/ 5395 h 89012"/>
                  <a:gd name="connsiteX11" fmla="*/ 83573 w 202192"/>
                  <a:gd name="connsiteY11" fmla="*/ 8092 h 89012"/>
                  <a:gd name="connsiteX12" fmla="*/ 197474 w 202192"/>
                  <a:gd name="connsiteY12" fmla="*/ 44506 h 89012"/>
                  <a:gd name="connsiteX13" fmla="*/ 83573 w 202192"/>
                  <a:gd name="connsiteY13" fmla="*/ 80920 h 89012"/>
                  <a:gd name="connsiteX14" fmla="*/ 64701 w 202192"/>
                  <a:gd name="connsiteY14" fmla="*/ 83618 h 89012"/>
                  <a:gd name="connsiteX15" fmla="*/ 2696 w 202192"/>
                  <a:gd name="connsiteY15" fmla="*/ 83618 h 89012"/>
                  <a:gd name="connsiteX16" fmla="*/ 0 w 202192"/>
                  <a:gd name="connsiteY16" fmla="*/ 86315 h 89012"/>
                  <a:gd name="connsiteX17" fmla="*/ 0 w 202192"/>
                  <a:gd name="connsiteY17" fmla="*/ 86315 h 89012"/>
                  <a:gd name="connsiteX18" fmla="*/ 2696 w 202192"/>
                  <a:gd name="connsiteY18" fmla="*/ 89012 h 89012"/>
                  <a:gd name="connsiteX19" fmla="*/ 64701 w 202192"/>
                  <a:gd name="connsiteY19" fmla="*/ 89012 h 89012"/>
                  <a:gd name="connsiteX20" fmla="*/ 84920 w 202192"/>
                  <a:gd name="connsiteY20" fmla="*/ 85641 h 89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02192" h="89012">
                    <a:moveTo>
                      <a:pt x="84920" y="85641"/>
                    </a:moveTo>
                    <a:lnTo>
                      <a:pt x="202192" y="47204"/>
                    </a:lnTo>
                    <a:lnTo>
                      <a:pt x="200844" y="43832"/>
                    </a:lnTo>
                    <a:lnTo>
                      <a:pt x="202192" y="40460"/>
                    </a:lnTo>
                    <a:lnTo>
                      <a:pt x="84920" y="3372"/>
                    </a:lnTo>
                    <a:cubicBezTo>
                      <a:pt x="78181" y="1349"/>
                      <a:pt x="71441" y="0"/>
                      <a:pt x="64701" y="0"/>
                    </a:cubicBezTo>
                    <a:lnTo>
                      <a:pt x="2696" y="0"/>
                    </a:lnTo>
                    <a:cubicBezTo>
                      <a:pt x="1348" y="0"/>
                      <a:pt x="0" y="1349"/>
                      <a:pt x="0" y="2697"/>
                    </a:cubicBezTo>
                    <a:lnTo>
                      <a:pt x="0" y="2697"/>
                    </a:lnTo>
                    <a:cubicBezTo>
                      <a:pt x="0" y="4046"/>
                      <a:pt x="1348" y="5395"/>
                      <a:pt x="2696" y="5395"/>
                    </a:cubicBezTo>
                    <a:lnTo>
                      <a:pt x="64701" y="5395"/>
                    </a:lnTo>
                    <a:cubicBezTo>
                      <a:pt x="71441" y="5395"/>
                      <a:pt x="77507" y="6069"/>
                      <a:pt x="83573" y="8092"/>
                    </a:cubicBezTo>
                    <a:lnTo>
                      <a:pt x="197474" y="44506"/>
                    </a:lnTo>
                    <a:lnTo>
                      <a:pt x="83573" y="80920"/>
                    </a:lnTo>
                    <a:cubicBezTo>
                      <a:pt x="77507" y="82943"/>
                      <a:pt x="70767" y="83618"/>
                      <a:pt x="64701" y="83618"/>
                    </a:cubicBezTo>
                    <a:lnTo>
                      <a:pt x="2696" y="83618"/>
                    </a:lnTo>
                    <a:cubicBezTo>
                      <a:pt x="1348" y="83618"/>
                      <a:pt x="0" y="84966"/>
                      <a:pt x="0" y="86315"/>
                    </a:cubicBezTo>
                    <a:lnTo>
                      <a:pt x="0" y="86315"/>
                    </a:lnTo>
                    <a:cubicBezTo>
                      <a:pt x="0" y="87664"/>
                      <a:pt x="1348" y="89012"/>
                      <a:pt x="2696" y="89012"/>
                    </a:cubicBezTo>
                    <a:lnTo>
                      <a:pt x="64701" y="89012"/>
                    </a:lnTo>
                    <a:cubicBezTo>
                      <a:pt x="71441" y="89012"/>
                      <a:pt x="78855" y="87664"/>
                      <a:pt x="84920" y="85641"/>
                    </a:cubicBezTo>
                    <a:close/>
                  </a:path>
                </a:pathLst>
              </a:custGeom>
              <a:solidFill>
                <a:schemeClr val="tx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600">
                  <a:latin typeface="Aptos" panose="020B0004020202020204" pitchFamily="34" charset="0"/>
                </a:endParaRPr>
              </a:p>
            </p:txBody>
          </p:sp>
        </p:grpSp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E7F780B1-4906-C090-BEF3-5A432A39C9A6}"/>
                </a:ext>
              </a:extLst>
            </p:cNvPr>
            <p:cNvGrpSpPr/>
            <p:nvPr/>
          </p:nvGrpSpPr>
          <p:grpSpPr>
            <a:xfrm>
              <a:off x="6475628" y="1605807"/>
              <a:ext cx="1763804" cy="3652226"/>
              <a:chOff x="6475628" y="1605807"/>
              <a:chExt cx="1763804" cy="3652226"/>
            </a:xfrm>
          </p:grpSpPr>
          <p:sp>
            <p:nvSpPr>
              <p:cNvPr id="284" name="Freeform 55">
                <a:extLst>
                  <a:ext uri="{FF2B5EF4-FFF2-40B4-BE49-F238E27FC236}">
                    <a16:creationId xmlns:a16="http://schemas.microsoft.com/office/drawing/2014/main" id="{ED4C5FB3-A6DD-E727-47EE-6C23356D01AA}"/>
                  </a:ext>
                </a:extLst>
              </p:cNvPr>
              <p:cNvSpPr/>
              <p:nvPr/>
            </p:nvSpPr>
            <p:spPr>
              <a:xfrm>
                <a:off x="6475628" y="1605807"/>
                <a:ext cx="1763794" cy="1513479"/>
              </a:xfrm>
              <a:custGeom>
                <a:avLst/>
                <a:gdLst>
                  <a:gd name="connsiteX0" fmla="*/ 107836 w 203539"/>
                  <a:gd name="connsiteY0" fmla="*/ 31020 h 174653"/>
                  <a:gd name="connsiteX1" fmla="*/ 4044 w 203539"/>
                  <a:gd name="connsiteY1" fmla="*/ 174653 h 174653"/>
                  <a:gd name="connsiteX2" fmla="*/ 0 w 203539"/>
                  <a:gd name="connsiteY2" fmla="*/ 171956 h 174653"/>
                  <a:gd name="connsiteX3" fmla="*/ 103792 w 203539"/>
                  <a:gd name="connsiteY3" fmla="*/ 28322 h 174653"/>
                  <a:gd name="connsiteX4" fmla="*/ 159057 w 203539"/>
                  <a:gd name="connsiteY4" fmla="*/ 0 h 174653"/>
                  <a:gd name="connsiteX5" fmla="*/ 200844 w 203539"/>
                  <a:gd name="connsiteY5" fmla="*/ 0 h 174653"/>
                  <a:gd name="connsiteX6" fmla="*/ 203540 w 203539"/>
                  <a:gd name="connsiteY6" fmla="*/ 2698 h 174653"/>
                  <a:gd name="connsiteX7" fmla="*/ 203540 w 203539"/>
                  <a:gd name="connsiteY7" fmla="*/ 2698 h 174653"/>
                  <a:gd name="connsiteX8" fmla="*/ 200844 w 203539"/>
                  <a:gd name="connsiteY8" fmla="*/ 5395 h 174653"/>
                  <a:gd name="connsiteX9" fmla="*/ 159057 w 203539"/>
                  <a:gd name="connsiteY9" fmla="*/ 5395 h 174653"/>
                  <a:gd name="connsiteX10" fmla="*/ 107836 w 203539"/>
                  <a:gd name="connsiteY10" fmla="*/ 31694 h 174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3539" h="174653">
                    <a:moveTo>
                      <a:pt x="107836" y="31020"/>
                    </a:moveTo>
                    <a:lnTo>
                      <a:pt x="4044" y="174653"/>
                    </a:lnTo>
                    <a:lnTo>
                      <a:pt x="0" y="171956"/>
                    </a:lnTo>
                    <a:lnTo>
                      <a:pt x="103792" y="28322"/>
                    </a:lnTo>
                    <a:cubicBezTo>
                      <a:pt x="116597" y="10789"/>
                      <a:pt x="136816" y="0"/>
                      <a:pt x="159057" y="0"/>
                    </a:cubicBezTo>
                    <a:lnTo>
                      <a:pt x="200844" y="0"/>
                    </a:lnTo>
                    <a:cubicBezTo>
                      <a:pt x="202192" y="0"/>
                      <a:pt x="203540" y="1349"/>
                      <a:pt x="203540" y="2698"/>
                    </a:cubicBezTo>
                    <a:lnTo>
                      <a:pt x="203540" y="2698"/>
                    </a:lnTo>
                    <a:cubicBezTo>
                      <a:pt x="203540" y="4046"/>
                      <a:pt x="202192" y="5395"/>
                      <a:pt x="200844" y="5395"/>
                    </a:cubicBezTo>
                    <a:lnTo>
                      <a:pt x="159057" y="5395"/>
                    </a:lnTo>
                    <a:cubicBezTo>
                      <a:pt x="138838" y="5395"/>
                      <a:pt x="119967" y="14835"/>
                      <a:pt x="107836" y="31694"/>
                    </a:cubicBezTo>
                    <a:close/>
                  </a:path>
                </a:pathLst>
              </a:custGeom>
              <a:solidFill>
                <a:schemeClr val="tx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600">
                  <a:latin typeface="Aptos" panose="020B0004020202020204" pitchFamily="34" charset="0"/>
                </a:endParaRPr>
              </a:p>
            </p:txBody>
          </p:sp>
          <p:sp>
            <p:nvSpPr>
              <p:cNvPr id="285" name="Freeform 56">
                <a:extLst>
                  <a:ext uri="{FF2B5EF4-FFF2-40B4-BE49-F238E27FC236}">
                    <a16:creationId xmlns:a16="http://schemas.microsoft.com/office/drawing/2014/main" id="{58B403B5-D917-CF4E-A70E-8DF0E3BF3FE9}"/>
                  </a:ext>
                </a:extLst>
              </p:cNvPr>
              <p:cNvSpPr/>
              <p:nvPr/>
            </p:nvSpPr>
            <p:spPr>
              <a:xfrm>
                <a:off x="6475628" y="2324570"/>
                <a:ext cx="1763803" cy="987562"/>
              </a:xfrm>
              <a:custGeom>
                <a:avLst/>
                <a:gdLst>
                  <a:gd name="connsiteX0" fmla="*/ 111879 w 203539"/>
                  <a:gd name="connsiteY0" fmla="*/ 20230 h 113962"/>
                  <a:gd name="connsiteX1" fmla="*/ 3370 w 203539"/>
                  <a:gd name="connsiteY1" fmla="*/ 113963 h 113962"/>
                  <a:gd name="connsiteX2" fmla="*/ 0 w 203539"/>
                  <a:gd name="connsiteY2" fmla="*/ 110591 h 113962"/>
                  <a:gd name="connsiteX3" fmla="*/ 108509 w 203539"/>
                  <a:gd name="connsiteY3" fmla="*/ 16858 h 113962"/>
                  <a:gd name="connsiteX4" fmla="*/ 152992 w 203539"/>
                  <a:gd name="connsiteY4" fmla="*/ 0 h 113962"/>
                  <a:gd name="connsiteX5" fmla="*/ 200844 w 203539"/>
                  <a:gd name="connsiteY5" fmla="*/ 0 h 113962"/>
                  <a:gd name="connsiteX6" fmla="*/ 203540 w 203539"/>
                  <a:gd name="connsiteY6" fmla="*/ 2697 h 113962"/>
                  <a:gd name="connsiteX7" fmla="*/ 203540 w 203539"/>
                  <a:gd name="connsiteY7" fmla="*/ 2697 h 113962"/>
                  <a:gd name="connsiteX8" fmla="*/ 200844 w 203539"/>
                  <a:gd name="connsiteY8" fmla="*/ 5395 h 113962"/>
                  <a:gd name="connsiteX9" fmla="*/ 152992 w 203539"/>
                  <a:gd name="connsiteY9" fmla="*/ 5395 h 113962"/>
                  <a:gd name="connsiteX10" fmla="*/ 111879 w 203539"/>
                  <a:gd name="connsiteY10" fmla="*/ 20904 h 113962"/>
                  <a:gd name="connsiteX0" fmla="*/ 111879 w 203540"/>
                  <a:gd name="connsiteY0" fmla="*/ 20904 h 113963"/>
                  <a:gd name="connsiteX1" fmla="*/ 3370 w 203540"/>
                  <a:gd name="connsiteY1" fmla="*/ 113963 h 113963"/>
                  <a:gd name="connsiteX2" fmla="*/ 0 w 203540"/>
                  <a:gd name="connsiteY2" fmla="*/ 110591 h 113963"/>
                  <a:gd name="connsiteX3" fmla="*/ 108509 w 203540"/>
                  <a:gd name="connsiteY3" fmla="*/ 16858 h 113963"/>
                  <a:gd name="connsiteX4" fmla="*/ 152992 w 203540"/>
                  <a:gd name="connsiteY4" fmla="*/ 0 h 113963"/>
                  <a:gd name="connsiteX5" fmla="*/ 200844 w 203540"/>
                  <a:gd name="connsiteY5" fmla="*/ 0 h 113963"/>
                  <a:gd name="connsiteX6" fmla="*/ 203540 w 203540"/>
                  <a:gd name="connsiteY6" fmla="*/ 2697 h 113963"/>
                  <a:gd name="connsiteX7" fmla="*/ 203540 w 203540"/>
                  <a:gd name="connsiteY7" fmla="*/ 2697 h 113963"/>
                  <a:gd name="connsiteX8" fmla="*/ 200844 w 203540"/>
                  <a:gd name="connsiteY8" fmla="*/ 5395 h 113963"/>
                  <a:gd name="connsiteX9" fmla="*/ 152992 w 203540"/>
                  <a:gd name="connsiteY9" fmla="*/ 5395 h 113963"/>
                  <a:gd name="connsiteX10" fmla="*/ 111879 w 203540"/>
                  <a:gd name="connsiteY10" fmla="*/ 20904 h 113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3540" h="113963">
                    <a:moveTo>
                      <a:pt x="111879" y="20904"/>
                    </a:moveTo>
                    <a:lnTo>
                      <a:pt x="3370" y="113963"/>
                    </a:lnTo>
                    <a:lnTo>
                      <a:pt x="0" y="110591"/>
                    </a:lnTo>
                    <a:lnTo>
                      <a:pt x="108509" y="16858"/>
                    </a:lnTo>
                    <a:cubicBezTo>
                      <a:pt x="120641" y="6069"/>
                      <a:pt x="136816" y="0"/>
                      <a:pt x="152992" y="0"/>
                    </a:cubicBezTo>
                    <a:lnTo>
                      <a:pt x="200844" y="0"/>
                    </a:lnTo>
                    <a:cubicBezTo>
                      <a:pt x="202192" y="0"/>
                      <a:pt x="203540" y="1349"/>
                      <a:pt x="203540" y="2697"/>
                    </a:cubicBezTo>
                    <a:lnTo>
                      <a:pt x="203540" y="2697"/>
                    </a:lnTo>
                    <a:cubicBezTo>
                      <a:pt x="203540" y="4046"/>
                      <a:pt x="202192" y="5395"/>
                      <a:pt x="200844" y="5395"/>
                    </a:cubicBezTo>
                    <a:lnTo>
                      <a:pt x="152992" y="5395"/>
                    </a:lnTo>
                    <a:cubicBezTo>
                      <a:pt x="138164" y="5395"/>
                      <a:pt x="123337" y="10789"/>
                      <a:pt x="111879" y="20904"/>
                    </a:cubicBezTo>
                    <a:close/>
                  </a:path>
                </a:pathLst>
              </a:custGeom>
              <a:solidFill>
                <a:schemeClr val="tx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600">
                  <a:latin typeface="Aptos" panose="020B0004020202020204" pitchFamily="34" charset="0"/>
                </a:endParaRPr>
              </a:p>
            </p:txBody>
          </p:sp>
          <p:sp>
            <p:nvSpPr>
              <p:cNvPr id="286" name="Freeform 57">
                <a:extLst>
                  <a:ext uri="{FF2B5EF4-FFF2-40B4-BE49-F238E27FC236}">
                    <a16:creationId xmlns:a16="http://schemas.microsoft.com/office/drawing/2014/main" id="{57F624C5-D857-DCCB-E59F-F371C40D8952}"/>
                  </a:ext>
                </a:extLst>
              </p:cNvPr>
              <p:cNvSpPr/>
              <p:nvPr/>
            </p:nvSpPr>
            <p:spPr>
              <a:xfrm>
                <a:off x="6475628" y="3744554"/>
                <a:ext cx="1763794" cy="1513479"/>
              </a:xfrm>
              <a:custGeom>
                <a:avLst/>
                <a:gdLst>
                  <a:gd name="connsiteX0" fmla="*/ 107836 w 203539"/>
                  <a:gd name="connsiteY0" fmla="*/ 142959 h 174653"/>
                  <a:gd name="connsiteX1" fmla="*/ 159057 w 203539"/>
                  <a:gd name="connsiteY1" fmla="*/ 169258 h 174653"/>
                  <a:gd name="connsiteX2" fmla="*/ 200844 w 203539"/>
                  <a:gd name="connsiteY2" fmla="*/ 169258 h 174653"/>
                  <a:gd name="connsiteX3" fmla="*/ 203540 w 203539"/>
                  <a:gd name="connsiteY3" fmla="*/ 171956 h 174653"/>
                  <a:gd name="connsiteX4" fmla="*/ 203540 w 203539"/>
                  <a:gd name="connsiteY4" fmla="*/ 171956 h 174653"/>
                  <a:gd name="connsiteX5" fmla="*/ 200844 w 203539"/>
                  <a:gd name="connsiteY5" fmla="*/ 174653 h 174653"/>
                  <a:gd name="connsiteX6" fmla="*/ 159057 w 203539"/>
                  <a:gd name="connsiteY6" fmla="*/ 174653 h 174653"/>
                  <a:gd name="connsiteX7" fmla="*/ 103792 w 203539"/>
                  <a:gd name="connsiteY7" fmla="*/ 146331 h 174653"/>
                  <a:gd name="connsiteX8" fmla="*/ 0 w 203539"/>
                  <a:gd name="connsiteY8" fmla="*/ 2697 h 174653"/>
                  <a:gd name="connsiteX9" fmla="*/ 4044 w 203539"/>
                  <a:gd name="connsiteY9" fmla="*/ 0 h 174653"/>
                  <a:gd name="connsiteX10" fmla="*/ 107836 w 203539"/>
                  <a:gd name="connsiteY10" fmla="*/ 143634 h 174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3539" h="174653">
                    <a:moveTo>
                      <a:pt x="107836" y="142959"/>
                    </a:moveTo>
                    <a:cubicBezTo>
                      <a:pt x="119967" y="159143"/>
                      <a:pt x="138838" y="169258"/>
                      <a:pt x="159057" y="169258"/>
                    </a:cubicBezTo>
                    <a:lnTo>
                      <a:pt x="200844" y="169258"/>
                    </a:lnTo>
                    <a:cubicBezTo>
                      <a:pt x="202192" y="169258"/>
                      <a:pt x="203540" y="170607"/>
                      <a:pt x="203540" y="171956"/>
                    </a:cubicBezTo>
                    <a:lnTo>
                      <a:pt x="203540" y="171956"/>
                    </a:lnTo>
                    <a:cubicBezTo>
                      <a:pt x="203540" y="173305"/>
                      <a:pt x="202192" y="174653"/>
                      <a:pt x="200844" y="174653"/>
                    </a:cubicBezTo>
                    <a:lnTo>
                      <a:pt x="159057" y="174653"/>
                    </a:lnTo>
                    <a:cubicBezTo>
                      <a:pt x="137490" y="174653"/>
                      <a:pt x="116597" y="163864"/>
                      <a:pt x="103792" y="146331"/>
                    </a:cubicBezTo>
                    <a:lnTo>
                      <a:pt x="0" y="2697"/>
                    </a:lnTo>
                    <a:lnTo>
                      <a:pt x="4044" y="0"/>
                    </a:lnTo>
                    <a:lnTo>
                      <a:pt x="107836" y="143634"/>
                    </a:lnTo>
                    <a:close/>
                  </a:path>
                </a:pathLst>
              </a:custGeom>
              <a:solidFill>
                <a:schemeClr val="tx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600">
                  <a:latin typeface="Aptos" panose="020B0004020202020204" pitchFamily="34" charset="0"/>
                </a:endParaRPr>
              </a:p>
            </p:txBody>
          </p:sp>
          <p:sp>
            <p:nvSpPr>
              <p:cNvPr id="287" name="Freeform 58">
                <a:extLst>
                  <a:ext uri="{FF2B5EF4-FFF2-40B4-BE49-F238E27FC236}">
                    <a16:creationId xmlns:a16="http://schemas.microsoft.com/office/drawing/2014/main" id="{B7BA70C8-EBC5-8746-3C3B-693F6B05B2BE}"/>
                  </a:ext>
                </a:extLst>
              </p:cNvPr>
              <p:cNvSpPr/>
              <p:nvPr/>
            </p:nvSpPr>
            <p:spPr>
              <a:xfrm>
                <a:off x="6475628" y="3545869"/>
                <a:ext cx="1763803" cy="993402"/>
              </a:xfrm>
              <a:custGeom>
                <a:avLst/>
                <a:gdLst>
                  <a:gd name="connsiteX0" fmla="*/ 108509 w 203539"/>
                  <a:gd name="connsiteY0" fmla="*/ 97104 h 114637"/>
                  <a:gd name="connsiteX1" fmla="*/ 0 w 203539"/>
                  <a:gd name="connsiteY1" fmla="*/ 3372 h 114637"/>
                  <a:gd name="connsiteX2" fmla="*/ 3370 w 203539"/>
                  <a:gd name="connsiteY2" fmla="*/ 0 h 114637"/>
                  <a:gd name="connsiteX3" fmla="*/ 111879 w 203539"/>
                  <a:gd name="connsiteY3" fmla="*/ 93733 h 114637"/>
                  <a:gd name="connsiteX4" fmla="*/ 152992 w 203539"/>
                  <a:gd name="connsiteY4" fmla="*/ 109243 h 114637"/>
                  <a:gd name="connsiteX5" fmla="*/ 200844 w 203539"/>
                  <a:gd name="connsiteY5" fmla="*/ 109243 h 114637"/>
                  <a:gd name="connsiteX6" fmla="*/ 203540 w 203539"/>
                  <a:gd name="connsiteY6" fmla="*/ 111940 h 114637"/>
                  <a:gd name="connsiteX7" fmla="*/ 203540 w 203539"/>
                  <a:gd name="connsiteY7" fmla="*/ 111940 h 114637"/>
                  <a:gd name="connsiteX8" fmla="*/ 200844 w 203539"/>
                  <a:gd name="connsiteY8" fmla="*/ 114637 h 114637"/>
                  <a:gd name="connsiteX9" fmla="*/ 152992 w 203539"/>
                  <a:gd name="connsiteY9" fmla="*/ 114637 h 114637"/>
                  <a:gd name="connsiteX10" fmla="*/ 108509 w 203539"/>
                  <a:gd name="connsiteY10" fmla="*/ 97779 h 114637"/>
                  <a:gd name="connsiteX0" fmla="*/ 108509 w 203540"/>
                  <a:gd name="connsiteY0" fmla="*/ 97779 h 114637"/>
                  <a:gd name="connsiteX1" fmla="*/ 0 w 203540"/>
                  <a:gd name="connsiteY1" fmla="*/ 3372 h 114637"/>
                  <a:gd name="connsiteX2" fmla="*/ 3370 w 203540"/>
                  <a:gd name="connsiteY2" fmla="*/ 0 h 114637"/>
                  <a:gd name="connsiteX3" fmla="*/ 111879 w 203540"/>
                  <a:gd name="connsiteY3" fmla="*/ 93733 h 114637"/>
                  <a:gd name="connsiteX4" fmla="*/ 152992 w 203540"/>
                  <a:gd name="connsiteY4" fmla="*/ 109243 h 114637"/>
                  <a:gd name="connsiteX5" fmla="*/ 200844 w 203540"/>
                  <a:gd name="connsiteY5" fmla="*/ 109243 h 114637"/>
                  <a:gd name="connsiteX6" fmla="*/ 203540 w 203540"/>
                  <a:gd name="connsiteY6" fmla="*/ 111940 h 114637"/>
                  <a:gd name="connsiteX7" fmla="*/ 203540 w 203540"/>
                  <a:gd name="connsiteY7" fmla="*/ 111940 h 114637"/>
                  <a:gd name="connsiteX8" fmla="*/ 200844 w 203540"/>
                  <a:gd name="connsiteY8" fmla="*/ 114637 h 114637"/>
                  <a:gd name="connsiteX9" fmla="*/ 152992 w 203540"/>
                  <a:gd name="connsiteY9" fmla="*/ 114637 h 114637"/>
                  <a:gd name="connsiteX10" fmla="*/ 108509 w 203540"/>
                  <a:gd name="connsiteY10" fmla="*/ 97779 h 114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3540" h="114637">
                    <a:moveTo>
                      <a:pt x="108509" y="97779"/>
                    </a:moveTo>
                    <a:lnTo>
                      <a:pt x="0" y="3372"/>
                    </a:lnTo>
                    <a:lnTo>
                      <a:pt x="3370" y="0"/>
                    </a:lnTo>
                    <a:lnTo>
                      <a:pt x="111879" y="93733"/>
                    </a:lnTo>
                    <a:cubicBezTo>
                      <a:pt x="123337" y="103848"/>
                      <a:pt x="138164" y="109243"/>
                      <a:pt x="152992" y="109243"/>
                    </a:cubicBezTo>
                    <a:lnTo>
                      <a:pt x="200844" y="109243"/>
                    </a:lnTo>
                    <a:cubicBezTo>
                      <a:pt x="202192" y="109243"/>
                      <a:pt x="203540" y="110591"/>
                      <a:pt x="203540" y="111940"/>
                    </a:cubicBezTo>
                    <a:lnTo>
                      <a:pt x="203540" y="111940"/>
                    </a:lnTo>
                    <a:cubicBezTo>
                      <a:pt x="203540" y="113288"/>
                      <a:pt x="202192" y="114637"/>
                      <a:pt x="200844" y="114637"/>
                    </a:cubicBezTo>
                    <a:lnTo>
                      <a:pt x="152992" y="114637"/>
                    </a:lnTo>
                    <a:cubicBezTo>
                      <a:pt x="136816" y="114637"/>
                      <a:pt x="120641" y="108568"/>
                      <a:pt x="108509" y="97779"/>
                    </a:cubicBezTo>
                    <a:close/>
                  </a:path>
                </a:pathLst>
              </a:custGeom>
              <a:solidFill>
                <a:schemeClr val="tx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600">
                  <a:latin typeface="Aptos" panose="020B0004020202020204" pitchFamily="34" charset="0"/>
                </a:endParaRPr>
              </a:p>
            </p:txBody>
          </p:sp>
          <p:sp>
            <p:nvSpPr>
              <p:cNvPr id="288" name="Freeform 59">
                <a:extLst>
                  <a:ext uri="{FF2B5EF4-FFF2-40B4-BE49-F238E27FC236}">
                    <a16:creationId xmlns:a16="http://schemas.microsoft.com/office/drawing/2014/main" id="{81702535-71E4-1FEE-5991-CA0B1DA9A271}"/>
                  </a:ext>
                </a:extLst>
              </p:cNvPr>
              <p:cNvSpPr/>
              <p:nvPr/>
            </p:nvSpPr>
            <p:spPr>
              <a:xfrm>
                <a:off x="6487310" y="3049172"/>
                <a:ext cx="1752122" cy="771345"/>
              </a:xfrm>
              <a:custGeom>
                <a:avLst/>
                <a:gdLst>
                  <a:gd name="connsiteX0" fmla="*/ 117271 w 202191"/>
                  <a:gd name="connsiteY0" fmla="*/ 84292 h 89012"/>
                  <a:gd name="connsiteX1" fmla="*/ 0 w 202191"/>
                  <a:gd name="connsiteY1" fmla="*/ 47204 h 89012"/>
                  <a:gd name="connsiteX2" fmla="*/ 1348 w 202191"/>
                  <a:gd name="connsiteY2" fmla="*/ 43832 h 89012"/>
                  <a:gd name="connsiteX3" fmla="*/ 0 w 202191"/>
                  <a:gd name="connsiteY3" fmla="*/ 40460 h 89012"/>
                  <a:gd name="connsiteX4" fmla="*/ 117271 w 202191"/>
                  <a:gd name="connsiteY4" fmla="*/ 3372 h 89012"/>
                  <a:gd name="connsiteX5" fmla="*/ 137490 w 202191"/>
                  <a:gd name="connsiteY5" fmla="*/ 0 h 89012"/>
                  <a:gd name="connsiteX6" fmla="*/ 199496 w 202191"/>
                  <a:gd name="connsiteY6" fmla="*/ 0 h 89012"/>
                  <a:gd name="connsiteX7" fmla="*/ 202192 w 202191"/>
                  <a:gd name="connsiteY7" fmla="*/ 2697 h 89012"/>
                  <a:gd name="connsiteX8" fmla="*/ 202192 w 202191"/>
                  <a:gd name="connsiteY8" fmla="*/ 2697 h 89012"/>
                  <a:gd name="connsiteX9" fmla="*/ 199496 w 202191"/>
                  <a:gd name="connsiteY9" fmla="*/ 5395 h 89012"/>
                  <a:gd name="connsiteX10" fmla="*/ 137490 w 202191"/>
                  <a:gd name="connsiteY10" fmla="*/ 5395 h 89012"/>
                  <a:gd name="connsiteX11" fmla="*/ 118619 w 202191"/>
                  <a:gd name="connsiteY11" fmla="*/ 8092 h 89012"/>
                  <a:gd name="connsiteX12" fmla="*/ 4718 w 202191"/>
                  <a:gd name="connsiteY12" fmla="*/ 44506 h 89012"/>
                  <a:gd name="connsiteX13" fmla="*/ 118619 w 202191"/>
                  <a:gd name="connsiteY13" fmla="*/ 80920 h 89012"/>
                  <a:gd name="connsiteX14" fmla="*/ 137490 w 202191"/>
                  <a:gd name="connsiteY14" fmla="*/ 83618 h 89012"/>
                  <a:gd name="connsiteX15" fmla="*/ 199496 w 202191"/>
                  <a:gd name="connsiteY15" fmla="*/ 83618 h 89012"/>
                  <a:gd name="connsiteX16" fmla="*/ 202192 w 202191"/>
                  <a:gd name="connsiteY16" fmla="*/ 86315 h 89012"/>
                  <a:gd name="connsiteX17" fmla="*/ 202192 w 202191"/>
                  <a:gd name="connsiteY17" fmla="*/ 86315 h 89012"/>
                  <a:gd name="connsiteX18" fmla="*/ 199496 w 202191"/>
                  <a:gd name="connsiteY18" fmla="*/ 89012 h 89012"/>
                  <a:gd name="connsiteX19" fmla="*/ 137490 w 202191"/>
                  <a:gd name="connsiteY19" fmla="*/ 89012 h 89012"/>
                  <a:gd name="connsiteX20" fmla="*/ 117271 w 202191"/>
                  <a:gd name="connsiteY20" fmla="*/ 85641 h 89012"/>
                  <a:gd name="connsiteX0" fmla="*/ 117271 w 202192"/>
                  <a:gd name="connsiteY0" fmla="*/ 85641 h 89012"/>
                  <a:gd name="connsiteX1" fmla="*/ 0 w 202192"/>
                  <a:gd name="connsiteY1" fmla="*/ 47204 h 89012"/>
                  <a:gd name="connsiteX2" fmla="*/ 1348 w 202192"/>
                  <a:gd name="connsiteY2" fmla="*/ 43832 h 89012"/>
                  <a:gd name="connsiteX3" fmla="*/ 0 w 202192"/>
                  <a:gd name="connsiteY3" fmla="*/ 40460 h 89012"/>
                  <a:gd name="connsiteX4" fmla="*/ 117271 w 202192"/>
                  <a:gd name="connsiteY4" fmla="*/ 3372 h 89012"/>
                  <a:gd name="connsiteX5" fmla="*/ 137490 w 202192"/>
                  <a:gd name="connsiteY5" fmla="*/ 0 h 89012"/>
                  <a:gd name="connsiteX6" fmla="*/ 199496 w 202192"/>
                  <a:gd name="connsiteY6" fmla="*/ 0 h 89012"/>
                  <a:gd name="connsiteX7" fmla="*/ 202192 w 202192"/>
                  <a:gd name="connsiteY7" fmla="*/ 2697 h 89012"/>
                  <a:gd name="connsiteX8" fmla="*/ 202192 w 202192"/>
                  <a:gd name="connsiteY8" fmla="*/ 2697 h 89012"/>
                  <a:gd name="connsiteX9" fmla="*/ 199496 w 202192"/>
                  <a:gd name="connsiteY9" fmla="*/ 5395 h 89012"/>
                  <a:gd name="connsiteX10" fmla="*/ 137490 w 202192"/>
                  <a:gd name="connsiteY10" fmla="*/ 5395 h 89012"/>
                  <a:gd name="connsiteX11" fmla="*/ 118619 w 202192"/>
                  <a:gd name="connsiteY11" fmla="*/ 8092 h 89012"/>
                  <a:gd name="connsiteX12" fmla="*/ 4718 w 202192"/>
                  <a:gd name="connsiteY12" fmla="*/ 44506 h 89012"/>
                  <a:gd name="connsiteX13" fmla="*/ 118619 w 202192"/>
                  <a:gd name="connsiteY13" fmla="*/ 80920 h 89012"/>
                  <a:gd name="connsiteX14" fmla="*/ 137490 w 202192"/>
                  <a:gd name="connsiteY14" fmla="*/ 83618 h 89012"/>
                  <a:gd name="connsiteX15" fmla="*/ 199496 w 202192"/>
                  <a:gd name="connsiteY15" fmla="*/ 83618 h 89012"/>
                  <a:gd name="connsiteX16" fmla="*/ 202192 w 202192"/>
                  <a:gd name="connsiteY16" fmla="*/ 86315 h 89012"/>
                  <a:gd name="connsiteX17" fmla="*/ 202192 w 202192"/>
                  <a:gd name="connsiteY17" fmla="*/ 86315 h 89012"/>
                  <a:gd name="connsiteX18" fmla="*/ 199496 w 202192"/>
                  <a:gd name="connsiteY18" fmla="*/ 89012 h 89012"/>
                  <a:gd name="connsiteX19" fmla="*/ 137490 w 202192"/>
                  <a:gd name="connsiteY19" fmla="*/ 89012 h 89012"/>
                  <a:gd name="connsiteX20" fmla="*/ 117271 w 202192"/>
                  <a:gd name="connsiteY20" fmla="*/ 85641 h 89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02192" h="89012">
                    <a:moveTo>
                      <a:pt x="117271" y="85641"/>
                    </a:moveTo>
                    <a:lnTo>
                      <a:pt x="0" y="47204"/>
                    </a:lnTo>
                    <a:lnTo>
                      <a:pt x="1348" y="43832"/>
                    </a:lnTo>
                    <a:lnTo>
                      <a:pt x="0" y="40460"/>
                    </a:lnTo>
                    <a:lnTo>
                      <a:pt x="117271" y="3372"/>
                    </a:lnTo>
                    <a:cubicBezTo>
                      <a:pt x="124011" y="1349"/>
                      <a:pt x="130751" y="0"/>
                      <a:pt x="137490" y="0"/>
                    </a:cubicBezTo>
                    <a:lnTo>
                      <a:pt x="199496" y="0"/>
                    </a:lnTo>
                    <a:cubicBezTo>
                      <a:pt x="200844" y="0"/>
                      <a:pt x="202192" y="1349"/>
                      <a:pt x="202192" y="2697"/>
                    </a:cubicBezTo>
                    <a:lnTo>
                      <a:pt x="202192" y="2697"/>
                    </a:lnTo>
                    <a:cubicBezTo>
                      <a:pt x="202192" y="4046"/>
                      <a:pt x="200844" y="5395"/>
                      <a:pt x="199496" y="5395"/>
                    </a:cubicBezTo>
                    <a:lnTo>
                      <a:pt x="137490" y="5395"/>
                    </a:lnTo>
                    <a:cubicBezTo>
                      <a:pt x="130751" y="5395"/>
                      <a:pt x="124685" y="6069"/>
                      <a:pt x="118619" y="8092"/>
                    </a:cubicBezTo>
                    <a:lnTo>
                      <a:pt x="4718" y="44506"/>
                    </a:lnTo>
                    <a:lnTo>
                      <a:pt x="118619" y="80920"/>
                    </a:lnTo>
                    <a:cubicBezTo>
                      <a:pt x="124685" y="82943"/>
                      <a:pt x="131425" y="83618"/>
                      <a:pt x="137490" y="83618"/>
                    </a:cubicBezTo>
                    <a:lnTo>
                      <a:pt x="199496" y="83618"/>
                    </a:lnTo>
                    <a:cubicBezTo>
                      <a:pt x="200844" y="83618"/>
                      <a:pt x="202192" y="84966"/>
                      <a:pt x="202192" y="86315"/>
                    </a:cubicBezTo>
                    <a:lnTo>
                      <a:pt x="202192" y="86315"/>
                    </a:lnTo>
                    <a:cubicBezTo>
                      <a:pt x="202192" y="87664"/>
                      <a:pt x="200844" y="89012"/>
                      <a:pt x="199496" y="89012"/>
                    </a:cubicBezTo>
                    <a:lnTo>
                      <a:pt x="137490" y="89012"/>
                    </a:lnTo>
                    <a:cubicBezTo>
                      <a:pt x="130751" y="89012"/>
                      <a:pt x="123337" y="87664"/>
                      <a:pt x="117271" y="85641"/>
                    </a:cubicBezTo>
                    <a:close/>
                  </a:path>
                </a:pathLst>
              </a:custGeom>
              <a:solidFill>
                <a:schemeClr val="tx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600">
                  <a:latin typeface="Aptos" panose="020B0004020202020204" pitchFamily="34" charset="0"/>
                </a:endParaRPr>
              </a:p>
            </p:txBody>
          </p:sp>
        </p:grp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1705D8BA-EBFD-751E-85C0-A44EEC3025B7}"/>
              </a:ext>
            </a:extLst>
          </p:cNvPr>
          <p:cNvGrpSpPr/>
          <p:nvPr/>
        </p:nvGrpSpPr>
        <p:grpSpPr>
          <a:xfrm>
            <a:off x="4020208" y="2491626"/>
            <a:ext cx="2414016" cy="447030"/>
            <a:chOff x="664532" y="2795046"/>
            <a:chExt cx="3218688" cy="596039"/>
          </a:xfrm>
        </p:grpSpPr>
        <p:sp>
          <p:nvSpPr>
            <p:cNvPr id="303" name="Freeform 29">
              <a:extLst>
                <a:ext uri="{FF2B5EF4-FFF2-40B4-BE49-F238E27FC236}">
                  <a16:creationId xmlns:a16="http://schemas.microsoft.com/office/drawing/2014/main" id="{6D1A7E40-6399-2EA1-0061-381453F383A9}"/>
                </a:ext>
              </a:extLst>
            </p:cNvPr>
            <p:cNvSpPr/>
            <p:nvPr/>
          </p:nvSpPr>
          <p:spPr>
            <a:xfrm>
              <a:off x="664532" y="2795046"/>
              <a:ext cx="3218688" cy="596039"/>
            </a:xfrm>
            <a:custGeom>
              <a:avLst/>
              <a:gdLst>
                <a:gd name="connsiteX0" fmla="*/ 364581 w 370646"/>
                <a:gd name="connsiteY0" fmla="*/ 0 h 68782"/>
                <a:gd name="connsiteX1" fmla="*/ 41748 w 370646"/>
                <a:gd name="connsiteY1" fmla="*/ 0 h 68782"/>
                <a:gd name="connsiteX2" fmla="*/ 34334 w 370646"/>
                <a:gd name="connsiteY2" fmla="*/ 4046 h 68782"/>
                <a:gd name="connsiteX3" fmla="*/ 1309 w 370646"/>
                <a:gd name="connsiteY3" fmla="*/ 55296 h 68782"/>
                <a:gd name="connsiteX4" fmla="*/ 8723 w 370646"/>
                <a:gd name="connsiteY4" fmla="*/ 68782 h 68782"/>
                <a:gd name="connsiteX5" fmla="*/ 363907 w 370646"/>
                <a:gd name="connsiteY5" fmla="*/ 68782 h 68782"/>
                <a:gd name="connsiteX6" fmla="*/ 370646 w 370646"/>
                <a:gd name="connsiteY6" fmla="*/ 62039 h 68782"/>
                <a:gd name="connsiteX7" fmla="*/ 370646 w 370646"/>
                <a:gd name="connsiteY7" fmla="*/ 7418 h 68782"/>
                <a:gd name="connsiteX8" fmla="*/ 363907 w 370646"/>
                <a:gd name="connsiteY8" fmla="*/ 674 h 68782"/>
                <a:gd name="connsiteX9" fmla="*/ 73424 w 370646"/>
                <a:gd name="connsiteY9" fmla="*/ 57993 h 68782"/>
                <a:gd name="connsiteX10" fmla="*/ 71403 w 370646"/>
                <a:gd name="connsiteY10" fmla="*/ 60016 h 68782"/>
                <a:gd name="connsiteX11" fmla="*/ 12093 w 370646"/>
                <a:gd name="connsiteY11" fmla="*/ 60016 h 68782"/>
                <a:gd name="connsiteX12" fmla="*/ 9397 w 370646"/>
                <a:gd name="connsiteY12" fmla="*/ 55296 h 68782"/>
                <a:gd name="connsiteX13" fmla="*/ 39726 w 370646"/>
                <a:gd name="connsiteY13" fmla="*/ 8092 h 68782"/>
                <a:gd name="connsiteX14" fmla="*/ 42422 w 370646"/>
                <a:gd name="connsiteY14" fmla="*/ 6743 h 68782"/>
                <a:gd name="connsiteX15" fmla="*/ 71403 w 370646"/>
                <a:gd name="connsiteY15" fmla="*/ 6743 h 68782"/>
                <a:gd name="connsiteX16" fmla="*/ 73424 w 370646"/>
                <a:gd name="connsiteY16" fmla="*/ 8766 h 68782"/>
                <a:gd name="connsiteX17" fmla="*/ 73424 w 370646"/>
                <a:gd name="connsiteY17" fmla="*/ 58667 h 68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0646" h="68782">
                  <a:moveTo>
                    <a:pt x="364581" y="0"/>
                  </a:moveTo>
                  <a:lnTo>
                    <a:pt x="41748" y="0"/>
                  </a:lnTo>
                  <a:cubicBezTo>
                    <a:pt x="39052" y="0"/>
                    <a:pt x="36356" y="1349"/>
                    <a:pt x="34334" y="4046"/>
                  </a:cubicBezTo>
                  <a:lnTo>
                    <a:pt x="1309" y="55296"/>
                  </a:lnTo>
                  <a:cubicBezTo>
                    <a:pt x="-2061" y="60690"/>
                    <a:pt x="1309" y="68782"/>
                    <a:pt x="8723" y="68782"/>
                  </a:cubicBezTo>
                  <a:lnTo>
                    <a:pt x="363907" y="68782"/>
                  </a:lnTo>
                  <a:cubicBezTo>
                    <a:pt x="367951" y="68782"/>
                    <a:pt x="370646" y="65411"/>
                    <a:pt x="370646" y="62039"/>
                  </a:cubicBezTo>
                  <a:lnTo>
                    <a:pt x="370646" y="7418"/>
                  </a:lnTo>
                  <a:cubicBezTo>
                    <a:pt x="370646" y="3372"/>
                    <a:pt x="367276" y="674"/>
                    <a:pt x="363907" y="674"/>
                  </a:cubicBezTo>
                  <a:close/>
                  <a:moveTo>
                    <a:pt x="73424" y="57993"/>
                  </a:moveTo>
                  <a:cubicBezTo>
                    <a:pt x="73424" y="59342"/>
                    <a:pt x="72750" y="60016"/>
                    <a:pt x="71403" y="60016"/>
                  </a:cubicBezTo>
                  <a:lnTo>
                    <a:pt x="12093" y="60016"/>
                  </a:lnTo>
                  <a:cubicBezTo>
                    <a:pt x="9397" y="60016"/>
                    <a:pt x="8049" y="57319"/>
                    <a:pt x="9397" y="55296"/>
                  </a:cubicBezTo>
                  <a:lnTo>
                    <a:pt x="39726" y="8092"/>
                  </a:lnTo>
                  <a:cubicBezTo>
                    <a:pt x="39726" y="7418"/>
                    <a:pt x="41074" y="6743"/>
                    <a:pt x="42422" y="6743"/>
                  </a:cubicBezTo>
                  <a:lnTo>
                    <a:pt x="71403" y="6743"/>
                  </a:lnTo>
                  <a:cubicBezTo>
                    <a:pt x="72750" y="6743"/>
                    <a:pt x="73424" y="7418"/>
                    <a:pt x="73424" y="8766"/>
                  </a:cubicBezTo>
                  <a:lnTo>
                    <a:pt x="73424" y="58667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00">
                <a:latin typeface="Aptos" panose="020B0004020202020204" pitchFamily="34" charset="0"/>
              </a:endParaRPr>
            </a:p>
          </p:txBody>
        </p: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B6CF2ABD-453B-F734-6E0E-C1213BD06501}"/>
                </a:ext>
              </a:extLst>
            </p:cNvPr>
            <p:cNvSpPr txBox="1"/>
            <p:nvPr/>
          </p:nvSpPr>
          <p:spPr>
            <a:xfrm>
              <a:off x="799148" y="2867363"/>
              <a:ext cx="536899" cy="45140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>
              <a:defPPr>
                <a:defRPr lang="en-US"/>
              </a:defPPr>
              <a:lvl1pPr algn="r">
                <a:defRPr sz="2000" b="1"/>
              </a:lvl1pPr>
            </a:lstStyle>
            <a:p>
              <a:r>
                <a:rPr lang="en-US" sz="1600" noProof="1">
                  <a:solidFill>
                    <a:schemeClr val="accent1">
                      <a:lumMod val="75000"/>
                    </a:schemeClr>
                  </a:solidFill>
                  <a:latin typeface="Aptos" panose="020B0004020202020204" pitchFamily="34" charset="0"/>
                </a:rPr>
                <a:t>05</a:t>
              </a:r>
            </a:p>
          </p:txBody>
        </p:sp>
        <p:sp>
          <p:nvSpPr>
            <p:cNvPr id="305" name="TextBox 304">
              <a:extLst>
                <a:ext uri="{FF2B5EF4-FFF2-40B4-BE49-F238E27FC236}">
                  <a16:creationId xmlns:a16="http://schemas.microsoft.com/office/drawing/2014/main" id="{BE83D725-D628-B3F4-0B93-C40D7BAA32CD}"/>
                </a:ext>
              </a:extLst>
            </p:cNvPr>
            <p:cNvSpPr txBox="1"/>
            <p:nvPr/>
          </p:nvSpPr>
          <p:spPr>
            <a:xfrm>
              <a:off x="1440299" y="2867363"/>
              <a:ext cx="1516545" cy="451405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sz="1600" b="1" noProof="1">
                  <a:latin typeface="Aptos" panose="020B0004020202020204" pitchFamily="34" charset="0"/>
                </a:rPr>
                <a:t>CF Mgmt.</a:t>
              </a:r>
            </a:p>
          </p:txBody>
        </p:sp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38ED0284-3413-3788-03F6-7E385F70365E}"/>
              </a:ext>
            </a:extLst>
          </p:cNvPr>
          <p:cNvGrpSpPr/>
          <p:nvPr/>
        </p:nvGrpSpPr>
        <p:grpSpPr>
          <a:xfrm>
            <a:off x="4020208" y="2960949"/>
            <a:ext cx="2414016" cy="584775"/>
            <a:chOff x="664532" y="3420805"/>
            <a:chExt cx="3218688" cy="779698"/>
          </a:xfrm>
        </p:grpSpPr>
        <p:sp>
          <p:nvSpPr>
            <p:cNvPr id="307" name="Freeform 54">
              <a:extLst>
                <a:ext uri="{FF2B5EF4-FFF2-40B4-BE49-F238E27FC236}">
                  <a16:creationId xmlns:a16="http://schemas.microsoft.com/office/drawing/2014/main" id="{0578C3CA-6B18-07FB-EA48-98965A5CA91C}"/>
                </a:ext>
              </a:extLst>
            </p:cNvPr>
            <p:cNvSpPr/>
            <p:nvPr/>
          </p:nvSpPr>
          <p:spPr>
            <a:xfrm flipH="1">
              <a:off x="664532" y="3512635"/>
              <a:ext cx="3218688" cy="596039"/>
            </a:xfrm>
            <a:custGeom>
              <a:avLst/>
              <a:gdLst>
                <a:gd name="connsiteX0" fmla="*/ 6066 w 370646"/>
                <a:gd name="connsiteY0" fmla="*/ 68782 h 68782"/>
                <a:gd name="connsiteX1" fmla="*/ 328899 w 370646"/>
                <a:gd name="connsiteY1" fmla="*/ 68782 h 68782"/>
                <a:gd name="connsiteX2" fmla="*/ 336312 w 370646"/>
                <a:gd name="connsiteY2" fmla="*/ 64736 h 68782"/>
                <a:gd name="connsiteX3" fmla="*/ 369337 w 370646"/>
                <a:gd name="connsiteY3" fmla="*/ 13487 h 68782"/>
                <a:gd name="connsiteX4" fmla="*/ 361923 w 370646"/>
                <a:gd name="connsiteY4" fmla="*/ 0 h 68782"/>
                <a:gd name="connsiteX5" fmla="*/ 6740 w 370646"/>
                <a:gd name="connsiteY5" fmla="*/ 0 h 68782"/>
                <a:gd name="connsiteX6" fmla="*/ 0 w 370646"/>
                <a:gd name="connsiteY6" fmla="*/ 6743 h 68782"/>
                <a:gd name="connsiteX7" fmla="*/ 0 w 370646"/>
                <a:gd name="connsiteY7" fmla="*/ 61365 h 68782"/>
                <a:gd name="connsiteX8" fmla="*/ 6740 w 370646"/>
                <a:gd name="connsiteY8" fmla="*/ 68108 h 68782"/>
                <a:gd name="connsiteX9" fmla="*/ 297222 w 370646"/>
                <a:gd name="connsiteY9" fmla="*/ 10115 h 68782"/>
                <a:gd name="connsiteX10" fmla="*/ 299244 w 370646"/>
                <a:gd name="connsiteY10" fmla="*/ 8092 h 68782"/>
                <a:gd name="connsiteX11" fmla="*/ 358553 w 370646"/>
                <a:gd name="connsiteY11" fmla="*/ 8092 h 68782"/>
                <a:gd name="connsiteX12" fmla="*/ 361249 w 370646"/>
                <a:gd name="connsiteY12" fmla="*/ 12812 h 68782"/>
                <a:gd name="connsiteX13" fmla="*/ 330920 w 370646"/>
                <a:gd name="connsiteY13" fmla="*/ 60016 h 68782"/>
                <a:gd name="connsiteX14" fmla="*/ 328225 w 370646"/>
                <a:gd name="connsiteY14" fmla="*/ 61365 h 68782"/>
                <a:gd name="connsiteX15" fmla="*/ 299244 w 370646"/>
                <a:gd name="connsiteY15" fmla="*/ 61365 h 68782"/>
                <a:gd name="connsiteX16" fmla="*/ 297222 w 370646"/>
                <a:gd name="connsiteY16" fmla="*/ 59342 h 68782"/>
                <a:gd name="connsiteX17" fmla="*/ 297222 w 370646"/>
                <a:gd name="connsiteY17" fmla="*/ 9441 h 68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0646" h="68782">
                  <a:moveTo>
                    <a:pt x="6066" y="68782"/>
                  </a:moveTo>
                  <a:lnTo>
                    <a:pt x="328899" y="68782"/>
                  </a:lnTo>
                  <a:cubicBezTo>
                    <a:pt x="331594" y="68782"/>
                    <a:pt x="334290" y="67434"/>
                    <a:pt x="336312" y="64736"/>
                  </a:cubicBezTo>
                  <a:lnTo>
                    <a:pt x="369337" y="13487"/>
                  </a:lnTo>
                  <a:cubicBezTo>
                    <a:pt x="372707" y="8092"/>
                    <a:pt x="369337" y="0"/>
                    <a:pt x="361923" y="0"/>
                  </a:cubicBezTo>
                  <a:lnTo>
                    <a:pt x="6740" y="0"/>
                  </a:lnTo>
                  <a:cubicBezTo>
                    <a:pt x="2696" y="0"/>
                    <a:pt x="0" y="3372"/>
                    <a:pt x="0" y="6743"/>
                  </a:cubicBezTo>
                  <a:lnTo>
                    <a:pt x="0" y="61365"/>
                  </a:lnTo>
                  <a:cubicBezTo>
                    <a:pt x="0" y="65411"/>
                    <a:pt x="3370" y="68108"/>
                    <a:pt x="6740" y="68108"/>
                  </a:cubicBezTo>
                  <a:close/>
                  <a:moveTo>
                    <a:pt x="297222" y="10115"/>
                  </a:moveTo>
                  <a:cubicBezTo>
                    <a:pt x="297222" y="8766"/>
                    <a:pt x="297896" y="8092"/>
                    <a:pt x="299244" y="8092"/>
                  </a:cubicBezTo>
                  <a:lnTo>
                    <a:pt x="358553" y="8092"/>
                  </a:lnTo>
                  <a:cubicBezTo>
                    <a:pt x="361249" y="8092"/>
                    <a:pt x="362597" y="10789"/>
                    <a:pt x="361249" y="12812"/>
                  </a:cubicBezTo>
                  <a:lnTo>
                    <a:pt x="330920" y="60016"/>
                  </a:lnTo>
                  <a:cubicBezTo>
                    <a:pt x="330920" y="60690"/>
                    <a:pt x="329573" y="61365"/>
                    <a:pt x="328225" y="61365"/>
                  </a:cubicBezTo>
                  <a:lnTo>
                    <a:pt x="299244" y="61365"/>
                  </a:lnTo>
                  <a:cubicBezTo>
                    <a:pt x="297896" y="61365"/>
                    <a:pt x="297222" y="60690"/>
                    <a:pt x="297222" y="59342"/>
                  </a:cubicBezTo>
                  <a:lnTo>
                    <a:pt x="297222" y="9441"/>
                  </a:lnTo>
                  <a:close/>
                </a:path>
              </a:pathLst>
            </a:custGeom>
            <a:solidFill>
              <a:schemeClr val="accent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00">
                <a:latin typeface="Aptos" panose="020B0004020202020204" pitchFamily="34" charset="0"/>
              </a:endParaRPr>
            </a:p>
          </p:txBody>
        </p:sp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5940EDDA-7825-8C6C-FE7A-5FD58D73D6A2}"/>
                </a:ext>
              </a:extLst>
            </p:cNvPr>
            <p:cNvSpPr txBox="1"/>
            <p:nvPr/>
          </p:nvSpPr>
          <p:spPr>
            <a:xfrm>
              <a:off x="799148" y="3584951"/>
              <a:ext cx="536899" cy="45140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>
              <a:defPPr>
                <a:defRPr lang="en-US"/>
              </a:defPPr>
              <a:lvl1pPr algn="r">
                <a:defRPr sz="2000" b="1"/>
              </a:lvl1pPr>
            </a:lstStyle>
            <a:p>
              <a:r>
                <a:rPr lang="en-US" sz="1600" noProof="1">
                  <a:solidFill>
                    <a:schemeClr val="accent5">
                      <a:lumMod val="50000"/>
                    </a:schemeClr>
                  </a:solidFill>
                  <a:latin typeface="Aptos" panose="020B0004020202020204" pitchFamily="34" charset="0"/>
                </a:rPr>
                <a:t>07</a:t>
              </a:r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43EEB8D8-A8A1-E255-9F22-85D97E86A8BD}"/>
                </a:ext>
              </a:extLst>
            </p:cNvPr>
            <p:cNvSpPr txBox="1"/>
            <p:nvPr/>
          </p:nvSpPr>
          <p:spPr>
            <a:xfrm>
              <a:off x="1440299" y="3420805"/>
              <a:ext cx="1516545" cy="779698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sz="1600" b="1" noProof="1">
                  <a:latin typeface="Aptos" panose="020B0004020202020204" pitchFamily="34" charset="0"/>
                </a:rPr>
                <a:t>GM. Objectives</a:t>
              </a:r>
            </a:p>
          </p:txBody>
        </p: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871B6BAC-8EB8-BA42-73CF-662913423551}"/>
              </a:ext>
            </a:extLst>
          </p:cNvPr>
          <p:cNvGrpSpPr/>
          <p:nvPr/>
        </p:nvGrpSpPr>
        <p:grpSpPr>
          <a:xfrm>
            <a:off x="4287670" y="3499142"/>
            <a:ext cx="2146554" cy="584775"/>
            <a:chOff x="1021148" y="4138395"/>
            <a:chExt cx="2862072" cy="779698"/>
          </a:xfrm>
        </p:grpSpPr>
        <p:sp>
          <p:nvSpPr>
            <p:cNvPr id="311" name="Freeform 42">
              <a:extLst>
                <a:ext uri="{FF2B5EF4-FFF2-40B4-BE49-F238E27FC236}">
                  <a16:creationId xmlns:a16="http://schemas.microsoft.com/office/drawing/2014/main" id="{302C2D68-46EF-5664-C1CC-9D9A304C0179}"/>
                </a:ext>
              </a:extLst>
            </p:cNvPr>
            <p:cNvSpPr/>
            <p:nvPr/>
          </p:nvSpPr>
          <p:spPr>
            <a:xfrm>
              <a:off x="1021148" y="4230224"/>
              <a:ext cx="2862072" cy="596039"/>
            </a:xfrm>
            <a:custGeom>
              <a:avLst/>
              <a:gdLst>
                <a:gd name="connsiteX0" fmla="*/ 330110 w 330109"/>
                <a:gd name="connsiteY0" fmla="*/ 61365 h 68782"/>
                <a:gd name="connsiteX1" fmla="*/ 330110 w 330109"/>
                <a:gd name="connsiteY1" fmla="*/ 6743 h 68782"/>
                <a:gd name="connsiteX2" fmla="*/ 323370 w 330109"/>
                <a:gd name="connsiteY2" fmla="*/ 0 h 68782"/>
                <a:gd name="connsiteX3" fmla="*/ 8625 w 330109"/>
                <a:gd name="connsiteY3" fmla="*/ 0 h 68782"/>
                <a:gd name="connsiteX4" fmla="*/ 1211 w 330109"/>
                <a:gd name="connsiteY4" fmla="*/ 13487 h 68782"/>
                <a:gd name="connsiteX5" fmla="*/ 34236 w 330109"/>
                <a:gd name="connsiteY5" fmla="*/ 64736 h 68782"/>
                <a:gd name="connsiteX6" fmla="*/ 41650 w 330109"/>
                <a:gd name="connsiteY6" fmla="*/ 68782 h 68782"/>
                <a:gd name="connsiteX7" fmla="*/ 323370 w 330109"/>
                <a:gd name="connsiteY7" fmla="*/ 68782 h 68782"/>
                <a:gd name="connsiteX8" fmla="*/ 330110 w 330109"/>
                <a:gd name="connsiteY8" fmla="*/ 62039 h 68782"/>
                <a:gd name="connsiteX9" fmla="*/ 73326 w 330109"/>
                <a:gd name="connsiteY9" fmla="*/ 59342 h 68782"/>
                <a:gd name="connsiteX10" fmla="*/ 71304 w 330109"/>
                <a:gd name="connsiteY10" fmla="*/ 61365 h 68782"/>
                <a:gd name="connsiteX11" fmla="*/ 42324 w 330109"/>
                <a:gd name="connsiteY11" fmla="*/ 61365 h 68782"/>
                <a:gd name="connsiteX12" fmla="*/ 39628 w 330109"/>
                <a:gd name="connsiteY12" fmla="*/ 60016 h 68782"/>
                <a:gd name="connsiteX13" fmla="*/ 9299 w 330109"/>
                <a:gd name="connsiteY13" fmla="*/ 12812 h 68782"/>
                <a:gd name="connsiteX14" fmla="*/ 11995 w 330109"/>
                <a:gd name="connsiteY14" fmla="*/ 8092 h 68782"/>
                <a:gd name="connsiteX15" fmla="*/ 71304 w 330109"/>
                <a:gd name="connsiteY15" fmla="*/ 8092 h 68782"/>
                <a:gd name="connsiteX16" fmla="*/ 73326 w 330109"/>
                <a:gd name="connsiteY16" fmla="*/ 10115 h 68782"/>
                <a:gd name="connsiteX17" fmla="*/ 73326 w 330109"/>
                <a:gd name="connsiteY17" fmla="*/ 60016 h 68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0109" h="68782">
                  <a:moveTo>
                    <a:pt x="330110" y="61365"/>
                  </a:moveTo>
                  <a:lnTo>
                    <a:pt x="330110" y="6743"/>
                  </a:lnTo>
                  <a:cubicBezTo>
                    <a:pt x="330110" y="2697"/>
                    <a:pt x="326740" y="0"/>
                    <a:pt x="323370" y="0"/>
                  </a:cubicBezTo>
                  <a:lnTo>
                    <a:pt x="8625" y="0"/>
                  </a:lnTo>
                  <a:cubicBezTo>
                    <a:pt x="1885" y="0"/>
                    <a:pt x="-2159" y="7418"/>
                    <a:pt x="1211" y="13487"/>
                  </a:cubicBezTo>
                  <a:lnTo>
                    <a:pt x="34236" y="64736"/>
                  </a:lnTo>
                  <a:cubicBezTo>
                    <a:pt x="35584" y="67434"/>
                    <a:pt x="38280" y="68782"/>
                    <a:pt x="41650" y="68782"/>
                  </a:cubicBezTo>
                  <a:lnTo>
                    <a:pt x="323370" y="68782"/>
                  </a:lnTo>
                  <a:cubicBezTo>
                    <a:pt x="327414" y="68782"/>
                    <a:pt x="330110" y="65411"/>
                    <a:pt x="330110" y="62039"/>
                  </a:cubicBezTo>
                  <a:close/>
                  <a:moveTo>
                    <a:pt x="73326" y="59342"/>
                  </a:moveTo>
                  <a:cubicBezTo>
                    <a:pt x="73326" y="60690"/>
                    <a:pt x="72652" y="61365"/>
                    <a:pt x="71304" y="61365"/>
                  </a:cubicBezTo>
                  <a:lnTo>
                    <a:pt x="42324" y="61365"/>
                  </a:lnTo>
                  <a:cubicBezTo>
                    <a:pt x="40976" y="61365"/>
                    <a:pt x="40302" y="61365"/>
                    <a:pt x="39628" y="60016"/>
                  </a:cubicBezTo>
                  <a:lnTo>
                    <a:pt x="9299" y="12812"/>
                  </a:lnTo>
                  <a:cubicBezTo>
                    <a:pt x="7951" y="10789"/>
                    <a:pt x="9299" y="8092"/>
                    <a:pt x="11995" y="8092"/>
                  </a:cubicBezTo>
                  <a:lnTo>
                    <a:pt x="71304" y="8092"/>
                  </a:lnTo>
                  <a:cubicBezTo>
                    <a:pt x="72652" y="8092"/>
                    <a:pt x="73326" y="8766"/>
                    <a:pt x="73326" y="10115"/>
                  </a:cubicBezTo>
                  <a:lnTo>
                    <a:pt x="73326" y="60016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00">
                <a:latin typeface="Aptos" panose="020B0004020202020204" pitchFamily="34" charset="0"/>
              </a:endParaRPr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78469E9F-E786-F6FA-499A-B3C970E20BC5}"/>
                </a:ext>
              </a:extLst>
            </p:cNvPr>
            <p:cNvSpPr txBox="1"/>
            <p:nvPr/>
          </p:nvSpPr>
          <p:spPr>
            <a:xfrm>
              <a:off x="1148609" y="4302541"/>
              <a:ext cx="536899" cy="45140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>
              <a:defPPr>
                <a:defRPr lang="en-US"/>
              </a:defPPr>
              <a:lvl1pPr algn="r">
                <a:defRPr sz="2000" b="1"/>
              </a:lvl1pPr>
            </a:lstStyle>
            <a:p>
              <a:r>
                <a:rPr lang="en-US" sz="1600" noProof="1">
                  <a:solidFill>
                    <a:schemeClr val="accent2">
                      <a:lumMod val="50000"/>
                    </a:schemeClr>
                  </a:solidFill>
                  <a:latin typeface="Aptos" panose="020B0004020202020204" pitchFamily="34" charset="0"/>
                </a:rPr>
                <a:t>09</a:t>
              </a:r>
            </a:p>
          </p:txBody>
        </p:sp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id="{20767AFE-2000-C808-E476-B3BE3226A07C}"/>
                </a:ext>
              </a:extLst>
            </p:cNvPr>
            <p:cNvSpPr txBox="1"/>
            <p:nvPr/>
          </p:nvSpPr>
          <p:spPr>
            <a:xfrm>
              <a:off x="1791991" y="4138395"/>
              <a:ext cx="1516545" cy="779698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sz="1600" b="1" noProof="1">
                  <a:latin typeface="Aptos" panose="020B0004020202020204" pitchFamily="34" charset="0"/>
                </a:rPr>
                <a:t>OPEX Structure</a:t>
              </a:r>
            </a:p>
          </p:txBody>
        </p: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D70C2FA1-0E73-D808-E504-42941AD7B6D8}"/>
              </a:ext>
            </a:extLst>
          </p:cNvPr>
          <p:cNvGrpSpPr/>
          <p:nvPr/>
        </p:nvGrpSpPr>
        <p:grpSpPr>
          <a:xfrm>
            <a:off x="4287670" y="1953434"/>
            <a:ext cx="2146554" cy="447030"/>
            <a:chOff x="1021148" y="2077457"/>
            <a:chExt cx="2862072" cy="596039"/>
          </a:xfrm>
        </p:grpSpPr>
        <p:sp>
          <p:nvSpPr>
            <p:cNvPr id="315" name="Freeform 28">
              <a:extLst>
                <a:ext uri="{FF2B5EF4-FFF2-40B4-BE49-F238E27FC236}">
                  <a16:creationId xmlns:a16="http://schemas.microsoft.com/office/drawing/2014/main" id="{A158A95B-387F-5B0E-11B2-9DD957B32804}"/>
                </a:ext>
              </a:extLst>
            </p:cNvPr>
            <p:cNvSpPr/>
            <p:nvPr/>
          </p:nvSpPr>
          <p:spPr>
            <a:xfrm>
              <a:off x="1021148" y="2077457"/>
              <a:ext cx="2862072" cy="596039"/>
            </a:xfrm>
            <a:custGeom>
              <a:avLst/>
              <a:gdLst>
                <a:gd name="connsiteX0" fmla="*/ 323468 w 330207"/>
                <a:gd name="connsiteY0" fmla="*/ 0 h 68782"/>
                <a:gd name="connsiteX1" fmla="*/ 41748 w 330207"/>
                <a:gd name="connsiteY1" fmla="*/ 0 h 68782"/>
                <a:gd name="connsiteX2" fmla="*/ 34334 w 330207"/>
                <a:gd name="connsiteY2" fmla="*/ 4046 h 68782"/>
                <a:gd name="connsiteX3" fmla="*/ 1309 w 330207"/>
                <a:gd name="connsiteY3" fmla="*/ 55296 h 68782"/>
                <a:gd name="connsiteX4" fmla="*/ 8723 w 330207"/>
                <a:gd name="connsiteY4" fmla="*/ 68782 h 68782"/>
                <a:gd name="connsiteX5" fmla="*/ 323468 w 330207"/>
                <a:gd name="connsiteY5" fmla="*/ 68782 h 68782"/>
                <a:gd name="connsiteX6" fmla="*/ 330208 w 330207"/>
                <a:gd name="connsiteY6" fmla="*/ 62039 h 68782"/>
                <a:gd name="connsiteX7" fmla="*/ 330208 w 330207"/>
                <a:gd name="connsiteY7" fmla="*/ 7418 h 68782"/>
                <a:gd name="connsiteX8" fmla="*/ 323468 w 330207"/>
                <a:gd name="connsiteY8" fmla="*/ 674 h 68782"/>
                <a:gd name="connsiteX9" fmla="*/ 73424 w 330207"/>
                <a:gd name="connsiteY9" fmla="*/ 57993 h 68782"/>
                <a:gd name="connsiteX10" fmla="*/ 71402 w 330207"/>
                <a:gd name="connsiteY10" fmla="*/ 60016 h 68782"/>
                <a:gd name="connsiteX11" fmla="*/ 12093 w 330207"/>
                <a:gd name="connsiteY11" fmla="*/ 60016 h 68782"/>
                <a:gd name="connsiteX12" fmla="*/ 9397 w 330207"/>
                <a:gd name="connsiteY12" fmla="*/ 55296 h 68782"/>
                <a:gd name="connsiteX13" fmla="*/ 39726 w 330207"/>
                <a:gd name="connsiteY13" fmla="*/ 8092 h 68782"/>
                <a:gd name="connsiteX14" fmla="*/ 42422 w 330207"/>
                <a:gd name="connsiteY14" fmla="*/ 6743 h 68782"/>
                <a:gd name="connsiteX15" fmla="*/ 71402 w 330207"/>
                <a:gd name="connsiteY15" fmla="*/ 6743 h 68782"/>
                <a:gd name="connsiteX16" fmla="*/ 73424 w 330207"/>
                <a:gd name="connsiteY16" fmla="*/ 8766 h 68782"/>
                <a:gd name="connsiteX17" fmla="*/ 73424 w 330207"/>
                <a:gd name="connsiteY17" fmla="*/ 58667 h 68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0207" h="68782">
                  <a:moveTo>
                    <a:pt x="323468" y="0"/>
                  </a:moveTo>
                  <a:lnTo>
                    <a:pt x="41748" y="0"/>
                  </a:lnTo>
                  <a:cubicBezTo>
                    <a:pt x="39052" y="0"/>
                    <a:pt x="36356" y="1349"/>
                    <a:pt x="34334" y="4046"/>
                  </a:cubicBezTo>
                  <a:lnTo>
                    <a:pt x="1309" y="55296"/>
                  </a:lnTo>
                  <a:cubicBezTo>
                    <a:pt x="-2061" y="60690"/>
                    <a:pt x="1309" y="68782"/>
                    <a:pt x="8723" y="68782"/>
                  </a:cubicBezTo>
                  <a:lnTo>
                    <a:pt x="323468" y="68782"/>
                  </a:lnTo>
                  <a:cubicBezTo>
                    <a:pt x="327512" y="68782"/>
                    <a:pt x="330208" y="65411"/>
                    <a:pt x="330208" y="62039"/>
                  </a:cubicBezTo>
                  <a:lnTo>
                    <a:pt x="330208" y="7418"/>
                  </a:lnTo>
                  <a:cubicBezTo>
                    <a:pt x="330208" y="3372"/>
                    <a:pt x="326838" y="674"/>
                    <a:pt x="323468" y="674"/>
                  </a:cubicBezTo>
                  <a:close/>
                  <a:moveTo>
                    <a:pt x="73424" y="57993"/>
                  </a:moveTo>
                  <a:cubicBezTo>
                    <a:pt x="73424" y="59342"/>
                    <a:pt x="72750" y="60016"/>
                    <a:pt x="71402" y="60016"/>
                  </a:cubicBezTo>
                  <a:lnTo>
                    <a:pt x="12093" y="60016"/>
                  </a:lnTo>
                  <a:cubicBezTo>
                    <a:pt x="9397" y="60016"/>
                    <a:pt x="8049" y="57319"/>
                    <a:pt x="9397" y="55296"/>
                  </a:cubicBezTo>
                  <a:lnTo>
                    <a:pt x="39726" y="8092"/>
                  </a:lnTo>
                  <a:cubicBezTo>
                    <a:pt x="39726" y="7418"/>
                    <a:pt x="41074" y="6743"/>
                    <a:pt x="42422" y="6743"/>
                  </a:cubicBezTo>
                  <a:lnTo>
                    <a:pt x="71402" y="6743"/>
                  </a:lnTo>
                  <a:cubicBezTo>
                    <a:pt x="72750" y="6743"/>
                    <a:pt x="73424" y="7418"/>
                    <a:pt x="73424" y="8766"/>
                  </a:cubicBezTo>
                  <a:lnTo>
                    <a:pt x="73424" y="58667"/>
                  </a:ln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00">
                <a:latin typeface="Aptos" panose="020B0004020202020204" pitchFamily="34" charset="0"/>
              </a:endParaRPr>
            </a:p>
          </p:txBody>
        </p: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342B92CE-9E1B-20E2-D166-8A45AFE8E6A7}"/>
                </a:ext>
              </a:extLst>
            </p:cNvPr>
            <p:cNvSpPr txBox="1"/>
            <p:nvPr/>
          </p:nvSpPr>
          <p:spPr>
            <a:xfrm>
              <a:off x="1148609" y="2149774"/>
              <a:ext cx="536899" cy="45140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>
              <a:defPPr>
                <a:defRPr lang="en-US"/>
              </a:defPPr>
              <a:lvl1pPr algn="r">
                <a:defRPr sz="2000" b="1"/>
              </a:lvl1pPr>
            </a:lstStyle>
            <a:p>
              <a:r>
                <a:rPr lang="en-US" sz="1600" noProof="1">
                  <a:solidFill>
                    <a:schemeClr val="accent4">
                      <a:lumMod val="50000"/>
                    </a:schemeClr>
                  </a:solidFill>
                  <a:latin typeface="Aptos" panose="020B0004020202020204" pitchFamily="34" charset="0"/>
                </a:rPr>
                <a:t>02</a:t>
              </a:r>
            </a:p>
          </p:txBody>
        </p: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2C175693-5A34-58F2-F808-358C91860859}"/>
                </a:ext>
              </a:extLst>
            </p:cNvPr>
            <p:cNvSpPr txBox="1"/>
            <p:nvPr/>
          </p:nvSpPr>
          <p:spPr>
            <a:xfrm>
              <a:off x="1791991" y="2149774"/>
              <a:ext cx="1516545" cy="451405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sz="1600" b="1" noProof="1">
                  <a:latin typeface="Aptos" panose="020B0004020202020204" pitchFamily="34" charset="0"/>
                </a:rPr>
                <a:t>Debt Levels</a:t>
              </a:r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800115A8-CE4A-F9DF-1D69-2B1AE71995D8}"/>
              </a:ext>
            </a:extLst>
          </p:cNvPr>
          <p:cNvGrpSpPr/>
          <p:nvPr/>
        </p:nvGrpSpPr>
        <p:grpSpPr>
          <a:xfrm>
            <a:off x="4555331" y="4106201"/>
            <a:ext cx="1878893" cy="447030"/>
            <a:chOff x="1378029" y="4947812"/>
            <a:chExt cx="2505191" cy="596039"/>
          </a:xfrm>
        </p:grpSpPr>
        <p:sp>
          <p:nvSpPr>
            <p:cNvPr id="319" name="Freeform 52">
              <a:extLst>
                <a:ext uri="{FF2B5EF4-FFF2-40B4-BE49-F238E27FC236}">
                  <a16:creationId xmlns:a16="http://schemas.microsoft.com/office/drawing/2014/main" id="{ACD45277-69BF-D033-FAC5-2596838865F4}"/>
                </a:ext>
              </a:extLst>
            </p:cNvPr>
            <p:cNvSpPr/>
            <p:nvPr/>
          </p:nvSpPr>
          <p:spPr>
            <a:xfrm flipH="1">
              <a:off x="1378029" y="4947812"/>
              <a:ext cx="2505191" cy="596039"/>
            </a:xfrm>
            <a:custGeom>
              <a:avLst/>
              <a:gdLst>
                <a:gd name="connsiteX0" fmla="*/ 6066 w 289095"/>
                <a:gd name="connsiteY0" fmla="*/ 68782 h 68782"/>
                <a:gd name="connsiteX1" fmla="*/ 247348 w 289095"/>
                <a:gd name="connsiteY1" fmla="*/ 68782 h 68782"/>
                <a:gd name="connsiteX2" fmla="*/ 254762 w 289095"/>
                <a:gd name="connsiteY2" fmla="*/ 64736 h 68782"/>
                <a:gd name="connsiteX3" fmla="*/ 287786 w 289095"/>
                <a:gd name="connsiteY3" fmla="*/ 13487 h 68782"/>
                <a:gd name="connsiteX4" fmla="*/ 280372 w 289095"/>
                <a:gd name="connsiteY4" fmla="*/ 0 h 68782"/>
                <a:gd name="connsiteX5" fmla="*/ 6740 w 289095"/>
                <a:gd name="connsiteY5" fmla="*/ 0 h 68782"/>
                <a:gd name="connsiteX6" fmla="*/ 0 w 289095"/>
                <a:gd name="connsiteY6" fmla="*/ 6743 h 68782"/>
                <a:gd name="connsiteX7" fmla="*/ 0 w 289095"/>
                <a:gd name="connsiteY7" fmla="*/ 61365 h 68782"/>
                <a:gd name="connsiteX8" fmla="*/ 6740 w 289095"/>
                <a:gd name="connsiteY8" fmla="*/ 68108 h 68782"/>
                <a:gd name="connsiteX9" fmla="*/ 215671 w 289095"/>
                <a:gd name="connsiteY9" fmla="*/ 10115 h 68782"/>
                <a:gd name="connsiteX10" fmla="*/ 217693 w 289095"/>
                <a:gd name="connsiteY10" fmla="*/ 8092 h 68782"/>
                <a:gd name="connsiteX11" fmla="*/ 277003 w 289095"/>
                <a:gd name="connsiteY11" fmla="*/ 8092 h 68782"/>
                <a:gd name="connsiteX12" fmla="*/ 279699 w 289095"/>
                <a:gd name="connsiteY12" fmla="*/ 12812 h 68782"/>
                <a:gd name="connsiteX13" fmla="*/ 249370 w 289095"/>
                <a:gd name="connsiteY13" fmla="*/ 60016 h 68782"/>
                <a:gd name="connsiteX14" fmla="*/ 246674 w 289095"/>
                <a:gd name="connsiteY14" fmla="*/ 61365 h 68782"/>
                <a:gd name="connsiteX15" fmla="*/ 217693 w 289095"/>
                <a:gd name="connsiteY15" fmla="*/ 61365 h 68782"/>
                <a:gd name="connsiteX16" fmla="*/ 215671 w 289095"/>
                <a:gd name="connsiteY16" fmla="*/ 59342 h 68782"/>
                <a:gd name="connsiteX17" fmla="*/ 215671 w 289095"/>
                <a:gd name="connsiteY17" fmla="*/ 9441 h 68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9095" h="68782">
                  <a:moveTo>
                    <a:pt x="6066" y="68782"/>
                  </a:moveTo>
                  <a:lnTo>
                    <a:pt x="247348" y="68782"/>
                  </a:lnTo>
                  <a:cubicBezTo>
                    <a:pt x="250044" y="68782"/>
                    <a:pt x="252740" y="67434"/>
                    <a:pt x="254762" y="64736"/>
                  </a:cubicBezTo>
                  <a:lnTo>
                    <a:pt x="287786" y="13487"/>
                  </a:lnTo>
                  <a:cubicBezTo>
                    <a:pt x="291156" y="8092"/>
                    <a:pt x="287786" y="0"/>
                    <a:pt x="280372" y="0"/>
                  </a:cubicBezTo>
                  <a:lnTo>
                    <a:pt x="6740" y="0"/>
                  </a:lnTo>
                  <a:cubicBezTo>
                    <a:pt x="2696" y="0"/>
                    <a:pt x="0" y="3372"/>
                    <a:pt x="0" y="6743"/>
                  </a:cubicBezTo>
                  <a:lnTo>
                    <a:pt x="0" y="61365"/>
                  </a:lnTo>
                  <a:cubicBezTo>
                    <a:pt x="0" y="65410"/>
                    <a:pt x="3370" y="68108"/>
                    <a:pt x="6740" y="68108"/>
                  </a:cubicBezTo>
                  <a:close/>
                  <a:moveTo>
                    <a:pt x="215671" y="10115"/>
                  </a:moveTo>
                  <a:cubicBezTo>
                    <a:pt x="215671" y="8766"/>
                    <a:pt x="216345" y="8092"/>
                    <a:pt x="217693" y="8092"/>
                  </a:cubicBezTo>
                  <a:lnTo>
                    <a:pt x="277003" y="8092"/>
                  </a:lnTo>
                  <a:cubicBezTo>
                    <a:pt x="279699" y="8092"/>
                    <a:pt x="281046" y="10789"/>
                    <a:pt x="279699" y="12812"/>
                  </a:cubicBezTo>
                  <a:lnTo>
                    <a:pt x="249370" y="60016"/>
                  </a:lnTo>
                  <a:cubicBezTo>
                    <a:pt x="249370" y="60690"/>
                    <a:pt x="248022" y="61365"/>
                    <a:pt x="246674" y="61365"/>
                  </a:cubicBezTo>
                  <a:lnTo>
                    <a:pt x="217693" y="61365"/>
                  </a:lnTo>
                  <a:cubicBezTo>
                    <a:pt x="216345" y="61365"/>
                    <a:pt x="215671" y="60690"/>
                    <a:pt x="215671" y="59342"/>
                  </a:cubicBezTo>
                  <a:lnTo>
                    <a:pt x="215671" y="9441"/>
                  </a:lnTo>
                  <a:close/>
                </a:path>
              </a:pathLst>
            </a:custGeom>
            <a:solidFill>
              <a:srgbClr val="805AAB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00">
                <a:latin typeface="Aptos" panose="020B0004020202020204" pitchFamily="34" charset="0"/>
              </a:endParaRPr>
            </a:p>
          </p:txBody>
        </p:sp>
        <p:sp>
          <p:nvSpPr>
            <p:cNvPr id="320" name="TextBox 319">
              <a:extLst>
                <a:ext uri="{FF2B5EF4-FFF2-40B4-BE49-F238E27FC236}">
                  <a16:creationId xmlns:a16="http://schemas.microsoft.com/office/drawing/2014/main" id="{0337D418-9443-F725-F261-D5C1105CE0D7}"/>
                </a:ext>
              </a:extLst>
            </p:cNvPr>
            <p:cNvSpPr txBox="1"/>
            <p:nvPr/>
          </p:nvSpPr>
          <p:spPr>
            <a:xfrm>
              <a:off x="1497340" y="5020129"/>
              <a:ext cx="536899" cy="45140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>
              <a:defPPr>
                <a:defRPr lang="en-US"/>
              </a:defPPr>
              <a:lvl1pPr algn="r">
                <a:defRPr sz="2000" b="1"/>
              </a:lvl1pPr>
            </a:lstStyle>
            <a:p>
              <a:r>
                <a:rPr lang="en-US" sz="1600" noProof="1">
                  <a:solidFill>
                    <a:srgbClr val="805AAB"/>
                  </a:solidFill>
                  <a:latin typeface="Aptos" panose="020B0004020202020204" pitchFamily="34" charset="0"/>
                </a:rPr>
                <a:t>11</a:t>
              </a:r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3F38ACA2-F3D8-65A3-9BD1-CE7083815B24}"/>
                </a:ext>
              </a:extLst>
            </p:cNvPr>
            <p:cNvSpPr txBox="1"/>
            <p:nvPr/>
          </p:nvSpPr>
          <p:spPr>
            <a:xfrm>
              <a:off x="2133634" y="5020129"/>
              <a:ext cx="1516546" cy="451405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sz="1600" b="1" noProof="1">
                  <a:solidFill>
                    <a:schemeClr val="bg1"/>
                  </a:solidFill>
                  <a:latin typeface="Aptos" panose="020B0004020202020204" pitchFamily="34" charset="0"/>
                </a:rPr>
                <a:t>HC</a:t>
              </a:r>
            </a:p>
          </p:txBody>
        </p:sp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E2488D50-DFC6-66F7-2284-9641F959FC07}"/>
              </a:ext>
            </a:extLst>
          </p:cNvPr>
          <p:cNvGrpSpPr/>
          <p:nvPr/>
        </p:nvGrpSpPr>
        <p:grpSpPr>
          <a:xfrm>
            <a:off x="4555331" y="1346369"/>
            <a:ext cx="1878893" cy="584775"/>
            <a:chOff x="1378029" y="1268037"/>
            <a:chExt cx="2505191" cy="779699"/>
          </a:xfrm>
        </p:grpSpPr>
        <p:sp>
          <p:nvSpPr>
            <p:cNvPr id="323" name="Freeform 27">
              <a:extLst>
                <a:ext uri="{FF2B5EF4-FFF2-40B4-BE49-F238E27FC236}">
                  <a16:creationId xmlns:a16="http://schemas.microsoft.com/office/drawing/2014/main" id="{1144AD50-17D3-0C63-64AA-848EF50C02AF}"/>
                </a:ext>
              </a:extLst>
            </p:cNvPr>
            <p:cNvSpPr/>
            <p:nvPr/>
          </p:nvSpPr>
          <p:spPr>
            <a:xfrm>
              <a:off x="1378029" y="1359868"/>
              <a:ext cx="2505191" cy="596039"/>
            </a:xfrm>
            <a:custGeom>
              <a:avLst/>
              <a:gdLst>
                <a:gd name="connsiteX0" fmla="*/ 283030 w 289095"/>
                <a:gd name="connsiteY0" fmla="*/ 0 h 68782"/>
                <a:gd name="connsiteX1" fmla="*/ 41748 w 289095"/>
                <a:gd name="connsiteY1" fmla="*/ 0 h 68782"/>
                <a:gd name="connsiteX2" fmla="*/ 34334 w 289095"/>
                <a:gd name="connsiteY2" fmla="*/ 4046 h 68782"/>
                <a:gd name="connsiteX3" fmla="*/ 1309 w 289095"/>
                <a:gd name="connsiteY3" fmla="*/ 55295 h 68782"/>
                <a:gd name="connsiteX4" fmla="*/ 8723 w 289095"/>
                <a:gd name="connsiteY4" fmla="*/ 68782 h 68782"/>
                <a:gd name="connsiteX5" fmla="*/ 282356 w 289095"/>
                <a:gd name="connsiteY5" fmla="*/ 68782 h 68782"/>
                <a:gd name="connsiteX6" fmla="*/ 289096 w 289095"/>
                <a:gd name="connsiteY6" fmla="*/ 62039 h 68782"/>
                <a:gd name="connsiteX7" fmla="*/ 289096 w 289095"/>
                <a:gd name="connsiteY7" fmla="*/ 7418 h 68782"/>
                <a:gd name="connsiteX8" fmla="*/ 282356 w 289095"/>
                <a:gd name="connsiteY8" fmla="*/ 674 h 68782"/>
                <a:gd name="connsiteX9" fmla="*/ 73424 w 289095"/>
                <a:gd name="connsiteY9" fmla="*/ 57993 h 68782"/>
                <a:gd name="connsiteX10" fmla="*/ 71402 w 289095"/>
                <a:gd name="connsiteY10" fmla="*/ 60016 h 68782"/>
                <a:gd name="connsiteX11" fmla="*/ 12093 w 289095"/>
                <a:gd name="connsiteY11" fmla="*/ 60016 h 68782"/>
                <a:gd name="connsiteX12" fmla="*/ 9397 w 289095"/>
                <a:gd name="connsiteY12" fmla="*/ 55295 h 68782"/>
                <a:gd name="connsiteX13" fmla="*/ 39726 w 289095"/>
                <a:gd name="connsiteY13" fmla="*/ 8092 h 68782"/>
                <a:gd name="connsiteX14" fmla="*/ 42422 w 289095"/>
                <a:gd name="connsiteY14" fmla="*/ 6743 h 68782"/>
                <a:gd name="connsiteX15" fmla="*/ 71402 w 289095"/>
                <a:gd name="connsiteY15" fmla="*/ 6743 h 68782"/>
                <a:gd name="connsiteX16" fmla="*/ 73424 w 289095"/>
                <a:gd name="connsiteY16" fmla="*/ 8766 h 68782"/>
                <a:gd name="connsiteX17" fmla="*/ 73424 w 289095"/>
                <a:gd name="connsiteY17" fmla="*/ 58667 h 68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9095" h="68782">
                  <a:moveTo>
                    <a:pt x="283030" y="0"/>
                  </a:moveTo>
                  <a:lnTo>
                    <a:pt x="41748" y="0"/>
                  </a:lnTo>
                  <a:cubicBezTo>
                    <a:pt x="39052" y="0"/>
                    <a:pt x="36356" y="1349"/>
                    <a:pt x="34334" y="4046"/>
                  </a:cubicBezTo>
                  <a:lnTo>
                    <a:pt x="1309" y="55295"/>
                  </a:lnTo>
                  <a:cubicBezTo>
                    <a:pt x="-2061" y="60690"/>
                    <a:pt x="1309" y="68782"/>
                    <a:pt x="8723" y="68782"/>
                  </a:cubicBezTo>
                  <a:lnTo>
                    <a:pt x="282356" y="68782"/>
                  </a:lnTo>
                  <a:cubicBezTo>
                    <a:pt x="286400" y="68782"/>
                    <a:pt x="289096" y="65410"/>
                    <a:pt x="289096" y="62039"/>
                  </a:cubicBezTo>
                  <a:lnTo>
                    <a:pt x="289096" y="7418"/>
                  </a:lnTo>
                  <a:cubicBezTo>
                    <a:pt x="289096" y="3372"/>
                    <a:pt x="285726" y="674"/>
                    <a:pt x="282356" y="674"/>
                  </a:cubicBezTo>
                  <a:close/>
                  <a:moveTo>
                    <a:pt x="73424" y="57993"/>
                  </a:moveTo>
                  <a:cubicBezTo>
                    <a:pt x="73424" y="59342"/>
                    <a:pt x="72750" y="60016"/>
                    <a:pt x="71402" y="60016"/>
                  </a:cubicBezTo>
                  <a:lnTo>
                    <a:pt x="12093" y="60016"/>
                  </a:lnTo>
                  <a:cubicBezTo>
                    <a:pt x="9397" y="60016"/>
                    <a:pt x="8049" y="57319"/>
                    <a:pt x="9397" y="55295"/>
                  </a:cubicBezTo>
                  <a:lnTo>
                    <a:pt x="39726" y="8092"/>
                  </a:lnTo>
                  <a:cubicBezTo>
                    <a:pt x="39726" y="7418"/>
                    <a:pt x="41074" y="6743"/>
                    <a:pt x="42422" y="6743"/>
                  </a:cubicBezTo>
                  <a:lnTo>
                    <a:pt x="71402" y="6743"/>
                  </a:lnTo>
                  <a:cubicBezTo>
                    <a:pt x="72750" y="6743"/>
                    <a:pt x="73424" y="7418"/>
                    <a:pt x="73424" y="8766"/>
                  </a:cubicBezTo>
                  <a:lnTo>
                    <a:pt x="73424" y="58667"/>
                  </a:ln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00">
                <a:latin typeface="Aptos" panose="020B0004020202020204" pitchFamily="34" charset="0"/>
              </a:endParaRPr>
            </a:p>
          </p:txBody>
        </p:sp>
        <p:sp>
          <p:nvSpPr>
            <p:cNvPr id="324" name="TextBox 323">
              <a:extLst>
                <a:ext uri="{FF2B5EF4-FFF2-40B4-BE49-F238E27FC236}">
                  <a16:creationId xmlns:a16="http://schemas.microsoft.com/office/drawing/2014/main" id="{B81C8C01-878D-132B-ECA9-0216588E4766}"/>
                </a:ext>
              </a:extLst>
            </p:cNvPr>
            <p:cNvSpPr txBox="1"/>
            <p:nvPr/>
          </p:nvSpPr>
          <p:spPr>
            <a:xfrm>
              <a:off x="1497340" y="1432184"/>
              <a:ext cx="536899" cy="45140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>
              <a:defPPr>
                <a:defRPr lang="en-US"/>
              </a:defPPr>
              <a:lvl1pPr algn="r">
                <a:defRPr sz="2000" b="1"/>
              </a:lvl1pPr>
            </a:lstStyle>
            <a:p>
              <a:r>
                <a:rPr lang="en-US" sz="1600" noProof="1">
                  <a:solidFill>
                    <a:schemeClr val="accent3">
                      <a:lumMod val="50000"/>
                    </a:schemeClr>
                  </a:solidFill>
                  <a:latin typeface="Aptos" panose="020B0004020202020204" pitchFamily="34" charset="0"/>
                </a:rPr>
                <a:t>01</a:t>
              </a:r>
            </a:p>
          </p:txBody>
        </p:sp>
        <p:sp>
          <p:nvSpPr>
            <p:cNvPr id="325" name="TextBox 324">
              <a:extLst>
                <a:ext uri="{FF2B5EF4-FFF2-40B4-BE49-F238E27FC236}">
                  <a16:creationId xmlns:a16="http://schemas.microsoft.com/office/drawing/2014/main" id="{1E2DF1F8-2FD1-9EFD-8A73-030468EB841A}"/>
                </a:ext>
              </a:extLst>
            </p:cNvPr>
            <p:cNvSpPr txBox="1"/>
            <p:nvPr/>
          </p:nvSpPr>
          <p:spPr>
            <a:xfrm>
              <a:off x="2133634" y="1268037"/>
              <a:ext cx="1516546" cy="779699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sz="1600" b="1" noProof="1">
                  <a:latin typeface="Aptos" panose="020B0004020202020204" pitchFamily="34" charset="0"/>
                </a:rPr>
                <a:t>Operational Mgmt.</a:t>
              </a:r>
            </a:p>
          </p:txBody>
        </p:sp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17188CC9-B1E0-1629-C13A-3E6B3D129798}"/>
              </a:ext>
            </a:extLst>
          </p:cNvPr>
          <p:cNvGrpSpPr/>
          <p:nvPr/>
        </p:nvGrpSpPr>
        <p:grpSpPr>
          <a:xfrm>
            <a:off x="9753394" y="2422751"/>
            <a:ext cx="2414016" cy="584775"/>
            <a:chOff x="8308780" y="2703214"/>
            <a:chExt cx="3218688" cy="779699"/>
          </a:xfrm>
        </p:grpSpPr>
        <p:sp>
          <p:nvSpPr>
            <p:cNvPr id="327" name="Freeform 29">
              <a:extLst>
                <a:ext uri="{FF2B5EF4-FFF2-40B4-BE49-F238E27FC236}">
                  <a16:creationId xmlns:a16="http://schemas.microsoft.com/office/drawing/2014/main" id="{609D1D30-4C60-A0E0-55AD-4AD2A9496A8A}"/>
                </a:ext>
              </a:extLst>
            </p:cNvPr>
            <p:cNvSpPr/>
            <p:nvPr/>
          </p:nvSpPr>
          <p:spPr>
            <a:xfrm flipH="1">
              <a:off x="8308780" y="2795046"/>
              <a:ext cx="3218688" cy="596039"/>
            </a:xfrm>
            <a:custGeom>
              <a:avLst/>
              <a:gdLst>
                <a:gd name="connsiteX0" fmla="*/ 364581 w 370646"/>
                <a:gd name="connsiteY0" fmla="*/ 0 h 68782"/>
                <a:gd name="connsiteX1" fmla="*/ 41748 w 370646"/>
                <a:gd name="connsiteY1" fmla="*/ 0 h 68782"/>
                <a:gd name="connsiteX2" fmla="*/ 34334 w 370646"/>
                <a:gd name="connsiteY2" fmla="*/ 4046 h 68782"/>
                <a:gd name="connsiteX3" fmla="*/ 1309 w 370646"/>
                <a:gd name="connsiteY3" fmla="*/ 55296 h 68782"/>
                <a:gd name="connsiteX4" fmla="*/ 8723 w 370646"/>
                <a:gd name="connsiteY4" fmla="*/ 68782 h 68782"/>
                <a:gd name="connsiteX5" fmla="*/ 363907 w 370646"/>
                <a:gd name="connsiteY5" fmla="*/ 68782 h 68782"/>
                <a:gd name="connsiteX6" fmla="*/ 370646 w 370646"/>
                <a:gd name="connsiteY6" fmla="*/ 62039 h 68782"/>
                <a:gd name="connsiteX7" fmla="*/ 370646 w 370646"/>
                <a:gd name="connsiteY7" fmla="*/ 7418 h 68782"/>
                <a:gd name="connsiteX8" fmla="*/ 363907 w 370646"/>
                <a:gd name="connsiteY8" fmla="*/ 674 h 68782"/>
                <a:gd name="connsiteX9" fmla="*/ 73424 w 370646"/>
                <a:gd name="connsiteY9" fmla="*/ 57993 h 68782"/>
                <a:gd name="connsiteX10" fmla="*/ 71403 w 370646"/>
                <a:gd name="connsiteY10" fmla="*/ 60016 h 68782"/>
                <a:gd name="connsiteX11" fmla="*/ 12093 w 370646"/>
                <a:gd name="connsiteY11" fmla="*/ 60016 h 68782"/>
                <a:gd name="connsiteX12" fmla="*/ 9397 w 370646"/>
                <a:gd name="connsiteY12" fmla="*/ 55296 h 68782"/>
                <a:gd name="connsiteX13" fmla="*/ 39726 w 370646"/>
                <a:gd name="connsiteY13" fmla="*/ 8092 h 68782"/>
                <a:gd name="connsiteX14" fmla="*/ 42422 w 370646"/>
                <a:gd name="connsiteY14" fmla="*/ 6743 h 68782"/>
                <a:gd name="connsiteX15" fmla="*/ 71403 w 370646"/>
                <a:gd name="connsiteY15" fmla="*/ 6743 h 68782"/>
                <a:gd name="connsiteX16" fmla="*/ 73424 w 370646"/>
                <a:gd name="connsiteY16" fmla="*/ 8766 h 68782"/>
                <a:gd name="connsiteX17" fmla="*/ 73424 w 370646"/>
                <a:gd name="connsiteY17" fmla="*/ 58667 h 68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0646" h="68782">
                  <a:moveTo>
                    <a:pt x="364581" y="0"/>
                  </a:moveTo>
                  <a:lnTo>
                    <a:pt x="41748" y="0"/>
                  </a:lnTo>
                  <a:cubicBezTo>
                    <a:pt x="39052" y="0"/>
                    <a:pt x="36356" y="1349"/>
                    <a:pt x="34334" y="4046"/>
                  </a:cubicBezTo>
                  <a:lnTo>
                    <a:pt x="1309" y="55296"/>
                  </a:lnTo>
                  <a:cubicBezTo>
                    <a:pt x="-2061" y="60690"/>
                    <a:pt x="1309" y="68782"/>
                    <a:pt x="8723" y="68782"/>
                  </a:cubicBezTo>
                  <a:lnTo>
                    <a:pt x="363907" y="68782"/>
                  </a:lnTo>
                  <a:cubicBezTo>
                    <a:pt x="367951" y="68782"/>
                    <a:pt x="370646" y="65411"/>
                    <a:pt x="370646" y="62039"/>
                  </a:cubicBezTo>
                  <a:lnTo>
                    <a:pt x="370646" y="7418"/>
                  </a:lnTo>
                  <a:cubicBezTo>
                    <a:pt x="370646" y="3372"/>
                    <a:pt x="367276" y="674"/>
                    <a:pt x="363907" y="674"/>
                  </a:cubicBezTo>
                  <a:close/>
                  <a:moveTo>
                    <a:pt x="73424" y="57993"/>
                  </a:moveTo>
                  <a:cubicBezTo>
                    <a:pt x="73424" y="59342"/>
                    <a:pt x="72750" y="60016"/>
                    <a:pt x="71403" y="60016"/>
                  </a:cubicBezTo>
                  <a:lnTo>
                    <a:pt x="12093" y="60016"/>
                  </a:lnTo>
                  <a:cubicBezTo>
                    <a:pt x="9397" y="60016"/>
                    <a:pt x="8049" y="57319"/>
                    <a:pt x="9397" y="55296"/>
                  </a:cubicBezTo>
                  <a:lnTo>
                    <a:pt x="39726" y="8092"/>
                  </a:lnTo>
                  <a:cubicBezTo>
                    <a:pt x="39726" y="7418"/>
                    <a:pt x="41074" y="6743"/>
                    <a:pt x="42422" y="6743"/>
                  </a:cubicBezTo>
                  <a:lnTo>
                    <a:pt x="71403" y="6743"/>
                  </a:lnTo>
                  <a:cubicBezTo>
                    <a:pt x="72750" y="6743"/>
                    <a:pt x="73424" y="7418"/>
                    <a:pt x="73424" y="8766"/>
                  </a:cubicBezTo>
                  <a:lnTo>
                    <a:pt x="73424" y="58667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00">
                <a:latin typeface="Aptos" panose="020B0004020202020204" pitchFamily="34" charset="0"/>
              </a:endParaRPr>
            </a:p>
          </p:txBody>
        </p:sp>
        <p:sp>
          <p:nvSpPr>
            <p:cNvPr id="328" name="TextBox 327">
              <a:extLst>
                <a:ext uri="{FF2B5EF4-FFF2-40B4-BE49-F238E27FC236}">
                  <a16:creationId xmlns:a16="http://schemas.microsoft.com/office/drawing/2014/main" id="{5B65DA0B-3724-9688-12A9-F64D7EEA5CA2}"/>
                </a:ext>
              </a:extLst>
            </p:cNvPr>
            <p:cNvSpPr txBox="1"/>
            <p:nvPr/>
          </p:nvSpPr>
          <p:spPr>
            <a:xfrm>
              <a:off x="10862287" y="2867363"/>
              <a:ext cx="536899" cy="45140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r>
                <a:rPr lang="en-US" sz="1600" noProof="1">
                  <a:solidFill>
                    <a:schemeClr val="accent1">
                      <a:lumMod val="75000"/>
                    </a:schemeClr>
                  </a:solidFill>
                  <a:latin typeface="Aptos" panose="020B0004020202020204" pitchFamily="34" charset="0"/>
                </a:rPr>
                <a:t>06</a:t>
              </a:r>
            </a:p>
          </p:txBody>
        </p:sp>
        <p:sp>
          <p:nvSpPr>
            <p:cNvPr id="329" name="TextBox 328">
              <a:extLst>
                <a:ext uri="{FF2B5EF4-FFF2-40B4-BE49-F238E27FC236}">
                  <a16:creationId xmlns:a16="http://schemas.microsoft.com/office/drawing/2014/main" id="{DBE582E7-31C3-77A8-6E19-B34E70925ADE}"/>
                </a:ext>
              </a:extLst>
            </p:cNvPr>
            <p:cNvSpPr txBox="1"/>
            <p:nvPr/>
          </p:nvSpPr>
          <p:spPr>
            <a:xfrm>
              <a:off x="9107195" y="2703214"/>
              <a:ext cx="1516545" cy="779699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r"/>
              <a:r>
                <a:rPr lang="en-US" sz="1600" b="1" noProof="1">
                  <a:latin typeface="Aptos" panose="020B0004020202020204" pitchFamily="34" charset="0"/>
                </a:rPr>
                <a:t>Capital Raise</a:t>
              </a:r>
            </a:p>
          </p:txBody>
        </p:sp>
      </p:grp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A829B087-5A1C-5A3E-5CA2-7A95BF45A402}"/>
              </a:ext>
            </a:extLst>
          </p:cNvPr>
          <p:cNvGrpSpPr/>
          <p:nvPr/>
        </p:nvGrpSpPr>
        <p:grpSpPr>
          <a:xfrm>
            <a:off x="9753394" y="3029818"/>
            <a:ext cx="2414016" cy="447030"/>
            <a:chOff x="8308780" y="3512635"/>
            <a:chExt cx="3218688" cy="596039"/>
          </a:xfrm>
        </p:grpSpPr>
        <p:sp>
          <p:nvSpPr>
            <p:cNvPr id="331" name="Freeform 54">
              <a:extLst>
                <a:ext uri="{FF2B5EF4-FFF2-40B4-BE49-F238E27FC236}">
                  <a16:creationId xmlns:a16="http://schemas.microsoft.com/office/drawing/2014/main" id="{499108B0-0ADB-9C76-B4BD-9BA5FB89BF11}"/>
                </a:ext>
              </a:extLst>
            </p:cNvPr>
            <p:cNvSpPr/>
            <p:nvPr/>
          </p:nvSpPr>
          <p:spPr>
            <a:xfrm>
              <a:off x="8308780" y="3512635"/>
              <a:ext cx="3218688" cy="596039"/>
            </a:xfrm>
            <a:custGeom>
              <a:avLst/>
              <a:gdLst>
                <a:gd name="connsiteX0" fmla="*/ 6066 w 370646"/>
                <a:gd name="connsiteY0" fmla="*/ 68782 h 68782"/>
                <a:gd name="connsiteX1" fmla="*/ 328899 w 370646"/>
                <a:gd name="connsiteY1" fmla="*/ 68782 h 68782"/>
                <a:gd name="connsiteX2" fmla="*/ 336312 w 370646"/>
                <a:gd name="connsiteY2" fmla="*/ 64736 h 68782"/>
                <a:gd name="connsiteX3" fmla="*/ 369337 w 370646"/>
                <a:gd name="connsiteY3" fmla="*/ 13487 h 68782"/>
                <a:gd name="connsiteX4" fmla="*/ 361923 w 370646"/>
                <a:gd name="connsiteY4" fmla="*/ 0 h 68782"/>
                <a:gd name="connsiteX5" fmla="*/ 6740 w 370646"/>
                <a:gd name="connsiteY5" fmla="*/ 0 h 68782"/>
                <a:gd name="connsiteX6" fmla="*/ 0 w 370646"/>
                <a:gd name="connsiteY6" fmla="*/ 6743 h 68782"/>
                <a:gd name="connsiteX7" fmla="*/ 0 w 370646"/>
                <a:gd name="connsiteY7" fmla="*/ 61365 h 68782"/>
                <a:gd name="connsiteX8" fmla="*/ 6740 w 370646"/>
                <a:gd name="connsiteY8" fmla="*/ 68108 h 68782"/>
                <a:gd name="connsiteX9" fmla="*/ 297222 w 370646"/>
                <a:gd name="connsiteY9" fmla="*/ 10115 h 68782"/>
                <a:gd name="connsiteX10" fmla="*/ 299244 w 370646"/>
                <a:gd name="connsiteY10" fmla="*/ 8092 h 68782"/>
                <a:gd name="connsiteX11" fmla="*/ 358553 w 370646"/>
                <a:gd name="connsiteY11" fmla="*/ 8092 h 68782"/>
                <a:gd name="connsiteX12" fmla="*/ 361249 w 370646"/>
                <a:gd name="connsiteY12" fmla="*/ 12812 h 68782"/>
                <a:gd name="connsiteX13" fmla="*/ 330920 w 370646"/>
                <a:gd name="connsiteY13" fmla="*/ 60016 h 68782"/>
                <a:gd name="connsiteX14" fmla="*/ 328225 w 370646"/>
                <a:gd name="connsiteY14" fmla="*/ 61365 h 68782"/>
                <a:gd name="connsiteX15" fmla="*/ 299244 w 370646"/>
                <a:gd name="connsiteY15" fmla="*/ 61365 h 68782"/>
                <a:gd name="connsiteX16" fmla="*/ 297222 w 370646"/>
                <a:gd name="connsiteY16" fmla="*/ 59342 h 68782"/>
                <a:gd name="connsiteX17" fmla="*/ 297222 w 370646"/>
                <a:gd name="connsiteY17" fmla="*/ 9441 h 68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0646" h="68782">
                  <a:moveTo>
                    <a:pt x="6066" y="68782"/>
                  </a:moveTo>
                  <a:lnTo>
                    <a:pt x="328899" y="68782"/>
                  </a:lnTo>
                  <a:cubicBezTo>
                    <a:pt x="331594" y="68782"/>
                    <a:pt x="334290" y="67434"/>
                    <a:pt x="336312" y="64736"/>
                  </a:cubicBezTo>
                  <a:lnTo>
                    <a:pt x="369337" y="13487"/>
                  </a:lnTo>
                  <a:cubicBezTo>
                    <a:pt x="372707" y="8092"/>
                    <a:pt x="369337" y="0"/>
                    <a:pt x="361923" y="0"/>
                  </a:cubicBezTo>
                  <a:lnTo>
                    <a:pt x="6740" y="0"/>
                  </a:lnTo>
                  <a:cubicBezTo>
                    <a:pt x="2696" y="0"/>
                    <a:pt x="0" y="3372"/>
                    <a:pt x="0" y="6743"/>
                  </a:cubicBezTo>
                  <a:lnTo>
                    <a:pt x="0" y="61365"/>
                  </a:lnTo>
                  <a:cubicBezTo>
                    <a:pt x="0" y="65411"/>
                    <a:pt x="3370" y="68108"/>
                    <a:pt x="6740" y="68108"/>
                  </a:cubicBezTo>
                  <a:close/>
                  <a:moveTo>
                    <a:pt x="297222" y="10115"/>
                  </a:moveTo>
                  <a:cubicBezTo>
                    <a:pt x="297222" y="8766"/>
                    <a:pt x="297896" y="8092"/>
                    <a:pt x="299244" y="8092"/>
                  </a:cubicBezTo>
                  <a:lnTo>
                    <a:pt x="358553" y="8092"/>
                  </a:lnTo>
                  <a:cubicBezTo>
                    <a:pt x="361249" y="8092"/>
                    <a:pt x="362597" y="10789"/>
                    <a:pt x="361249" y="12812"/>
                  </a:cubicBezTo>
                  <a:lnTo>
                    <a:pt x="330920" y="60016"/>
                  </a:lnTo>
                  <a:cubicBezTo>
                    <a:pt x="330920" y="60690"/>
                    <a:pt x="329573" y="61365"/>
                    <a:pt x="328225" y="61365"/>
                  </a:cubicBezTo>
                  <a:lnTo>
                    <a:pt x="299244" y="61365"/>
                  </a:lnTo>
                  <a:cubicBezTo>
                    <a:pt x="297896" y="61365"/>
                    <a:pt x="297222" y="60690"/>
                    <a:pt x="297222" y="59342"/>
                  </a:cubicBezTo>
                  <a:lnTo>
                    <a:pt x="297222" y="9441"/>
                  </a:lnTo>
                  <a:close/>
                </a:path>
              </a:pathLst>
            </a:custGeom>
            <a:solidFill>
              <a:schemeClr val="accent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00">
                <a:latin typeface="Aptos" panose="020B0004020202020204" pitchFamily="34" charset="0"/>
              </a:endParaRPr>
            </a:p>
          </p:txBody>
        </p:sp>
        <p:sp>
          <p:nvSpPr>
            <p:cNvPr id="332" name="TextBox 331">
              <a:extLst>
                <a:ext uri="{FF2B5EF4-FFF2-40B4-BE49-F238E27FC236}">
                  <a16:creationId xmlns:a16="http://schemas.microsoft.com/office/drawing/2014/main" id="{908197D7-3001-1FD8-C9A1-63387AA41202}"/>
                </a:ext>
              </a:extLst>
            </p:cNvPr>
            <p:cNvSpPr txBox="1"/>
            <p:nvPr/>
          </p:nvSpPr>
          <p:spPr>
            <a:xfrm>
              <a:off x="10862287" y="3584952"/>
              <a:ext cx="536899" cy="45140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r>
                <a:rPr lang="en-US" sz="1600" noProof="1">
                  <a:solidFill>
                    <a:schemeClr val="accent5">
                      <a:lumMod val="50000"/>
                    </a:schemeClr>
                  </a:solidFill>
                  <a:latin typeface="Aptos" panose="020B0004020202020204" pitchFamily="34" charset="0"/>
                </a:rPr>
                <a:t>08</a:t>
              </a:r>
            </a:p>
          </p:txBody>
        </p:sp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6F0EA8DB-73F0-C7AE-B116-1387AD7C7100}"/>
                </a:ext>
              </a:extLst>
            </p:cNvPr>
            <p:cNvSpPr txBox="1"/>
            <p:nvPr/>
          </p:nvSpPr>
          <p:spPr>
            <a:xfrm>
              <a:off x="9107195" y="3584952"/>
              <a:ext cx="1516545" cy="451405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r"/>
              <a:r>
                <a:rPr lang="en-US" sz="1600" b="1" noProof="1">
                  <a:latin typeface="Aptos" panose="020B0004020202020204" pitchFamily="34" charset="0"/>
                </a:rPr>
                <a:t>M&amp;A</a:t>
              </a: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0C7623ED-5713-B5B5-55DC-A59C989E06C6}"/>
              </a:ext>
            </a:extLst>
          </p:cNvPr>
          <p:cNvGrpSpPr/>
          <p:nvPr/>
        </p:nvGrpSpPr>
        <p:grpSpPr>
          <a:xfrm>
            <a:off x="9753394" y="3499141"/>
            <a:ext cx="2146554" cy="584775"/>
            <a:chOff x="8308780" y="4138394"/>
            <a:chExt cx="2862072" cy="779698"/>
          </a:xfrm>
        </p:grpSpPr>
        <p:sp>
          <p:nvSpPr>
            <p:cNvPr id="335" name="Freeform 53">
              <a:extLst>
                <a:ext uri="{FF2B5EF4-FFF2-40B4-BE49-F238E27FC236}">
                  <a16:creationId xmlns:a16="http://schemas.microsoft.com/office/drawing/2014/main" id="{9989F427-E7DF-7034-729A-0955FD236BDF}"/>
                </a:ext>
              </a:extLst>
            </p:cNvPr>
            <p:cNvSpPr/>
            <p:nvPr/>
          </p:nvSpPr>
          <p:spPr>
            <a:xfrm>
              <a:off x="8308780" y="4230224"/>
              <a:ext cx="2862072" cy="596039"/>
            </a:xfrm>
            <a:custGeom>
              <a:avLst/>
              <a:gdLst>
                <a:gd name="connsiteX0" fmla="*/ 6740 w 330207"/>
                <a:gd name="connsiteY0" fmla="*/ 68782 h 68782"/>
                <a:gd name="connsiteX1" fmla="*/ 288460 w 330207"/>
                <a:gd name="connsiteY1" fmla="*/ 68782 h 68782"/>
                <a:gd name="connsiteX2" fmla="*/ 295874 w 330207"/>
                <a:gd name="connsiteY2" fmla="*/ 64736 h 68782"/>
                <a:gd name="connsiteX3" fmla="*/ 328899 w 330207"/>
                <a:gd name="connsiteY3" fmla="*/ 13487 h 68782"/>
                <a:gd name="connsiteX4" fmla="*/ 321485 w 330207"/>
                <a:gd name="connsiteY4" fmla="*/ 0 h 68782"/>
                <a:gd name="connsiteX5" fmla="*/ 6740 w 330207"/>
                <a:gd name="connsiteY5" fmla="*/ 0 h 68782"/>
                <a:gd name="connsiteX6" fmla="*/ 0 w 330207"/>
                <a:gd name="connsiteY6" fmla="*/ 6743 h 68782"/>
                <a:gd name="connsiteX7" fmla="*/ 0 w 330207"/>
                <a:gd name="connsiteY7" fmla="*/ 61365 h 68782"/>
                <a:gd name="connsiteX8" fmla="*/ 6740 w 330207"/>
                <a:gd name="connsiteY8" fmla="*/ 68108 h 68782"/>
                <a:gd name="connsiteX9" fmla="*/ 257457 w 330207"/>
                <a:gd name="connsiteY9" fmla="*/ 10115 h 68782"/>
                <a:gd name="connsiteX10" fmla="*/ 259479 w 330207"/>
                <a:gd name="connsiteY10" fmla="*/ 8092 h 68782"/>
                <a:gd name="connsiteX11" fmla="*/ 318789 w 330207"/>
                <a:gd name="connsiteY11" fmla="*/ 8092 h 68782"/>
                <a:gd name="connsiteX12" fmla="*/ 321485 w 330207"/>
                <a:gd name="connsiteY12" fmla="*/ 12813 h 68782"/>
                <a:gd name="connsiteX13" fmla="*/ 291156 w 330207"/>
                <a:gd name="connsiteY13" fmla="*/ 60016 h 68782"/>
                <a:gd name="connsiteX14" fmla="*/ 288460 w 330207"/>
                <a:gd name="connsiteY14" fmla="*/ 61365 h 68782"/>
                <a:gd name="connsiteX15" fmla="*/ 259479 w 330207"/>
                <a:gd name="connsiteY15" fmla="*/ 61365 h 68782"/>
                <a:gd name="connsiteX16" fmla="*/ 257457 w 330207"/>
                <a:gd name="connsiteY16" fmla="*/ 59342 h 68782"/>
                <a:gd name="connsiteX17" fmla="*/ 257457 w 330207"/>
                <a:gd name="connsiteY17" fmla="*/ 9441 h 68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0207" h="68782">
                  <a:moveTo>
                    <a:pt x="6740" y="68782"/>
                  </a:moveTo>
                  <a:lnTo>
                    <a:pt x="288460" y="68782"/>
                  </a:lnTo>
                  <a:cubicBezTo>
                    <a:pt x="291156" y="68782"/>
                    <a:pt x="293852" y="67434"/>
                    <a:pt x="295874" y="64736"/>
                  </a:cubicBezTo>
                  <a:lnTo>
                    <a:pt x="328899" y="13487"/>
                  </a:lnTo>
                  <a:cubicBezTo>
                    <a:pt x="332268" y="8092"/>
                    <a:pt x="328899" y="0"/>
                    <a:pt x="321485" y="0"/>
                  </a:cubicBezTo>
                  <a:lnTo>
                    <a:pt x="6740" y="0"/>
                  </a:lnTo>
                  <a:cubicBezTo>
                    <a:pt x="2696" y="0"/>
                    <a:pt x="0" y="3372"/>
                    <a:pt x="0" y="6743"/>
                  </a:cubicBezTo>
                  <a:lnTo>
                    <a:pt x="0" y="61365"/>
                  </a:lnTo>
                  <a:cubicBezTo>
                    <a:pt x="0" y="65411"/>
                    <a:pt x="3370" y="68108"/>
                    <a:pt x="6740" y="68108"/>
                  </a:cubicBezTo>
                  <a:close/>
                  <a:moveTo>
                    <a:pt x="257457" y="10115"/>
                  </a:moveTo>
                  <a:cubicBezTo>
                    <a:pt x="257457" y="8766"/>
                    <a:pt x="258131" y="8092"/>
                    <a:pt x="259479" y="8092"/>
                  </a:cubicBezTo>
                  <a:lnTo>
                    <a:pt x="318789" y="8092"/>
                  </a:lnTo>
                  <a:cubicBezTo>
                    <a:pt x="321485" y="8092"/>
                    <a:pt x="322833" y="10789"/>
                    <a:pt x="321485" y="12813"/>
                  </a:cubicBezTo>
                  <a:lnTo>
                    <a:pt x="291156" y="60016"/>
                  </a:lnTo>
                  <a:cubicBezTo>
                    <a:pt x="291156" y="60690"/>
                    <a:pt x="289808" y="61365"/>
                    <a:pt x="288460" y="61365"/>
                  </a:cubicBezTo>
                  <a:lnTo>
                    <a:pt x="259479" y="61365"/>
                  </a:lnTo>
                  <a:cubicBezTo>
                    <a:pt x="258131" y="61365"/>
                    <a:pt x="257457" y="60690"/>
                    <a:pt x="257457" y="59342"/>
                  </a:cubicBezTo>
                  <a:lnTo>
                    <a:pt x="257457" y="9441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00">
                <a:latin typeface="Aptos" panose="020B0004020202020204" pitchFamily="34" charset="0"/>
              </a:endParaRPr>
            </a:p>
          </p:txBody>
        </p:sp>
        <p:sp>
          <p:nvSpPr>
            <p:cNvPr id="336" name="TextBox 335">
              <a:extLst>
                <a:ext uri="{FF2B5EF4-FFF2-40B4-BE49-F238E27FC236}">
                  <a16:creationId xmlns:a16="http://schemas.microsoft.com/office/drawing/2014/main" id="{05EE82D5-6547-E9E0-DAE7-9586B246A64A}"/>
                </a:ext>
              </a:extLst>
            </p:cNvPr>
            <p:cNvSpPr txBox="1"/>
            <p:nvPr/>
          </p:nvSpPr>
          <p:spPr>
            <a:xfrm>
              <a:off x="10517879" y="4302540"/>
              <a:ext cx="536899" cy="45140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r>
                <a:rPr lang="en-US" sz="1600" noProof="1">
                  <a:solidFill>
                    <a:schemeClr val="accent2">
                      <a:lumMod val="50000"/>
                    </a:schemeClr>
                  </a:solidFill>
                  <a:latin typeface="Aptos" panose="020B0004020202020204" pitchFamily="34" charset="0"/>
                </a:rPr>
                <a:t>10</a:t>
              </a:r>
            </a:p>
          </p:txBody>
        </p:sp>
        <p:sp>
          <p:nvSpPr>
            <p:cNvPr id="337" name="TextBox 336">
              <a:extLst>
                <a:ext uri="{FF2B5EF4-FFF2-40B4-BE49-F238E27FC236}">
                  <a16:creationId xmlns:a16="http://schemas.microsoft.com/office/drawing/2014/main" id="{29669F19-7997-39D1-1E20-DA10CCB3EF5D}"/>
                </a:ext>
              </a:extLst>
            </p:cNvPr>
            <p:cNvSpPr txBox="1"/>
            <p:nvPr/>
          </p:nvSpPr>
          <p:spPr>
            <a:xfrm>
              <a:off x="8765551" y="4138394"/>
              <a:ext cx="1516545" cy="779698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r"/>
              <a:r>
                <a:rPr lang="en-US" sz="1600" b="1" noProof="1">
                  <a:latin typeface="Aptos" panose="020B0004020202020204" pitchFamily="34" charset="0"/>
                </a:rPr>
                <a:t>Company’s Structure</a:t>
              </a:r>
            </a:p>
          </p:txBody>
        </p:sp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1C15524F-5BC3-096F-4B2F-4BBBDEDD3F44}"/>
              </a:ext>
            </a:extLst>
          </p:cNvPr>
          <p:cNvGrpSpPr/>
          <p:nvPr/>
        </p:nvGrpSpPr>
        <p:grpSpPr>
          <a:xfrm>
            <a:off x="9753394" y="1884563"/>
            <a:ext cx="2146554" cy="584775"/>
            <a:chOff x="8308780" y="1985627"/>
            <a:chExt cx="2862072" cy="779698"/>
          </a:xfrm>
        </p:grpSpPr>
        <p:sp>
          <p:nvSpPr>
            <p:cNvPr id="339" name="Freeform 50">
              <a:extLst>
                <a:ext uri="{FF2B5EF4-FFF2-40B4-BE49-F238E27FC236}">
                  <a16:creationId xmlns:a16="http://schemas.microsoft.com/office/drawing/2014/main" id="{2B4E7CE9-8991-BA3B-EFB0-C1B6AE8B9B8F}"/>
                </a:ext>
              </a:extLst>
            </p:cNvPr>
            <p:cNvSpPr/>
            <p:nvPr/>
          </p:nvSpPr>
          <p:spPr>
            <a:xfrm>
              <a:off x="8308780" y="2077457"/>
              <a:ext cx="2862072" cy="596039"/>
            </a:xfrm>
            <a:custGeom>
              <a:avLst/>
              <a:gdLst>
                <a:gd name="connsiteX0" fmla="*/ 0 w 330109"/>
                <a:gd name="connsiteY0" fmla="*/ 7418 h 68782"/>
                <a:gd name="connsiteX1" fmla="*/ 0 w 330109"/>
                <a:gd name="connsiteY1" fmla="*/ 62039 h 68782"/>
                <a:gd name="connsiteX2" fmla="*/ 6740 w 330109"/>
                <a:gd name="connsiteY2" fmla="*/ 68782 h 68782"/>
                <a:gd name="connsiteX3" fmla="*/ 321485 w 330109"/>
                <a:gd name="connsiteY3" fmla="*/ 68782 h 68782"/>
                <a:gd name="connsiteX4" fmla="*/ 328899 w 330109"/>
                <a:gd name="connsiteY4" fmla="*/ 55296 h 68782"/>
                <a:gd name="connsiteX5" fmla="*/ 295874 w 330109"/>
                <a:gd name="connsiteY5" fmla="*/ 4046 h 68782"/>
                <a:gd name="connsiteX6" fmla="*/ 288460 w 330109"/>
                <a:gd name="connsiteY6" fmla="*/ 0 h 68782"/>
                <a:gd name="connsiteX7" fmla="*/ 6740 w 330109"/>
                <a:gd name="connsiteY7" fmla="*/ 0 h 68782"/>
                <a:gd name="connsiteX8" fmla="*/ 0 w 330109"/>
                <a:gd name="connsiteY8" fmla="*/ 6743 h 68782"/>
                <a:gd name="connsiteX9" fmla="*/ 257457 w 330109"/>
                <a:gd name="connsiteY9" fmla="*/ 8766 h 68782"/>
                <a:gd name="connsiteX10" fmla="*/ 259479 w 330109"/>
                <a:gd name="connsiteY10" fmla="*/ 6743 h 68782"/>
                <a:gd name="connsiteX11" fmla="*/ 288460 w 330109"/>
                <a:gd name="connsiteY11" fmla="*/ 6743 h 68782"/>
                <a:gd name="connsiteX12" fmla="*/ 291156 w 330109"/>
                <a:gd name="connsiteY12" fmla="*/ 8092 h 68782"/>
                <a:gd name="connsiteX13" fmla="*/ 321485 w 330109"/>
                <a:gd name="connsiteY13" fmla="*/ 55296 h 68782"/>
                <a:gd name="connsiteX14" fmla="*/ 318789 w 330109"/>
                <a:gd name="connsiteY14" fmla="*/ 60016 h 68782"/>
                <a:gd name="connsiteX15" fmla="*/ 259479 w 330109"/>
                <a:gd name="connsiteY15" fmla="*/ 60016 h 68782"/>
                <a:gd name="connsiteX16" fmla="*/ 257457 w 330109"/>
                <a:gd name="connsiteY16" fmla="*/ 57993 h 68782"/>
                <a:gd name="connsiteX17" fmla="*/ 257457 w 330109"/>
                <a:gd name="connsiteY17" fmla="*/ 8092 h 68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0109" h="68782">
                  <a:moveTo>
                    <a:pt x="0" y="7418"/>
                  </a:moveTo>
                  <a:lnTo>
                    <a:pt x="0" y="62039"/>
                  </a:lnTo>
                  <a:cubicBezTo>
                    <a:pt x="0" y="66085"/>
                    <a:pt x="3370" y="68782"/>
                    <a:pt x="6740" y="68782"/>
                  </a:cubicBezTo>
                  <a:lnTo>
                    <a:pt x="321485" y="68782"/>
                  </a:lnTo>
                  <a:cubicBezTo>
                    <a:pt x="328225" y="68782"/>
                    <a:pt x="332268" y="61365"/>
                    <a:pt x="328899" y="55296"/>
                  </a:cubicBezTo>
                  <a:lnTo>
                    <a:pt x="295874" y="4046"/>
                  </a:lnTo>
                  <a:cubicBezTo>
                    <a:pt x="294526" y="1349"/>
                    <a:pt x="291830" y="0"/>
                    <a:pt x="288460" y="0"/>
                  </a:cubicBezTo>
                  <a:lnTo>
                    <a:pt x="6740" y="0"/>
                  </a:lnTo>
                  <a:cubicBezTo>
                    <a:pt x="2696" y="0"/>
                    <a:pt x="0" y="3372"/>
                    <a:pt x="0" y="6743"/>
                  </a:cubicBezTo>
                  <a:close/>
                  <a:moveTo>
                    <a:pt x="257457" y="8766"/>
                  </a:moveTo>
                  <a:cubicBezTo>
                    <a:pt x="257457" y="7418"/>
                    <a:pt x="258131" y="6743"/>
                    <a:pt x="259479" y="6743"/>
                  </a:cubicBezTo>
                  <a:lnTo>
                    <a:pt x="288460" y="6743"/>
                  </a:lnTo>
                  <a:cubicBezTo>
                    <a:pt x="289808" y="6743"/>
                    <a:pt x="290482" y="6743"/>
                    <a:pt x="291156" y="8092"/>
                  </a:cubicBezTo>
                  <a:lnTo>
                    <a:pt x="321485" y="55296"/>
                  </a:lnTo>
                  <a:cubicBezTo>
                    <a:pt x="322833" y="57319"/>
                    <a:pt x="321485" y="60016"/>
                    <a:pt x="318789" y="60016"/>
                  </a:cubicBezTo>
                  <a:lnTo>
                    <a:pt x="259479" y="60016"/>
                  </a:lnTo>
                  <a:cubicBezTo>
                    <a:pt x="258131" y="60016"/>
                    <a:pt x="257457" y="59342"/>
                    <a:pt x="257457" y="57993"/>
                  </a:cubicBezTo>
                  <a:lnTo>
                    <a:pt x="257457" y="8092"/>
                  </a:ln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00">
                <a:latin typeface="Aptos" panose="020B0004020202020204" pitchFamily="34" charset="0"/>
              </a:endParaRPr>
            </a:p>
          </p:txBody>
        </p:sp>
        <p:sp>
          <p:nvSpPr>
            <p:cNvPr id="340" name="TextBox 339">
              <a:extLst>
                <a:ext uri="{FF2B5EF4-FFF2-40B4-BE49-F238E27FC236}">
                  <a16:creationId xmlns:a16="http://schemas.microsoft.com/office/drawing/2014/main" id="{4B06D733-0B7C-DBB8-EE90-70AA7A5D2515}"/>
                </a:ext>
              </a:extLst>
            </p:cNvPr>
            <p:cNvSpPr txBox="1"/>
            <p:nvPr/>
          </p:nvSpPr>
          <p:spPr>
            <a:xfrm>
              <a:off x="10517879" y="2149773"/>
              <a:ext cx="536899" cy="45140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r>
                <a:rPr lang="en-US" sz="1600" noProof="1">
                  <a:solidFill>
                    <a:schemeClr val="accent4">
                      <a:lumMod val="50000"/>
                    </a:schemeClr>
                  </a:solidFill>
                  <a:latin typeface="Aptos" panose="020B0004020202020204" pitchFamily="34" charset="0"/>
                </a:rPr>
                <a:t>04</a:t>
              </a:r>
            </a:p>
          </p:txBody>
        </p:sp>
        <p:sp>
          <p:nvSpPr>
            <p:cNvPr id="341" name="TextBox 340">
              <a:extLst>
                <a:ext uri="{FF2B5EF4-FFF2-40B4-BE49-F238E27FC236}">
                  <a16:creationId xmlns:a16="http://schemas.microsoft.com/office/drawing/2014/main" id="{0E2BB6E1-0021-4CBB-5389-17F64C197B7D}"/>
                </a:ext>
              </a:extLst>
            </p:cNvPr>
            <p:cNvSpPr txBox="1"/>
            <p:nvPr/>
          </p:nvSpPr>
          <p:spPr>
            <a:xfrm>
              <a:off x="8765551" y="1985627"/>
              <a:ext cx="1516545" cy="779698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r"/>
              <a:r>
                <a:rPr lang="en-US" sz="1600" b="1" noProof="1">
                  <a:latin typeface="Aptos" panose="020B0004020202020204" pitchFamily="34" charset="0"/>
                </a:rPr>
                <a:t>Profitable Customers</a:t>
              </a:r>
            </a:p>
          </p:txBody>
        </p:sp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03C073D7-B601-C4F1-E23C-42EED8234ED1}"/>
              </a:ext>
            </a:extLst>
          </p:cNvPr>
          <p:cNvGrpSpPr/>
          <p:nvPr/>
        </p:nvGrpSpPr>
        <p:grpSpPr>
          <a:xfrm>
            <a:off x="9753395" y="4037333"/>
            <a:ext cx="1878893" cy="584775"/>
            <a:chOff x="8308780" y="4855982"/>
            <a:chExt cx="2505191" cy="779698"/>
          </a:xfrm>
        </p:grpSpPr>
        <p:sp>
          <p:nvSpPr>
            <p:cNvPr id="343" name="Freeform 52">
              <a:extLst>
                <a:ext uri="{FF2B5EF4-FFF2-40B4-BE49-F238E27FC236}">
                  <a16:creationId xmlns:a16="http://schemas.microsoft.com/office/drawing/2014/main" id="{C0847B43-071D-3026-D794-0A2D6D81B3F5}"/>
                </a:ext>
              </a:extLst>
            </p:cNvPr>
            <p:cNvSpPr/>
            <p:nvPr/>
          </p:nvSpPr>
          <p:spPr>
            <a:xfrm>
              <a:off x="8308780" y="4947812"/>
              <a:ext cx="2505191" cy="596039"/>
            </a:xfrm>
            <a:custGeom>
              <a:avLst/>
              <a:gdLst>
                <a:gd name="connsiteX0" fmla="*/ 6066 w 289095"/>
                <a:gd name="connsiteY0" fmla="*/ 68782 h 68782"/>
                <a:gd name="connsiteX1" fmla="*/ 247348 w 289095"/>
                <a:gd name="connsiteY1" fmla="*/ 68782 h 68782"/>
                <a:gd name="connsiteX2" fmla="*/ 254762 w 289095"/>
                <a:gd name="connsiteY2" fmla="*/ 64736 h 68782"/>
                <a:gd name="connsiteX3" fmla="*/ 287786 w 289095"/>
                <a:gd name="connsiteY3" fmla="*/ 13487 h 68782"/>
                <a:gd name="connsiteX4" fmla="*/ 280372 w 289095"/>
                <a:gd name="connsiteY4" fmla="*/ 0 h 68782"/>
                <a:gd name="connsiteX5" fmla="*/ 6740 w 289095"/>
                <a:gd name="connsiteY5" fmla="*/ 0 h 68782"/>
                <a:gd name="connsiteX6" fmla="*/ 0 w 289095"/>
                <a:gd name="connsiteY6" fmla="*/ 6743 h 68782"/>
                <a:gd name="connsiteX7" fmla="*/ 0 w 289095"/>
                <a:gd name="connsiteY7" fmla="*/ 61365 h 68782"/>
                <a:gd name="connsiteX8" fmla="*/ 6740 w 289095"/>
                <a:gd name="connsiteY8" fmla="*/ 68108 h 68782"/>
                <a:gd name="connsiteX9" fmla="*/ 215671 w 289095"/>
                <a:gd name="connsiteY9" fmla="*/ 10115 h 68782"/>
                <a:gd name="connsiteX10" fmla="*/ 217693 w 289095"/>
                <a:gd name="connsiteY10" fmla="*/ 8092 h 68782"/>
                <a:gd name="connsiteX11" fmla="*/ 277003 w 289095"/>
                <a:gd name="connsiteY11" fmla="*/ 8092 h 68782"/>
                <a:gd name="connsiteX12" fmla="*/ 279699 w 289095"/>
                <a:gd name="connsiteY12" fmla="*/ 12812 h 68782"/>
                <a:gd name="connsiteX13" fmla="*/ 249370 w 289095"/>
                <a:gd name="connsiteY13" fmla="*/ 60016 h 68782"/>
                <a:gd name="connsiteX14" fmla="*/ 246674 w 289095"/>
                <a:gd name="connsiteY14" fmla="*/ 61365 h 68782"/>
                <a:gd name="connsiteX15" fmla="*/ 217693 w 289095"/>
                <a:gd name="connsiteY15" fmla="*/ 61365 h 68782"/>
                <a:gd name="connsiteX16" fmla="*/ 215671 w 289095"/>
                <a:gd name="connsiteY16" fmla="*/ 59342 h 68782"/>
                <a:gd name="connsiteX17" fmla="*/ 215671 w 289095"/>
                <a:gd name="connsiteY17" fmla="*/ 9441 h 68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9095" h="68782">
                  <a:moveTo>
                    <a:pt x="6066" y="68782"/>
                  </a:moveTo>
                  <a:lnTo>
                    <a:pt x="247348" y="68782"/>
                  </a:lnTo>
                  <a:cubicBezTo>
                    <a:pt x="250044" y="68782"/>
                    <a:pt x="252740" y="67434"/>
                    <a:pt x="254762" y="64736"/>
                  </a:cubicBezTo>
                  <a:lnTo>
                    <a:pt x="287786" y="13487"/>
                  </a:lnTo>
                  <a:cubicBezTo>
                    <a:pt x="291156" y="8092"/>
                    <a:pt x="287786" y="0"/>
                    <a:pt x="280372" y="0"/>
                  </a:cubicBezTo>
                  <a:lnTo>
                    <a:pt x="6740" y="0"/>
                  </a:lnTo>
                  <a:cubicBezTo>
                    <a:pt x="2696" y="0"/>
                    <a:pt x="0" y="3372"/>
                    <a:pt x="0" y="6743"/>
                  </a:cubicBezTo>
                  <a:lnTo>
                    <a:pt x="0" y="61365"/>
                  </a:lnTo>
                  <a:cubicBezTo>
                    <a:pt x="0" y="65410"/>
                    <a:pt x="3370" y="68108"/>
                    <a:pt x="6740" y="68108"/>
                  </a:cubicBezTo>
                  <a:close/>
                  <a:moveTo>
                    <a:pt x="215671" y="10115"/>
                  </a:moveTo>
                  <a:cubicBezTo>
                    <a:pt x="215671" y="8766"/>
                    <a:pt x="216345" y="8092"/>
                    <a:pt x="217693" y="8092"/>
                  </a:cubicBezTo>
                  <a:lnTo>
                    <a:pt x="277003" y="8092"/>
                  </a:lnTo>
                  <a:cubicBezTo>
                    <a:pt x="279699" y="8092"/>
                    <a:pt x="281046" y="10789"/>
                    <a:pt x="279699" y="12812"/>
                  </a:cubicBezTo>
                  <a:lnTo>
                    <a:pt x="249370" y="60016"/>
                  </a:lnTo>
                  <a:cubicBezTo>
                    <a:pt x="249370" y="60690"/>
                    <a:pt x="248022" y="61365"/>
                    <a:pt x="246674" y="61365"/>
                  </a:cubicBezTo>
                  <a:lnTo>
                    <a:pt x="217693" y="61365"/>
                  </a:lnTo>
                  <a:cubicBezTo>
                    <a:pt x="216345" y="61365"/>
                    <a:pt x="215671" y="60690"/>
                    <a:pt x="215671" y="59342"/>
                  </a:cubicBezTo>
                  <a:lnTo>
                    <a:pt x="215671" y="9441"/>
                  </a:lnTo>
                  <a:close/>
                </a:path>
              </a:pathLst>
            </a:custGeom>
            <a:solidFill>
              <a:srgbClr val="805AAB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00">
                <a:latin typeface="Aptos" panose="020B0004020202020204" pitchFamily="34" charset="0"/>
              </a:endParaRPr>
            </a:p>
          </p:txBody>
        </p: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1FFD7D45-68A4-2FC3-4753-A88FBFDD40C4}"/>
                </a:ext>
              </a:extLst>
            </p:cNvPr>
            <p:cNvSpPr txBox="1"/>
            <p:nvPr/>
          </p:nvSpPr>
          <p:spPr>
            <a:xfrm>
              <a:off x="10143326" y="5020127"/>
              <a:ext cx="536899" cy="45140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r>
                <a:rPr lang="en-US" sz="1600" noProof="1">
                  <a:solidFill>
                    <a:srgbClr val="805AAB"/>
                  </a:solidFill>
                  <a:latin typeface="Aptos" panose="020B0004020202020204" pitchFamily="34" charset="0"/>
                </a:rPr>
                <a:t>12</a:t>
              </a:r>
            </a:p>
          </p:txBody>
        </p:sp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2577E1A9-D77F-682C-ADDD-68465EA22E01}"/>
                </a:ext>
              </a:extLst>
            </p:cNvPr>
            <p:cNvSpPr txBox="1"/>
            <p:nvPr/>
          </p:nvSpPr>
          <p:spPr>
            <a:xfrm>
              <a:off x="8484197" y="4855982"/>
              <a:ext cx="1516546" cy="779698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r"/>
              <a:r>
                <a:rPr lang="en-US" sz="1600" b="1" noProof="1">
                  <a:solidFill>
                    <a:schemeClr val="bg1"/>
                  </a:solidFill>
                  <a:latin typeface="Aptos" panose="020B0004020202020204" pitchFamily="34" charset="0"/>
                </a:rPr>
                <a:t>Product Roadmap</a:t>
              </a:r>
            </a:p>
          </p:txBody>
        </p:sp>
      </p:grp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12FD8B46-A19B-09EE-CE99-688323D18C3C}"/>
              </a:ext>
            </a:extLst>
          </p:cNvPr>
          <p:cNvGrpSpPr/>
          <p:nvPr/>
        </p:nvGrpSpPr>
        <p:grpSpPr>
          <a:xfrm>
            <a:off x="9753395" y="1346371"/>
            <a:ext cx="1878893" cy="584775"/>
            <a:chOff x="8308780" y="1268038"/>
            <a:chExt cx="2505191" cy="779698"/>
          </a:xfrm>
        </p:grpSpPr>
        <p:sp>
          <p:nvSpPr>
            <p:cNvPr id="347" name="Freeform 27">
              <a:extLst>
                <a:ext uri="{FF2B5EF4-FFF2-40B4-BE49-F238E27FC236}">
                  <a16:creationId xmlns:a16="http://schemas.microsoft.com/office/drawing/2014/main" id="{7F23F613-07C5-6AE5-4B8F-9B9308AC2113}"/>
                </a:ext>
              </a:extLst>
            </p:cNvPr>
            <p:cNvSpPr/>
            <p:nvPr/>
          </p:nvSpPr>
          <p:spPr>
            <a:xfrm flipH="1">
              <a:off x="8308780" y="1359868"/>
              <a:ext cx="2505191" cy="596039"/>
            </a:xfrm>
            <a:custGeom>
              <a:avLst/>
              <a:gdLst>
                <a:gd name="connsiteX0" fmla="*/ 283030 w 289095"/>
                <a:gd name="connsiteY0" fmla="*/ 0 h 68782"/>
                <a:gd name="connsiteX1" fmla="*/ 41748 w 289095"/>
                <a:gd name="connsiteY1" fmla="*/ 0 h 68782"/>
                <a:gd name="connsiteX2" fmla="*/ 34334 w 289095"/>
                <a:gd name="connsiteY2" fmla="*/ 4046 h 68782"/>
                <a:gd name="connsiteX3" fmla="*/ 1309 w 289095"/>
                <a:gd name="connsiteY3" fmla="*/ 55295 h 68782"/>
                <a:gd name="connsiteX4" fmla="*/ 8723 w 289095"/>
                <a:gd name="connsiteY4" fmla="*/ 68782 h 68782"/>
                <a:gd name="connsiteX5" fmla="*/ 282356 w 289095"/>
                <a:gd name="connsiteY5" fmla="*/ 68782 h 68782"/>
                <a:gd name="connsiteX6" fmla="*/ 289096 w 289095"/>
                <a:gd name="connsiteY6" fmla="*/ 62039 h 68782"/>
                <a:gd name="connsiteX7" fmla="*/ 289096 w 289095"/>
                <a:gd name="connsiteY7" fmla="*/ 7418 h 68782"/>
                <a:gd name="connsiteX8" fmla="*/ 282356 w 289095"/>
                <a:gd name="connsiteY8" fmla="*/ 674 h 68782"/>
                <a:gd name="connsiteX9" fmla="*/ 73424 w 289095"/>
                <a:gd name="connsiteY9" fmla="*/ 57993 h 68782"/>
                <a:gd name="connsiteX10" fmla="*/ 71402 w 289095"/>
                <a:gd name="connsiteY10" fmla="*/ 60016 h 68782"/>
                <a:gd name="connsiteX11" fmla="*/ 12093 w 289095"/>
                <a:gd name="connsiteY11" fmla="*/ 60016 h 68782"/>
                <a:gd name="connsiteX12" fmla="*/ 9397 w 289095"/>
                <a:gd name="connsiteY12" fmla="*/ 55295 h 68782"/>
                <a:gd name="connsiteX13" fmla="*/ 39726 w 289095"/>
                <a:gd name="connsiteY13" fmla="*/ 8092 h 68782"/>
                <a:gd name="connsiteX14" fmla="*/ 42422 w 289095"/>
                <a:gd name="connsiteY14" fmla="*/ 6743 h 68782"/>
                <a:gd name="connsiteX15" fmla="*/ 71402 w 289095"/>
                <a:gd name="connsiteY15" fmla="*/ 6743 h 68782"/>
                <a:gd name="connsiteX16" fmla="*/ 73424 w 289095"/>
                <a:gd name="connsiteY16" fmla="*/ 8766 h 68782"/>
                <a:gd name="connsiteX17" fmla="*/ 73424 w 289095"/>
                <a:gd name="connsiteY17" fmla="*/ 58667 h 68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9095" h="68782">
                  <a:moveTo>
                    <a:pt x="283030" y="0"/>
                  </a:moveTo>
                  <a:lnTo>
                    <a:pt x="41748" y="0"/>
                  </a:lnTo>
                  <a:cubicBezTo>
                    <a:pt x="39052" y="0"/>
                    <a:pt x="36356" y="1349"/>
                    <a:pt x="34334" y="4046"/>
                  </a:cubicBezTo>
                  <a:lnTo>
                    <a:pt x="1309" y="55295"/>
                  </a:lnTo>
                  <a:cubicBezTo>
                    <a:pt x="-2061" y="60690"/>
                    <a:pt x="1309" y="68782"/>
                    <a:pt x="8723" y="68782"/>
                  </a:cubicBezTo>
                  <a:lnTo>
                    <a:pt x="282356" y="68782"/>
                  </a:lnTo>
                  <a:cubicBezTo>
                    <a:pt x="286400" y="68782"/>
                    <a:pt x="289096" y="65410"/>
                    <a:pt x="289096" y="62039"/>
                  </a:cubicBezTo>
                  <a:lnTo>
                    <a:pt x="289096" y="7418"/>
                  </a:lnTo>
                  <a:cubicBezTo>
                    <a:pt x="289096" y="3372"/>
                    <a:pt x="285726" y="674"/>
                    <a:pt x="282356" y="674"/>
                  </a:cubicBezTo>
                  <a:close/>
                  <a:moveTo>
                    <a:pt x="73424" y="57993"/>
                  </a:moveTo>
                  <a:cubicBezTo>
                    <a:pt x="73424" y="59342"/>
                    <a:pt x="72750" y="60016"/>
                    <a:pt x="71402" y="60016"/>
                  </a:cubicBezTo>
                  <a:lnTo>
                    <a:pt x="12093" y="60016"/>
                  </a:lnTo>
                  <a:cubicBezTo>
                    <a:pt x="9397" y="60016"/>
                    <a:pt x="8049" y="57319"/>
                    <a:pt x="9397" y="55295"/>
                  </a:cubicBezTo>
                  <a:lnTo>
                    <a:pt x="39726" y="8092"/>
                  </a:lnTo>
                  <a:cubicBezTo>
                    <a:pt x="39726" y="7418"/>
                    <a:pt x="41074" y="6743"/>
                    <a:pt x="42422" y="6743"/>
                  </a:cubicBezTo>
                  <a:lnTo>
                    <a:pt x="71402" y="6743"/>
                  </a:lnTo>
                  <a:cubicBezTo>
                    <a:pt x="72750" y="6743"/>
                    <a:pt x="73424" y="7418"/>
                    <a:pt x="73424" y="8766"/>
                  </a:cubicBezTo>
                  <a:lnTo>
                    <a:pt x="73424" y="58667"/>
                  </a:ln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00">
                <a:latin typeface="Aptos" panose="020B0004020202020204" pitchFamily="34" charset="0"/>
              </a:endParaRPr>
            </a:p>
          </p:txBody>
        </p:sp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id="{59A36A31-C5A4-D4CE-3AF9-315FD910F78F}"/>
                </a:ext>
              </a:extLst>
            </p:cNvPr>
            <p:cNvSpPr txBox="1"/>
            <p:nvPr/>
          </p:nvSpPr>
          <p:spPr>
            <a:xfrm>
              <a:off x="10143326" y="1432184"/>
              <a:ext cx="536899" cy="45140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r>
                <a:rPr lang="en-US" sz="1600" noProof="1">
                  <a:solidFill>
                    <a:schemeClr val="accent3">
                      <a:lumMod val="50000"/>
                    </a:schemeClr>
                  </a:solidFill>
                  <a:latin typeface="Aptos" panose="020B0004020202020204" pitchFamily="34" charset="0"/>
                </a:rPr>
                <a:t>02</a:t>
              </a:r>
            </a:p>
          </p:txBody>
        </p:sp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id="{A539C905-15B8-E1F4-3707-28476B575565}"/>
                </a:ext>
              </a:extLst>
            </p:cNvPr>
            <p:cNvSpPr txBox="1"/>
            <p:nvPr/>
          </p:nvSpPr>
          <p:spPr>
            <a:xfrm>
              <a:off x="8484197" y="1268038"/>
              <a:ext cx="1516546" cy="779698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r"/>
              <a:r>
                <a:rPr lang="en-US" sz="1600" b="1" noProof="1">
                  <a:latin typeface="Aptos" panose="020B0004020202020204" pitchFamily="34" charset="0"/>
                </a:rPr>
                <a:t>Market Focues</a:t>
              </a:r>
            </a:p>
          </p:txBody>
        </p:sp>
      </p:grpSp>
      <p:sp>
        <p:nvSpPr>
          <p:cNvPr id="350" name="Freeform 9">
            <a:extLst>
              <a:ext uri="{FF2B5EF4-FFF2-40B4-BE49-F238E27FC236}">
                <a16:creationId xmlns:a16="http://schemas.microsoft.com/office/drawing/2014/main" id="{179DEA05-8ED4-6400-FA64-453A44C0EE43}"/>
              </a:ext>
            </a:extLst>
          </p:cNvPr>
          <p:cNvSpPr/>
          <p:nvPr/>
        </p:nvSpPr>
        <p:spPr>
          <a:xfrm>
            <a:off x="7382011" y="2001256"/>
            <a:ext cx="1423597" cy="1988824"/>
          </a:xfrm>
          <a:prstGeom prst="roundRect">
            <a:avLst>
              <a:gd name="adj" fmla="val 4289"/>
            </a:avLst>
          </a:pr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600">
              <a:latin typeface="Aptos" panose="020B0004020202020204" pitchFamily="34" charset="0"/>
            </a:endParaRPr>
          </a:p>
        </p:txBody>
      </p:sp>
      <p:grpSp>
        <p:nvGrpSpPr>
          <p:cNvPr id="351" name="Group 350">
            <a:extLst>
              <a:ext uri="{FF2B5EF4-FFF2-40B4-BE49-F238E27FC236}">
                <a16:creationId xmlns:a16="http://schemas.microsoft.com/office/drawing/2014/main" id="{4F092032-E86D-20A4-AE3B-A27A841527A9}"/>
              </a:ext>
            </a:extLst>
          </p:cNvPr>
          <p:cNvGrpSpPr/>
          <p:nvPr/>
        </p:nvGrpSpPr>
        <p:grpSpPr>
          <a:xfrm>
            <a:off x="7453798" y="1991118"/>
            <a:ext cx="1263934" cy="2049766"/>
            <a:chOff x="283628" y="2187360"/>
            <a:chExt cx="2983858" cy="2733012"/>
          </a:xfrm>
        </p:grpSpPr>
        <p:sp>
          <p:nvSpPr>
            <p:cNvPr id="352" name="TextBox 351">
              <a:extLst>
                <a:ext uri="{FF2B5EF4-FFF2-40B4-BE49-F238E27FC236}">
                  <a16:creationId xmlns:a16="http://schemas.microsoft.com/office/drawing/2014/main" id="{F5041F47-536D-C805-54D6-7FB2B4DCFF79}"/>
                </a:ext>
              </a:extLst>
            </p:cNvPr>
            <p:cNvSpPr txBox="1"/>
            <p:nvPr/>
          </p:nvSpPr>
          <p:spPr>
            <a:xfrm>
              <a:off x="337066" y="2187360"/>
              <a:ext cx="2930420" cy="77969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sz="1600" b="1" noProof="1">
                  <a:solidFill>
                    <a:schemeClr val="tx2">
                      <a:lumMod val="25000"/>
                    </a:schemeClr>
                  </a:solidFill>
                  <a:latin typeface="Aptos" panose="020B0004020202020204" pitchFamily="34" charset="0"/>
                </a:rPr>
                <a:t>FINANCIAL STRATEGY</a:t>
              </a:r>
            </a:p>
          </p:txBody>
        </p:sp>
        <p:sp>
          <p:nvSpPr>
            <p:cNvPr id="353" name="TextBox 352">
              <a:extLst>
                <a:ext uri="{FF2B5EF4-FFF2-40B4-BE49-F238E27FC236}">
                  <a16:creationId xmlns:a16="http://schemas.microsoft.com/office/drawing/2014/main" id="{51A60D04-FA2B-9D51-999C-E3B2FE0C3081}"/>
                </a:ext>
              </a:extLst>
            </p:cNvPr>
            <p:cNvSpPr txBox="1"/>
            <p:nvPr/>
          </p:nvSpPr>
          <p:spPr>
            <a:xfrm>
              <a:off x="283628" y="2827499"/>
              <a:ext cx="2930420" cy="209287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ctr"/>
              <a:r>
                <a:rPr lang="en-US" sz="1200" noProof="1">
                  <a:solidFill>
                    <a:schemeClr val="tx1"/>
                  </a:solidFill>
                  <a:latin typeface="Aptos" panose="020B0004020202020204" pitchFamily="34" charset="0"/>
                </a:rPr>
                <a:t>This is the decade of Financial Strategy in the focus, effecting all parts of the business as a center Decision-Maker</a:t>
              </a:r>
            </a:p>
          </p:txBody>
        </p:sp>
      </p:grpSp>
      <p:sp>
        <p:nvSpPr>
          <p:cNvPr id="354" name="Google Shape;298;p7">
            <a:extLst>
              <a:ext uri="{FF2B5EF4-FFF2-40B4-BE49-F238E27FC236}">
                <a16:creationId xmlns:a16="http://schemas.microsoft.com/office/drawing/2014/main" id="{DBEB84B3-6340-9D5A-C57A-191AC1DCA780}"/>
              </a:ext>
            </a:extLst>
          </p:cNvPr>
          <p:cNvSpPr txBox="1"/>
          <p:nvPr/>
        </p:nvSpPr>
        <p:spPr>
          <a:xfrm>
            <a:off x="234564" y="2308810"/>
            <a:ext cx="3666409" cy="1272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lnSpcReduction="1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4400" dirty="0">
                <a:solidFill>
                  <a:srgbClr val="FFFFFF"/>
                </a:solidFill>
                <a:latin typeface="Aptos" panose="020B0004020202020204" pitchFamily="34" charset="0"/>
              </a:rPr>
              <a:t>RIPPLE EFFECT</a:t>
            </a: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5790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05" name="Google Shape;305;p2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294"/>
                </a:srgbClr>
              </a:gs>
              <a:gs pos="100000">
                <a:srgbClr val="374C8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06" name="Google Shape;306;p2"/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253356">
                  <a:alpha val="67450"/>
                </a:srgbClr>
              </a:gs>
              <a:gs pos="19000">
                <a:srgbClr val="253356">
                  <a:alpha val="67450"/>
                </a:srgbClr>
              </a:gs>
              <a:gs pos="100000">
                <a:srgbClr val="4A66AC">
                  <a:alpha val="78431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07" name="Google Shape;307;p2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4A66AC">
                  <a:alpha val="0"/>
                </a:srgbClr>
              </a:gs>
              <a:gs pos="23000">
                <a:srgbClr val="4A66AC">
                  <a:alpha val="0"/>
                </a:srgbClr>
              </a:gs>
              <a:gs pos="99000">
                <a:srgbClr val="000000">
                  <a:alpha val="73333"/>
                </a:srgbClr>
              </a:gs>
              <a:gs pos="100000">
                <a:srgbClr val="000000">
                  <a:alpha val="73333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08" name="Google Shape;308;p2"/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dirty="0">
                <a:solidFill>
                  <a:srgbClr val="FFFFFF"/>
                </a:solidFill>
                <a:latin typeface="Aptos" panose="020B0004020202020204" pitchFamily="34" charset="0"/>
              </a:rPr>
              <a:t>MAIN PILLARS</a:t>
            </a: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pic>
        <p:nvPicPr>
          <p:cNvPr id="309" name="Google Shape;309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408" y="2074110"/>
            <a:ext cx="821971" cy="821971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"/>
          <p:cNvSpPr/>
          <p:nvPr/>
        </p:nvSpPr>
        <p:spPr>
          <a:xfrm>
            <a:off x="787385" y="3143773"/>
            <a:ext cx="2722970" cy="309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2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11" name="Google Shape;311;p2"/>
          <p:cNvSpPr/>
          <p:nvPr/>
        </p:nvSpPr>
        <p:spPr>
          <a:xfrm>
            <a:off x="174532" y="3059944"/>
            <a:ext cx="2722970" cy="61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Determining </a:t>
            </a:r>
            <a:br>
              <a:rPr lang="en-US" sz="14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</a:br>
            <a:r>
              <a:rPr lang="en-US" sz="14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O</a:t>
            </a:r>
            <a:r>
              <a:rPr lang="en-US" dirty="0">
                <a:latin typeface="Aptos" panose="020B0004020202020204" pitchFamily="34" charset="0"/>
              </a:rPr>
              <a:t>bjectives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&amp; KPI’s</a:t>
            </a: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pic>
        <p:nvPicPr>
          <p:cNvPr id="312" name="Google Shape;312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42042" y="2074110"/>
            <a:ext cx="821971" cy="821971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"/>
          <p:cNvSpPr/>
          <p:nvPr/>
        </p:nvSpPr>
        <p:spPr>
          <a:xfrm>
            <a:off x="3226213" y="3264855"/>
            <a:ext cx="2723078" cy="309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2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14" name="Google Shape;314;p2"/>
          <p:cNvSpPr/>
          <p:nvPr/>
        </p:nvSpPr>
        <p:spPr>
          <a:xfrm>
            <a:off x="3273838" y="3063230"/>
            <a:ext cx="2212563" cy="309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A</a:t>
            </a:r>
            <a:r>
              <a:rPr lang="en-US" dirty="0">
                <a:latin typeface="Aptos" panose="020B0004020202020204" pitchFamily="34" charset="0"/>
              </a:rPr>
              <a:t>OP – Annual Operational Plan</a:t>
            </a:r>
            <a:endParaRPr lang="en-US"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  <a:p>
            <a:pPr marL="0" marR="0" lvl="0" indent="0" algn="ctr" rtl="0">
              <a:lnSpc>
                <a:spcPct val="2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pic>
        <p:nvPicPr>
          <p:cNvPr id="315" name="Google Shape;315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9262" y="2074110"/>
            <a:ext cx="821971" cy="821971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"/>
          <p:cNvSpPr/>
          <p:nvPr/>
        </p:nvSpPr>
        <p:spPr>
          <a:xfrm>
            <a:off x="6233433" y="3264855"/>
            <a:ext cx="2723078" cy="309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2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17" name="Google Shape;317;p2"/>
          <p:cNvSpPr/>
          <p:nvPr/>
        </p:nvSpPr>
        <p:spPr>
          <a:xfrm>
            <a:off x="6198708" y="3095801"/>
            <a:ext cx="2600060" cy="92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Complexed Budget and Cash Flow for ultimate visibility</a:t>
            </a: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pic>
        <p:nvPicPr>
          <p:cNvPr id="318" name="Google Shape;318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56480" y="2074110"/>
            <a:ext cx="821971" cy="821971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"/>
          <p:cNvSpPr/>
          <p:nvPr/>
        </p:nvSpPr>
        <p:spPr>
          <a:xfrm>
            <a:off x="9240653" y="3264855"/>
            <a:ext cx="2723078" cy="309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2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20" name="Google Shape;320;p2"/>
          <p:cNvSpPr/>
          <p:nvPr/>
        </p:nvSpPr>
        <p:spPr>
          <a:xfrm>
            <a:off x="9240653" y="3089873"/>
            <a:ext cx="2723078" cy="61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Top-Line Growth</a:t>
            </a: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pic>
        <p:nvPicPr>
          <p:cNvPr id="321" name="Google Shape;321;p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80408" y="4431897"/>
            <a:ext cx="821971" cy="82197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"/>
          <p:cNvSpPr/>
          <p:nvPr/>
        </p:nvSpPr>
        <p:spPr>
          <a:xfrm>
            <a:off x="164700" y="5325599"/>
            <a:ext cx="2722970" cy="309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2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Financial Modeling</a:t>
            </a: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pic>
        <p:nvPicPr>
          <p:cNvPr id="323" name="Google Shape;323;p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42042" y="4431897"/>
            <a:ext cx="821971" cy="821971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"/>
          <p:cNvSpPr/>
          <p:nvPr/>
        </p:nvSpPr>
        <p:spPr>
          <a:xfrm>
            <a:off x="3226213" y="5325598"/>
            <a:ext cx="2723078" cy="498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2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latin typeface="Aptos" panose="020B0004020202020204" pitchFamily="34" charset="0"/>
              </a:rPr>
              <a:t>Corporate Finance Tasks</a:t>
            </a: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25" name="Google Shape;325;p2"/>
          <p:cNvSpPr/>
          <p:nvPr/>
        </p:nvSpPr>
        <p:spPr>
          <a:xfrm>
            <a:off x="3226213" y="5824590"/>
            <a:ext cx="2723078" cy="309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2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pic>
        <p:nvPicPr>
          <p:cNvPr id="326" name="Google Shape;326;p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149262" y="4431897"/>
            <a:ext cx="821971" cy="821971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"/>
          <p:cNvSpPr/>
          <p:nvPr/>
        </p:nvSpPr>
        <p:spPr>
          <a:xfrm>
            <a:off x="6233433" y="5325599"/>
            <a:ext cx="2723078" cy="309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2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Costs &amp; Working Capital reduction</a:t>
            </a: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28" name="Google Shape;328;p2"/>
          <p:cNvSpPr/>
          <p:nvPr/>
        </p:nvSpPr>
        <p:spPr>
          <a:xfrm>
            <a:off x="6233433" y="5824590"/>
            <a:ext cx="2723078" cy="309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2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pic>
        <p:nvPicPr>
          <p:cNvPr id="329" name="Google Shape;329;p2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156481" y="4431897"/>
            <a:ext cx="821971" cy="821971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"/>
          <p:cNvSpPr/>
          <p:nvPr/>
        </p:nvSpPr>
        <p:spPr>
          <a:xfrm>
            <a:off x="9240653" y="5325599"/>
            <a:ext cx="2723078" cy="61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2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Operational optimization</a:t>
            </a:r>
            <a:br>
              <a:rPr lang="en-US" sz="14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</a:br>
            <a:r>
              <a:rPr lang="en-US" sz="14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6CF455-C803-A2DA-81DD-F6F361800A42}"/>
              </a:ext>
            </a:extLst>
          </p:cNvPr>
          <p:cNvSpPr txBox="1"/>
          <p:nvPr/>
        </p:nvSpPr>
        <p:spPr>
          <a:xfrm>
            <a:off x="10399015" y="4332537"/>
            <a:ext cx="1794509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900" dirty="0">
                <a:solidFill>
                  <a:schemeClr val="accent1">
                    <a:lumMod val="75000"/>
                    <a:alpha val="17000"/>
                  </a:schemeClr>
                </a:solidFill>
                <a:latin typeface="Century Gothic" panose="020B0502020202020204" pitchFamily="34" charset="0"/>
              </a:rPr>
              <a:t>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3" name="Straight Arrow Connector 332">
            <a:extLst>
              <a:ext uri="{FF2B5EF4-FFF2-40B4-BE49-F238E27FC236}">
                <a16:creationId xmlns:a16="http://schemas.microsoft.com/office/drawing/2014/main" id="{ACE0F6D9-53ED-7961-45AC-9AAA3F4A27F2}"/>
              </a:ext>
            </a:extLst>
          </p:cNvPr>
          <p:cNvCxnSpPr>
            <a:cxnSpLocks/>
            <a:stCxn id="329" idx="2"/>
            <a:endCxn id="331" idx="0"/>
          </p:cNvCxnSpPr>
          <p:nvPr/>
        </p:nvCxnSpPr>
        <p:spPr>
          <a:xfrm>
            <a:off x="6032014" y="4771433"/>
            <a:ext cx="9295" cy="849393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6" name="Google Shape;336;p31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294"/>
                </a:srgbClr>
              </a:gs>
              <a:gs pos="100000">
                <a:srgbClr val="374C8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FFFFFF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37" name="Google Shape;337;p31"/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253356">
                  <a:alpha val="67450"/>
                </a:srgbClr>
              </a:gs>
              <a:gs pos="19000">
                <a:srgbClr val="253356">
                  <a:alpha val="67450"/>
                </a:srgbClr>
              </a:gs>
              <a:gs pos="100000">
                <a:srgbClr val="4A66AC">
                  <a:alpha val="78431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FFFFFF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38" name="Google Shape;338;p31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4A66AC">
                  <a:alpha val="0"/>
                </a:srgbClr>
              </a:gs>
              <a:gs pos="23000">
                <a:srgbClr val="4A66AC">
                  <a:alpha val="0"/>
                </a:srgbClr>
              </a:gs>
              <a:gs pos="99000">
                <a:srgbClr val="000000">
                  <a:alpha val="73333"/>
                </a:srgbClr>
              </a:gs>
              <a:gs pos="100000">
                <a:srgbClr val="000000">
                  <a:alpha val="73333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FFFFFF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39" name="Google Shape;339;p31"/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FFFFFF"/>
                </a:solidFill>
                <a:latin typeface="Aptos" panose="020B0004020202020204" pitchFamily="34" charset="0"/>
                <a:sym typeface="Arial"/>
              </a:rPr>
              <a:t>THE PILLAR FLOW</a:t>
            </a: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8A3AEB-2C3A-8B54-9C47-3CF5950A6A79}"/>
              </a:ext>
            </a:extLst>
          </p:cNvPr>
          <p:cNvSpPr txBox="1"/>
          <p:nvPr/>
        </p:nvSpPr>
        <p:spPr>
          <a:xfrm>
            <a:off x="10399015" y="4332537"/>
            <a:ext cx="1794509" cy="3154710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9900" dirty="0">
                <a:solidFill>
                  <a:schemeClr val="accent1">
                    <a:lumMod val="75000"/>
                    <a:alpha val="17000"/>
                  </a:schemeClr>
                </a:solidFill>
                <a:latin typeface="Aptos" panose="020B0004020202020204" pitchFamily="34" charset="0"/>
              </a:rPr>
              <a:t>V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C77D9B9-8883-B799-1FFB-B5E8EBA4F37A}"/>
              </a:ext>
            </a:extLst>
          </p:cNvPr>
          <p:cNvGrpSpPr/>
          <p:nvPr/>
        </p:nvGrpSpPr>
        <p:grpSpPr>
          <a:xfrm>
            <a:off x="0" y="1756377"/>
            <a:ext cx="11985804" cy="2394818"/>
            <a:chOff x="451391" y="1665027"/>
            <a:chExt cx="11289218" cy="341010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8116BAD-66B2-EEE8-6804-9F6894221DB1}"/>
                </a:ext>
              </a:extLst>
            </p:cNvPr>
            <p:cNvGrpSpPr/>
            <p:nvPr/>
          </p:nvGrpSpPr>
          <p:grpSpPr>
            <a:xfrm>
              <a:off x="451391" y="1665027"/>
              <a:ext cx="2257844" cy="3410104"/>
              <a:chOff x="451391" y="1665027"/>
              <a:chExt cx="2257844" cy="3410104"/>
            </a:xfrm>
          </p:grpSpPr>
          <p:sp>
            <p:nvSpPr>
              <p:cNvPr id="54" name="Freeform 7">
                <a:extLst>
                  <a:ext uri="{FF2B5EF4-FFF2-40B4-BE49-F238E27FC236}">
                    <a16:creationId xmlns:a16="http://schemas.microsoft.com/office/drawing/2014/main" id="{21BB2F02-DAC9-0057-F3AA-ECBE9D80FE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70136" y="1665027"/>
                <a:ext cx="620354" cy="911793"/>
              </a:xfrm>
              <a:custGeom>
                <a:avLst/>
                <a:gdLst>
                  <a:gd name="T0" fmla="*/ 26 w 26"/>
                  <a:gd name="T1" fmla="*/ 13 h 39"/>
                  <a:gd name="T2" fmla="*/ 13 w 26"/>
                  <a:gd name="T3" fmla="*/ 0 h 39"/>
                  <a:gd name="T4" fmla="*/ 0 w 26"/>
                  <a:gd name="T5" fmla="*/ 13 h 39"/>
                  <a:gd name="T6" fmla="*/ 2 w 26"/>
                  <a:gd name="T7" fmla="*/ 20 h 39"/>
                  <a:gd name="T8" fmla="*/ 2 w 26"/>
                  <a:gd name="T9" fmla="*/ 20 h 39"/>
                  <a:gd name="T10" fmla="*/ 13 w 26"/>
                  <a:gd name="T11" fmla="*/ 39 h 39"/>
                  <a:gd name="T12" fmla="*/ 24 w 26"/>
                  <a:gd name="T13" fmla="*/ 20 h 39"/>
                  <a:gd name="T14" fmla="*/ 24 w 26"/>
                  <a:gd name="T15" fmla="*/ 20 h 39"/>
                  <a:gd name="T16" fmla="*/ 26 w 26"/>
                  <a:gd name="T17" fmla="*/ 13 h 39"/>
                  <a:gd name="T18" fmla="*/ 13 w 26"/>
                  <a:gd name="T19" fmla="*/ 24 h 39"/>
                  <a:gd name="T20" fmla="*/ 2 w 26"/>
                  <a:gd name="T21" fmla="*/ 13 h 39"/>
                  <a:gd name="T22" fmla="*/ 13 w 26"/>
                  <a:gd name="T23" fmla="*/ 3 h 39"/>
                  <a:gd name="T24" fmla="*/ 24 w 26"/>
                  <a:gd name="T25" fmla="*/ 13 h 39"/>
                  <a:gd name="T26" fmla="*/ 13 w 26"/>
                  <a:gd name="T27" fmla="*/ 24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6" h="39">
                    <a:moveTo>
                      <a:pt x="26" y="13"/>
                    </a:moveTo>
                    <a:cubicBezTo>
                      <a:pt x="26" y="6"/>
                      <a:pt x="20" y="0"/>
                      <a:pt x="13" y="0"/>
                    </a:cubicBezTo>
                    <a:cubicBezTo>
                      <a:pt x="6" y="0"/>
                      <a:pt x="0" y="6"/>
                      <a:pt x="0" y="13"/>
                    </a:cubicBezTo>
                    <a:cubicBezTo>
                      <a:pt x="0" y="16"/>
                      <a:pt x="1" y="18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5" y="18"/>
                      <a:pt x="26" y="16"/>
                      <a:pt x="26" y="13"/>
                    </a:cubicBezTo>
                    <a:close/>
                    <a:moveTo>
                      <a:pt x="13" y="24"/>
                    </a:moveTo>
                    <a:cubicBezTo>
                      <a:pt x="7" y="24"/>
                      <a:pt x="2" y="19"/>
                      <a:pt x="2" y="13"/>
                    </a:cubicBezTo>
                    <a:cubicBezTo>
                      <a:pt x="2" y="7"/>
                      <a:pt x="7" y="3"/>
                      <a:pt x="13" y="3"/>
                    </a:cubicBezTo>
                    <a:cubicBezTo>
                      <a:pt x="19" y="3"/>
                      <a:pt x="24" y="7"/>
                      <a:pt x="24" y="13"/>
                    </a:cubicBezTo>
                    <a:cubicBezTo>
                      <a:pt x="24" y="19"/>
                      <a:pt x="19" y="24"/>
                      <a:pt x="13" y="2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15000"/>
                  </a:prst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zh-CN" altLang="en-US" sz="1350">
                  <a:solidFill>
                    <a:prstClr val="black"/>
                  </a:solidFill>
                  <a:latin typeface="Aptos" panose="020B0004020202020204" pitchFamily="34" charset="0"/>
                  <a:ea typeface="等线" panose="02010600030101010101" pitchFamily="2" charset="-122"/>
                </a:endParaRPr>
              </a:p>
            </p:txBody>
          </p:sp>
          <p:sp>
            <p:nvSpPr>
              <p:cNvPr id="55" name="Chevron 137">
                <a:extLst>
                  <a:ext uri="{FF2B5EF4-FFF2-40B4-BE49-F238E27FC236}">
                    <a16:creationId xmlns:a16="http://schemas.microsoft.com/office/drawing/2014/main" id="{6B6654EE-1305-7F52-BD1F-2C657F570FAA}"/>
                  </a:ext>
                </a:extLst>
              </p:cNvPr>
              <p:cNvSpPr/>
              <p:nvPr/>
            </p:nvSpPr>
            <p:spPr>
              <a:xfrm>
                <a:off x="451391" y="2718891"/>
                <a:ext cx="2257844" cy="696386"/>
              </a:xfrm>
              <a:prstGeom prst="chevron">
                <a:avLst/>
              </a:prstGeom>
              <a:gradFill flip="none" rotWithShape="1"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/>
                  </a:gs>
                  <a:gs pos="100000">
                    <a:schemeClr val="accent1"/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b="1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ptos" panose="020B0004020202020204" pitchFamily="34" charset="0"/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B0BD4510-5543-804A-A786-8A9E843D360D}"/>
                  </a:ext>
                </a:extLst>
              </p:cNvPr>
              <p:cNvSpPr/>
              <p:nvPr/>
            </p:nvSpPr>
            <p:spPr>
              <a:xfrm>
                <a:off x="900874" y="3716253"/>
                <a:ext cx="1358878" cy="1358878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57" name="任意多边形 82">
                <a:extLst>
                  <a:ext uri="{FF2B5EF4-FFF2-40B4-BE49-F238E27FC236}">
                    <a16:creationId xmlns:a16="http://schemas.microsoft.com/office/drawing/2014/main" id="{DD931C9C-7E29-54EC-B9EB-E376AD505C19}"/>
                  </a:ext>
                </a:extLst>
              </p:cNvPr>
              <p:cNvSpPr/>
              <p:nvPr/>
            </p:nvSpPr>
            <p:spPr bwMode="auto">
              <a:xfrm rot="3738964">
                <a:off x="1091477" y="3921671"/>
                <a:ext cx="977672" cy="9757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lstStyle/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 kern="0">
                  <a:solidFill>
                    <a:srgbClr val="FFFFFF"/>
                  </a:solidFill>
                  <a:latin typeface="Aptos" panose="020B0004020202020204" pitchFamily="34" charset="0"/>
                  <a:ea typeface="宋体"/>
                </a:endParaRPr>
              </a:p>
            </p:txBody>
          </p:sp>
          <p:sp>
            <p:nvSpPr>
              <p:cNvPr id="58" name="任意多边形 83">
                <a:extLst>
                  <a:ext uri="{FF2B5EF4-FFF2-40B4-BE49-F238E27FC236}">
                    <a16:creationId xmlns:a16="http://schemas.microsoft.com/office/drawing/2014/main" id="{9D5C7CBD-FDF8-37C9-9833-8BA89FDADAAA}"/>
                  </a:ext>
                </a:extLst>
              </p:cNvPr>
              <p:cNvSpPr/>
              <p:nvPr/>
            </p:nvSpPr>
            <p:spPr bwMode="auto">
              <a:xfrm rot="16377237">
                <a:off x="1098521" y="3928700"/>
                <a:ext cx="963584" cy="96164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685800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 kern="0" dirty="0">
                  <a:solidFill>
                    <a:srgbClr val="FFFFFF"/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1B728BF-8620-7D8B-C27F-26FAEB87671F}"/>
                  </a:ext>
                </a:extLst>
              </p:cNvPr>
              <p:cNvSpPr txBox="1"/>
              <p:nvPr/>
            </p:nvSpPr>
            <p:spPr>
              <a:xfrm>
                <a:off x="860011" y="2869868"/>
                <a:ext cx="1440604" cy="394433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 defTabSz="685800"/>
                <a:r>
                  <a:rPr lang="en-US" sz="1200" b="1" dirty="0">
                    <a:solidFill>
                      <a:prstClr val="white"/>
                    </a:solidFill>
                    <a:latin typeface="Aptos" panose="020B0004020202020204" pitchFamily="34" charset="0"/>
                  </a:rPr>
                  <a:t>VISION</a:t>
                </a:r>
                <a:endParaRPr lang="en-IN" sz="1200" b="1" dirty="0">
                  <a:solidFill>
                    <a:prstClr val="white"/>
                  </a:solidFill>
                  <a:latin typeface="Aptos" panose="020B0004020202020204" pitchFamily="34" charset="0"/>
                </a:endParaRPr>
              </a:p>
            </p:txBody>
          </p:sp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EEF75F43-AE98-241C-01C4-804C044D68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-1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351713" y="4180920"/>
                <a:ext cx="457200" cy="457200"/>
              </a:xfrm>
              <a:prstGeom prst="rect">
                <a:avLst/>
              </a:prstGeom>
            </p:spPr>
          </p:pic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1917B47-B5BE-9AD5-8E15-FA9FB832CD1A}"/>
                  </a:ext>
                </a:extLst>
              </p:cNvPr>
              <p:cNvSpPr txBox="1"/>
              <p:nvPr/>
            </p:nvSpPr>
            <p:spPr>
              <a:xfrm>
                <a:off x="1396717" y="1750122"/>
                <a:ext cx="367193" cy="46017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 defTabSz="685800"/>
                <a:r>
                  <a:rPr lang="en-US" sz="1500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Aptos" panose="020B0004020202020204" pitchFamily="34" charset="0"/>
                  </a:rPr>
                  <a:t>01</a:t>
                </a:r>
                <a:endParaRPr lang="en-IN" sz="15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ptos" panose="020B0004020202020204" pitchFamily="34" charset="0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0542F91-2C42-A03F-00F2-FD7C17CEF1E8}"/>
                </a:ext>
              </a:extLst>
            </p:cNvPr>
            <p:cNvGrpSpPr/>
            <p:nvPr/>
          </p:nvGrpSpPr>
          <p:grpSpPr>
            <a:xfrm>
              <a:off x="2709234" y="1665027"/>
              <a:ext cx="2257844" cy="3410104"/>
              <a:chOff x="2709234" y="1665027"/>
              <a:chExt cx="2257844" cy="3410104"/>
            </a:xfrm>
          </p:grpSpPr>
          <p:sp>
            <p:nvSpPr>
              <p:cNvPr id="45" name="Freeform 7">
                <a:extLst>
                  <a:ext uri="{FF2B5EF4-FFF2-40B4-BE49-F238E27FC236}">
                    <a16:creationId xmlns:a16="http://schemas.microsoft.com/office/drawing/2014/main" id="{41A27C2D-4D21-5D6A-FA58-2CBBFDB20F1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527979" y="1665027"/>
                <a:ext cx="620354" cy="911793"/>
              </a:xfrm>
              <a:custGeom>
                <a:avLst/>
                <a:gdLst>
                  <a:gd name="T0" fmla="*/ 26 w 26"/>
                  <a:gd name="T1" fmla="*/ 13 h 39"/>
                  <a:gd name="T2" fmla="*/ 13 w 26"/>
                  <a:gd name="T3" fmla="*/ 0 h 39"/>
                  <a:gd name="T4" fmla="*/ 0 w 26"/>
                  <a:gd name="T5" fmla="*/ 13 h 39"/>
                  <a:gd name="T6" fmla="*/ 2 w 26"/>
                  <a:gd name="T7" fmla="*/ 20 h 39"/>
                  <a:gd name="T8" fmla="*/ 2 w 26"/>
                  <a:gd name="T9" fmla="*/ 20 h 39"/>
                  <a:gd name="T10" fmla="*/ 13 w 26"/>
                  <a:gd name="T11" fmla="*/ 39 h 39"/>
                  <a:gd name="T12" fmla="*/ 24 w 26"/>
                  <a:gd name="T13" fmla="*/ 20 h 39"/>
                  <a:gd name="T14" fmla="*/ 24 w 26"/>
                  <a:gd name="T15" fmla="*/ 20 h 39"/>
                  <a:gd name="T16" fmla="*/ 26 w 26"/>
                  <a:gd name="T17" fmla="*/ 13 h 39"/>
                  <a:gd name="T18" fmla="*/ 13 w 26"/>
                  <a:gd name="T19" fmla="*/ 24 h 39"/>
                  <a:gd name="T20" fmla="*/ 2 w 26"/>
                  <a:gd name="T21" fmla="*/ 13 h 39"/>
                  <a:gd name="T22" fmla="*/ 13 w 26"/>
                  <a:gd name="T23" fmla="*/ 3 h 39"/>
                  <a:gd name="T24" fmla="*/ 24 w 26"/>
                  <a:gd name="T25" fmla="*/ 13 h 39"/>
                  <a:gd name="T26" fmla="*/ 13 w 26"/>
                  <a:gd name="T27" fmla="*/ 24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6" h="39">
                    <a:moveTo>
                      <a:pt x="26" y="13"/>
                    </a:moveTo>
                    <a:cubicBezTo>
                      <a:pt x="26" y="6"/>
                      <a:pt x="20" y="0"/>
                      <a:pt x="13" y="0"/>
                    </a:cubicBezTo>
                    <a:cubicBezTo>
                      <a:pt x="6" y="0"/>
                      <a:pt x="0" y="6"/>
                      <a:pt x="0" y="13"/>
                    </a:cubicBezTo>
                    <a:cubicBezTo>
                      <a:pt x="0" y="16"/>
                      <a:pt x="1" y="18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5" y="18"/>
                      <a:pt x="26" y="16"/>
                      <a:pt x="26" y="13"/>
                    </a:cubicBezTo>
                    <a:close/>
                    <a:moveTo>
                      <a:pt x="13" y="24"/>
                    </a:moveTo>
                    <a:cubicBezTo>
                      <a:pt x="7" y="24"/>
                      <a:pt x="2" y="19"/>
                      <a:pt x="2" y="13"/>
                    </a:cubicBezTo>
                    <a:cubicBezTo>
                      <a:pt x="2" y="7"/>
                      <a:pt x="7" y="3"/>
                      <a:pt x="13" y="3"/>
                    </a:cubicBezTo>
                    <a:cubicBezTo>
                      <a:pt x="19" y="3"/>
                      <a:pt x="24" y="7"/>
                      <a:pt x="24" y="13"/>
                    </a:cubicBezTo>
                    <a:cubicBezTo>
                      <a:pt x="24" y="19"/>
                      <a:pt x="19" y="24"/>
                      <a:pt x="13" y="2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15000"/>
                  </a:prstClr>
                </a:outerShdw>
              </a:effec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zh-CN" altLang="en-US" sz="1350">
                  <a:solidFill>
                    <a:prstClr val="black"/>
                  </a:solidFill>
                  <a:latin typeface="Aptos" panose="020B0004020202020204" pitchFamily="34" charset="0"/>
                  <a:ea typeface="等线" panose="02010600030101010101" pitchFamily="2" charset="-122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7A7CE4E8-C0CB-24C9-EA5B-CEAAE07C203C}"/>
                  </a:ext>
                </a:extLst>
              </p:cNvPr>
              <p:cNvSpPr/>
              <p:nvPr/>
            </p:nvSpPr>
            <p:spPr>
              <a:xfrm>
                <a:off x="3158717" y="3716253"/>
                <a:ext cx="1358878" cy="1358878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47" name="Chevron 153">
                <a:extLst>
                  <a:ext uri="{FF2B5EF4-FFF2-40B4-BE49-F238E27FC236}">
                    <a16:creationId xmlns:a16="http://schemas.microsoft.com/office/drawing/2014/main" id="{E470AD87-9235-7EE2-DCE5-362757F7F722}"/>
                  </a:ext>
                </a:extLst>
              </p:cNvPr>
              <p:cNvSpPr/>
              <p:nvPr/>
            </p:nvSpPr>
            <p:spPr>
              <a:xfrm>
                <a:off x="2709234" y="2718891"/>
                <a:ext cx="2257844" cy="696386"/>
              </a:xfrm>
              <a:prstGeom prst="chevron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0000">
                    <a:schemeClr val="accent2"/>
                  </a:gs>
                  <a:gs pos="100000">
                    <a:schemeClr val="accent2"/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b="1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ptos" panose="020B0004020202020204" pitchFamily="34" charset="0"/>
                </a:endParaRPr>
              </a:p>
            </p:txBody>
          </p:sp>
          <p:sp>
            <p:nvSpPr>
              <p:cNvPr id="48" name="任意多边形 82">
                <a:extLst>
                  <a:ext uri="{FF2B5EF4-FFF2-40B4-BE49-F238E27FC236}">
                    <a16:creationId xmlns:a16="http://schemas.microsoft.com/office/drawing/2014/main" id="{46AF7164-9F67-C830-FDCA-B05B0E8BE117}"/>
                  </a:ext>
                </a:extLst>
              </p:cNvPr>
              <p:cNvSpPr/>
              <p:nvPr/>
            </p:nvSpPr>
            <p:spPr bwMode="auto">
              <a:xfrm rot="3738964">
                <a:off x="3349320" y="3921671"/>
                <a:ext cx="977672" cy="9757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lstStyle/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 kern="0">
                  <a:solidFill>
                    <a:srgbClr val="FFFFFF"/>
                  </a:solidFill>
                  <a:latin typeface="Aptos" panose="020B0004020202020204" pitchFamily="34" charset="0"/>
                  <a:ea typeface="宋体"/>
                </a:endParaRPr>
              </a:p>
            </p:txBody>
          </p:sp>
          <p:sp>
            <p:nvSpPr>
              <p:cNvPr id="49" name="任意多边形 83">
                <a:extLst>
                  <a:ext uri="{FF2B5EF4-FFF2-40B4-BE49-F238E27FC236}">
                    <a16:creationId xmlns:a16="http://schemas.microsoft.com/office/drawing/2014/main" id="{4F64B432-59C0-A4E7-4D6D-86F3B1078D0B}"/>
                  </a:ext>
                </a:extLst>
              </p:cNvPr>
              <p:cNvSpPr/>
              <p:nvPr/>
            </p:nvSpPr>
            <p:spPr bwMode="auto">
              <a:xfrm rot="16377237">
                <a:off x="3356364" y="3928701"/>
                <a:ext cx="963584" cy="961639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685800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 kern="0">
                  <a:solidFill>
                    <a:srgbClr val="FFFFFF"/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1A83AA4-63E9-6A2A-3DEE-F1E87169CFE2}"/>
                  </a:ext>
                </a:extLst>
              </p:cNvPr>
              <p:cNvSpPr txBox="1"/>
              <p:nvPr/>
            </p:nvSpPr>
            <p:spPr>
              <a:xfrm>
                <a:off x="3117854" y="2869868"/>
                <a:ext cx="1440604" cy="394433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lvl="1" algn="ctr" defTabSz="685800"/>
                <a:r>
                  <a:rPr lang="en-US" sz="1200" b="1" dirty="0">
                    <a:solidFill>
                      <a:prstClr val="white"/>
                    </a:solidFill>
                    <a:latin typeface="Aptos" panose="020B0004020202020204" pitchFamily="34" charset="0"/>
                  </a:rPr>
                  <a:t>INSIGHTS</a:t>
                </a:r>
                <a:endParaRPr lang="en-IN" sz="1200" b="1" dirty="0">
                  <a:solidFill>
                    <a:prstClr val="white"/>
                  </a:solidFill>
                  <a:latin typeface="Aptos" panose="020B0004020202020204" pitchFamily="34" charset="0"/>
                </a:endParaRPr>
              </a:p>
            </p:txBody>
          </p:sp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315A5732-3C88-961F-74E6-27CDE1070E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-1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582817" y="4154181"/>
                <a:ext cx="510678" cy="510678"/>
              </a:xfrm>
              <a:prstGeom prst="rect">
                <a:avLst/>
              </a:prstGeom>
            </p:spPr>
          </p:pic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40D19FE-F1EC-8D9A-6DF7-5F7E775307C7}"/>
                  </a:ext>
                </a:extLst>
              </p:cNvPr>
              <p:cNvSpPr txBox="1"/>
              <p:nvPr/>
            </p:nvSpPr>
            <p:spPr>
              <a:xfrm>
                <a:off x="3654558" y="1750122"/>
                <a:ext cx="367193" cy="46017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 defTabSz="685800"/>
                <a:r>
                  <a:rPr lang="en-US" sz="1500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Aptos" panose="020B0004020202020204" pitchFamily="34" charset="0"/>
                  </a:rPr>
                  <a:t>02</a:t>
                </a:r>
                <a:endParaRPr lang="en-IN" sz="15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ptos" panose="020B0004020202020204" pitchFamily="34" charset="0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58C5717-3577-C889-97BB-F09912A4AA3D}"/>
                </a:ext>
              </a:extLst>
            </p:cNvPr>
            <p:cNvGrpSpPr/>
            <p:nvPr/>
          </p:nvGrpSpPr>
          <p:grpSpPr>
            <a:xfrm>
              <a:off x="4967077" y="1665027"/>
              <a:ext cx="2257844" cy="3410104"/>
              <a:chOff x="4967078" y="1665027"/>
              <a:chExt cx="2257844" cy="3410104"/>
            </a:xfrm>
          </p:grpSpPr>
          <p:sp>
            <p:nvSpPr>
              <p:cNvPr id="36" name="Freeform 7">
                <a:extLst>
                  <a:ext uri="{FF2B5EF4-FFF2-40B4-BE49-F238E27FC236}">
                    <a16:creationId xmlns:a16="http://schemas.microsoft.com/office/drawing/2014/main" id="{02BAA273-E767-DFD7-0A11-F87C77C1070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5823" y="1665027"/>
                <a:ext cx="620354" cy="911793"/>
              </a:xfrm>
              <a:custGeom>
                <a:avLst/>
                <a:gdLst>
                  <a:gd name="T0" fmla="*/ 26 w 26"/>
                  <a:gd name="T1" fmla="*/ 13 h 39"/>
                  <a:gd name="T2" fmla="*/ 13 w 26"/>
                  <a:gd name="T3" fmla="*/ 0 h 39"/>
                  <a:gd name="T4" fmla="*/ 0 w 26"/>
                  <a:gd name="T5" fmla="*/ 13 h 39"/>
                  <a:gd name="T6" fmla="*/ 2 w 26"/>
                  <a:gd name="T7" fmla="*/ 20 h 39"/>
                  <a:gd name="T8" fmla="*/ 2 w 26"/>
                  <a:gd name="T9" fmla="*/ 20 h 39"/>
                  <a:gd name="T10" fmla="*/ 13 w 26"/>
                  <a:gd name="T11" fmla="*/ 39 h 39"/>
                  <a:gd name="T12" fmla="*/ 24 w 26"/>
                  <a:gd name="T13" fmla="*/ 20 h 39"/>
                  <a:gd name="T14" fmla="*/ 24 w 26"/>
                  <a:gd name="T15" fmla="*/ 20 h 39"/>
                  <a:gd name="T16" fmla="*/ 26 w 26"/>
                  <a:gd name="T17" fmla="*/ 13 h 39"/>
                  <a:gd name="T18" fmla="*/ 13 w 26"/>
                  <a:gd name="T19" fmla="*/ 24 h 39"/>
                  <a:gd name="T20" fmla="*/ 2 w 26"/>
                  <a:gd name="T21" fmla="*/ 13 h 39"/>
                  <a:gd name="T22" fmla="*/ 13 w 26"/>
                  <a:gd name="T23" fmla="*/ 3 h 39"/>
                  <a:gd name="T24" fmla="*/ 24 w 26"/>
                  <a:gd name="T25" fmla="*/ 13 h 39"/>
                  <a:gd name="T26" fmla="*/ 13 w 26"/>
                  <a:gd name="T27" fmla="*/ 24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6" h="39">
                    <a:moveTo>
                      <a:pt x="26" y="13"/>
                    </a:moveTo>
                    <a:cubicBezTo>
                      <a:pt x="26" y="6"/>
                      <a:pt x="20" y="0"/>
                      <a:pt x="13" y="0"/>
                    </a:cubicBezTo>
                    <a:cubicBezTo>
                      <a:pt x="6" y="0"/>
                      <a:pt x="0" y="6"/>
                      <a:pt x="0" y="13"/>
                    </a:cubicBezTo>
                    <a:cubicBezTo>
                      <a:pt x="0" y="16"/>
                      <a:pt x="1" y="18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5" y="18"/>
                      <a:pt x="26" y="16"/>
                      <a:pt x="26" y="13"/>
                    </a:cubicBezTo>
                    <a:close/>
                    <a:moveTo>
                      <a:pt x="13" y="24"/>
                    </a:moveTo>
                    <a:cubicBezTo>
                      <a:pt x="7" y="24"/>
                      <a:pt x="2" y="19"/>
                      <a:pt x="2" y="13"/>
                    </a:cubicBezTo>
                    <a:cubicBezTo>
                      <a:pt x="2" y="7"/>
                      <a:pt x="7" y="3"/>
                      <a:pt x="13" y="3"/>
                    </a:cubicBezTo>
                    <a:cubicBezTo>
                      <a:pt x="19" y="3"/>
                      <a:pt x="24" y="7"/>
                      <a:pt x="24" y="13"/>
                    </a:cubicBezTo>
                    <a:cubicBezTo>
                      <a:pt x="24" y="19"/>
                      <a:pt x="19" y="24"/>
                      <a:pt x="13" y="2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15000"/>
                  </a:prstClr>
                </a:outerShdw>
              </a:effec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zh-CN" altLang="en-US" sz="1350">
                  <a:solidFill>
                    <a:prstClr val="black"/>
                  </a:solidFill>
                  <a:latin typeface="Aptos" panose="020B0004020202020204" pitchFamily="34" charset="0"/>
                  <a:ea typeface="等线" panose="02010600030101010101" pitchFamily="2" charset="-122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332F81C0-8E2C-42F6-0E16-6A45F5B9589B}"/>
                  </a:ext>
                </a:extLst>
              </p:cNvPr>
              <p:cNvSpPr/>
              <p:nvPr/>
            </p:nvSpPr>
            <p:spPr>
              <a:xfrm>
                <a:off x="5416561" y="3716253"/>
                <a:ext cx="1358878" cy="1358878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38" name="Chevron 144">
                <a:extLst>
                  <a:ext uri="{FF2B5EF4-FFF2-40B4-BE49-F238E27FC236}">
                    <a16:creationId xmlns:a16="http://schemas.microsoft.com/office/drawing/2014/main" id="{41B14388-20B1-FA11-12A1-2663DCD3B6F5}"/>
                  </a:ext>
                </a:extLst>
              </p:cNvPr>
              <p:cNvSpPr/>
              <p:nvPr/>
            </p:nvSpPr>
            <p:spPr>
              <a:xfrm>
                <a:off x="4967078" y="2718891"/>
                <a:ext cx="2257844" cy="696386"/>
              </a:xfrm>
              <a:prstGeom prst="chevron">
                <a:avLst/>
              </a:prstGeom>
              <a:gradFill flip="none" rotWithShape="1">
                <a:gsLst>
                  <a:gs pos="0">
                    <a:schemeClr val="accent3">
                      <a:shade val="30000"/>
                      <a:satMod val="115000"/>
                    </a:schemeClr>
                  </a:gs>
                  <a:gs pos="50000">
                    <a:schemeClr val="accent3">
                      <a:shade val="67500"/>
                      <a:satMod val="115000"/>
                    </a:schemeClr>
                  </a:gs>
                  <a:gs pos="100000">
                    <a:schemeClr val="accent3">
                      <a:shade val="100000"/>
                      <a:satMod val="11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b="1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ptos" panose="020B0004020202020204" pitchFamily="34" charset="0"/>
                </a:endParaRPr>
              </a:p>
            </p:txBody>
          </p:sp>
          <p:sp>
            <p:nvSpPr>
              <p:cNvPr id="39" name="任意多边形 82">
                <a:extLst>
                  <a:ext uri="{FF2B5EF4-FFF2-40B4-BE49-F238E27FC236}">
                    <a16:creationId xmlns:a16="http://schemas.microsoft.com/office/drawing/2014/main" id="{238A814C-5931-7AF6-370B-6899038B02D4}"/>
                  </a:ext>
                </a:extLst>
              </p:cNvPr>
              <p:cNvSpPr/>
              <p:nvPr/>
            </p:nvSpPr>
            <p:spPr bwMode="auto">
              <a:xfrm rot="3738964">
                <a:off x="5704271" y="3907840"/>
                <a:ext cx="977672" cy="9757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lstStyle/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 kern="0">
                  <a:solidFill>
                    <a:srgbClr val="FFFFFF"/>
                  </a:solidFill>
                  <a:latin typeface="Aptos" panose="020B0004020202020204" pitchFamily="34" charset="0"/>
                  <a:ea typeface="宋体"/>
                </a:endParaRPr>
              </a:p>
            </p:txBody>
          </p:sp>
          <p:sp>
            <p:nvSpPr>
              <p:cNvPr id="40" name="任意多边形 83">
                <a:extLst>
                  <a:ext uri="{FF2B5EF4-FFF2-40B4-BE49-F238E27FC236}">
                    <a16:creationId xmlns:a16="http://schemas.microsoft.com/office/drawing/2014/main" id="{9A7C403E-0D95-76DD-BB7E-5ED927C570C5}"/>
                  </a:ext>
                </a:extLst>
              </p:cNvPr>
              <p:cNvSpPr/>
              <p:nvPr/>
            </p:nvSpPr>
            <p:spPr bwMode="auto">
              <a:xfrm rot="16377237">
                <a:off x="5652710" y="3936322"/>
                <a:ext cx="963584" cy="961639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685800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 kern="0" dirty="0">
                  <a:solidFill>
                    <a:srgbClr val="FFFFFF"/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3BF2C90-246B-E1AF-E391-818843198131}"/>
                  </a:ext>
                </a:extLst>
              </p:cNvPr>
              <p:cNvSpPr txBox="1"/>
              <p:nvPr/>
            </p:nvSpPr>
            <p:spPr>
              <a:xfrm>
                <a:off x="5375698" y="2869868"/>
                <a:ext cx="1440604" cy="394433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15000"/>
                  </a:prstClr>
                </a:outerShdw>
              </a:effectLst>
            </p:spPr>
            <p:txBody>
              <a:bodyPr wrap="square" rtlCol="0" anchor="ctr">
                <a:spAutoFit/>
              </a:bodyPr>
              <a:lstStyle/>
              <a:p>
                <a:pPr algn="ctr" defTabSz="685800"/>
                <a:r>
                  <a:rPr lang="en-US" sz="1200" b="1" dirty="0">
                    <a:solidFill>
                      <a:prstClr val="white"/>
                    </a:solidFill>
                    <a:latin typeface="Aptos" panose="020B0004020202020204" pitchFamily="34" charset="0"/>
                  </a:rPr>
                  <a:t>AOP</a:t>
                </a:r>
                <a:endParaRPr lang="en-IN" sz="1200" b="1" dirty="0">
                  <a:solidFill>
                    <a:prstClr val="white"/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5096AA7-05F8-72F4-FF7F-42787765B052}"/>
                  </a:ext>
                </a:extLst>
              </p:cNvPr>
              <p:cNvSpPr txBox="1"/>
              <p:nvPr/>
            </p:nvSpPr>
            <p:spPr>
              <a:xfrm>
                <a:off x="5912404" y="1750122"/>
                <a:ext cx="367193" cy="46017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 defTabSz="685800"/>
                <a:r>
                  <a:rPr lang="en-US" sz="1500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Aptos" panose="020B0004020202020204" pitchFamily="34" charset="0"/>
                  </a:rPr>
                  <a:t>03</a:t>
                </a:r>
                <a:endParaRPr lang="en-IN" sz="15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ptos" panose="020B0004020202020204" pitchFamily="34" charset="0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D92833A-CA8D-AB3F-C406-7D234F3C289B}"/>
                </a:ext>
              </a:extLst>
            </p:cNvPr>
            <p:cNvGrpSpPr/>
            <p:nvPr/>
          </p:nvGrpSpPr>
          <p:grpSpPr>
            <a:xfrm>
              <a:off x="7224920" y="1665027"/>
              <a:ext cx="2257844" cy="3410104"/>
              <a:chOff x="7224921" y="1665027"/>
              <a:chExt cx="2257844" cy="3410104"/>
            </a:xfrm>
          </p:grpSpPr>
          <p:sp>
            <p:nvSpPr>
              <p:cNvPr id="27" name="Freeform 7">
                <a:extLst>
                  <a:ext uri="{FF2B5EF4-FFF2-40B4-BE49-F238E27FC236}">
                    <a16:creationId xmlns:a16="http://schemas.microsoft.com/office/drawing/2014/main" id="{88E39BF9-0440-17D1-8572-18C3CDF7772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043666" y="1665027"/>
                <a:ext cx="620354" cy="911793"/>
              </a:xfrm>
              <a:custGeom>
                <a:avLst/>
                <a:gdLst>
                  <a:gd name="T0" fmla="*/ 26 w 26"/>
                  <a:gd name="T1" fmla="*/ 13 h 39"/>
                  <a:gd name="T2" fmla="*/ 13 w 26"/>
                  <a:gd name="T3" fmla="*/ 0 h 39"/>
                  <a:gd name="T4" fmla="*/ 0 w 26"/>
                  <a:gd name="T5" fmla="*/ 13 h 39"/>
                  <a:gd name="T6" fmla="*/ 2 w 26"/>
                  <a:gd name="T7" fmla="*/ 20 h 39"/>
                  <a:gd name="T8" fmla="*/ 2 w 26"/>
                  <a:gd name="T9" fmla="*/ 20 h 39"/>
                  <a:gd name="T10" fmla="*/ 13 w 26"/>
                  <a:gd name="T11" fmla="*/ 39 h 39"/>
                  <a:gd name="T12" fmla="*/ 24 w 26"/>
                  <a:gd name="T13" fmla="*/ 20 h 39"/>
                  <a:gd name="T14" fmla="*/ 24 w 26"/>
                  <a:gd name="T15" fmla="*/ 20 h 39"/>
                  <a:gd name="T16" fmla="*/ 26 w 26"/>
                  <a:gd name="T17" fmla="*/ 13 h 39"/>
                  <a:gd name="T18" fmla="*/ 13 w 26"/>
                  <a:gd name="T19" fmla="*/ 24 h 39"/>
                  <a:gd name="T20" fmla="*/ 2 w 26"/>
                  <a:gd name="T21" fmla="*/ 13 h 39"/>
                  <a:gd name="T22" fmla="*/ 13 w 26"/>
                  <a:gd name="T23" fmla="*/ 3 h 39"/>
                  <a:gd name="T24" fmla="*/ 24 w 26"/>
                  <a:gd name="T25" fmla="*/ 13 h 39"/>
                  <a:gd name="T26" fmla="*/ 13 w 26"/>
                  <a:gd name="T27" fmla="*/ 24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6" h="39">
                    <a:moveTo>
                      <a:pt x="26" y="13"/>
                    </a:moveTo>
                    <a:cubicBezTo>
                      <a:pt x="26" y="6"/>
                      <a:pt x="20" y="0"/>
                      <a:pt x="13" y="0"/>
                    </a:cubicBezTo>
                    <a:cubicBezTo>
                      <a:pt x="6" y="0"/>
                      <a:pt x="0" y="6"/>
                      <a:pt x="0" y="13"/>
                    </a:cubicBezTo>
                    <a:cubicBezTo>
                      <a:pt x="0" y="16"/>
                      <a:pt x="1" y="18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5" y="18"/>
                      <a:pt x="26" y="16"/>
                      <a:pt x="26" y="13"/>
                    </a:cubicBezTo>
                    <a:close/>
                    <a:moveTo>
                      <a:pt x="13" y="24"/>
                    </a:moveTo>
                    <a:cubicBezTo>
                      <a:pt x="7" y="24"/>
                      <a:pt x="2" y="19"/>
                      <a:pt x="2" y="13"/>
                    </a:cubicBezTo>
                    <a:cubicBezTo>
                      <a:pt x="2" y="7"/>
                      <a:pt x="7" y="3"/>
                      <a:pt x="13" y="3"/>
                    </a:cubicBezTo>
                    <a:cubicBezTo>
                      <a:pt x="19" y="3"/>
                      <a:pt x="24" y="7"/>
                      <a:pt x="24" y="13"/>
                    </a:cubicBezTo>
                    <a:cubicBezTo>
                      <a:pt x="24" y="19"/>
                      <a:pt x="19" y="24"/>
                      <a:pt x="13" y="2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15000"/>
                  </a:prstClr>
                </a:outerShdw>
              </a:effec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zh-CN" altLang="en-US" sz="1350">
                  <a:solidFill>
                    <a:prstClr val="black"/>
                  </a:solidFill>
                  <a:latin typeface="Aptos" panose="020B0004020202020204" pitchFamily="34" charset="0"/>
                  <a:ea typeface="等线" panose="02010600030101010101" pitchFamily="2" charset="-122"/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D31CD9CD-519F-4DEB-7083-28A663B75617}"/>
                  </a:ext>
                </a:extLst>
              </p:cNvPr>
              <p:cNvSpPr/>
              <p:nvPr/>
            </p:nvSpPr>
            <p:spPr>
              <a:xfrm>
                <a:off x="7674404" y="3716253"/>
                <a:ext cx="1358878" cy="1358878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9" name="Chevron 132">
                <a:extLst>
                  <a:ext uri="{FF2B5EF4-FFF2-40B4-BE49-F238E27FC236}">
                    <a16:creationId xmlns:a16="http://schemas.microsoft.com/office/drawing/2014/main" id="{4B5E95A9-938D-8359-360B-DC62872E58E1}"/>
                  </a:ext>
                </a:extLst>
              </p:cNvPr>
              <p:cNvSpPr/>
              <p:nvPr/>
            </p:nvSpPr>
            <p:spPr>
              <a:xfrm>
                <a:off x="7224921" y="2718891"/>
                <a:ext cx="2257844" cy="696386"/>
              </a:xfrm>
              <a:prstGeom prst="chevron">
                <a:avLst/>
              </a:prstGeom>
              <a:gradFill flip="none" rotWithShape="1">
                <a:gsLst>
                  <a:gs pos="0">
                    <a:schemeClr val="accent4">
                      <a:lumMod val="75000"/>
                    </a:schemeClr>
                  </a:gs>
                  <a:gs pos="50000">
                    <a:schemeClr val="accent4"/>
                  </a:gs>
                  <a:gs pos="100000">
                    <a:schemeClr val="accent4"/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b="1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ptos" panose="020B0004020202020204" pitchFamily="34" charset="0"/>
                </a:endParaRPr>
              </a:p>
            </p:txBody>
          </p:sp>
          <p:sp>
            <p:nvSpPr>
              <p:cNvPr id="30" name="任意多边形 82">
                <a:extLst>
                  <a:ext uri="{FF2B5EF4-FFF2-40B4-BE49-F238E27FC236}">
                    <a16:creationId xmlns:a16="http://schemas.microsoft.com/office/drawing/2014/main" id="{3F0C4819-67A9-2199-455E-C8A28CBD15B0}"/>
                  </a:ext>
                </a:extLst>
              </p:cNvPr>
              <p:cNvSpPr/>
              <p:nvPr/>
            </p:nvSpPr>
            <p:spPr bwMode="auto">
              <a:xfrm rot="3738964">
                <a:off x="7865007" y="3921671"/>
                <a:ext cx="977672" cy="9757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lstStyle/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 kern="0">
                  <a:solidFill>
                    <a:srgbClr val="FFFFFF"/>
                  </a:solidFill>
                  <a:latin typeface="Aptos" panose="020B0004020202020204" pitchFamily="34" charset="0"/>
                  <a:ea typeface="宋体"/>
                </a:endParaRPr>
              </a:p>
            </p:txBody>
          </p:sp>
          <p:sp>
            <p:nvSpPr>
              <p:cNvPr id="31" name="任意多边形 83">
                <a:extLst>
                  <a:ext uri="{FF2B5EF4-FFF2-40B4-BE49-F238E27FC236}">
                    <a16:creationId xmlns:a16="http://schemas.microsoft.com/office/drawing/2014/main" id="{AB6BEFC7-A987-35AA-1A5B-19C67AD0CE51}"/>
                  </a:ext>
                </a:extLst>
              </p:cNvPr>
              <p:cNvSpPr/>
              <p:nvPr/>
            </p:nvSpPr>
            <p:spPr bwMode="auto">
              <a:xfrm rot="16377237">
                <a:off x="7872051" y="3928701"/>
                <a:ext cx="963584" cy="961639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685800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 kern="0">
                  <a:solidFill>
                    <a:srgbClr val="FFFFFF"/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0DE05A8-70D6-2A40-9205-E26649418BED}"/>
                  </a:ext>
                </a:extLst>
              </p:cNvPr>
              <p:cNvSpPr txBox="1"/>
              <p:nvPr/>
            </p:nvSpPr>
            <p:spPr>
              <a:xfrm>
                <a:off x="7633541" y="2869868"/>
                <a:ext cx="1440604" cy="394433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 defTabSz="685800"/>
                <a:r>
                  <a:rPr lang="en-US" sz="1200" b="1" dirty="0">
                    <a:solidFill>
                      <a:prstClr val="white"/>
                    </a:solidFill>
                    <a:latin typeface="Aptos" panose="020B0004020202020204" pitchFamily="34" charset="0"/>
                  </a:rPr>
                  <a:t>FINANCIAL MODEL</a:t>
                </a:r>
                <a:endParaRPr lang="en-IN" sz="1200" b="1" dirty="0">
                  <a:solidFill>
                    <a:prstClr val="white"/>
                  </a:solidFill>
                  <a:latin typeface="Aptos" panose="020B0004020202020204" pitchFamily="34" charset="0"/>
                </a:endParaRPr>
              </a:p>
            </p:txBody>
          </p:sp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4FD5E555-1774-46F2-DBAA-B1CF1D9090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-1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8081465" y="4137142"/>
                <a:ext cx="544756" cy="544756"/>
              </a:xfrm>
              <a:prstGeom prst="rect">
                <a:avLst/>
              </a:prstGeom>
            </p:spPr>
          </p:pic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80AEBC6-8D8D-A1FF-EF5E-E25741181CA1}"/>
                  </a:ext>
                </a:extLst>
              </p:cNvPr>
              <p:cNvSpPr txBox="1"/>
              <p:nvPr/>
            </p:nvSpPr>
            <p:spPr>
              <a:xfrm>
                <a:off x="8170247" y="1750122"/>
                <a:ext cx="367193" cy="46017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 defTabSz="685800"/>
                <a:r>
                  <a:rPr lang="en-US" sz="1500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Aptos" panose="020B0004020202020204" pitchFamily="34" charset="0"/>
                  </a:rPr>
                  <a:t>04</a:t>
                </a:r>
                <a:endParaRPr lang="en-IN" sz="15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ptos" panose="020B0004020202020204" pitchFamily="34" charset="0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8AC986A-5D8A-271E-7A89-3A7183AC49DA}"/>
                </a:ext>
              </a:extLst>
            </p:cNvPr>
            <p:cNvGrpSpPr/>
            <p:nvPr/>
          </p:nvGrpSpPr>
          <p:grpSpPr>
            <a:xfrm>
              <a:off x="9482765" y="1665027"/>
              <a:ext cx="2257844" cy="3410104"/>
              <a:chOff x="9482765" y="1665027"/>
              <a:chExt cx="2257844" cy="3410104"/>
            </a:xfrm>
          </p:grpSpPr>
          <p:sp>
            <p:nvSpPr>
              <p:cNvPr id="18" name="Freeform 7">
                <a:extLst>
                  <a:ext uri="{FF2B5EF4-FFF2-40B4-BE49-F238E27FC236}">
                    <a16:creationId xmlns:a16="http://schemas.microsoft.com/office/drawing/2014/main" id="{D9349C4C-E741-5E8F-2D61-F5569E1BFF6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301510" y="1665027"/>
                <a:ext cx="620354" cy="911793"/>
              </a:xfrm>
              <a:custGeom>
                <a:avLst/>
                <a:gdLst>
                  <a:gd name="T0" fmla="*/ 26 w 26"/>
                  <a:gd name="T1" fmla="*/ 13 h 39"/>
                  <a:gd name="T2" fmla="*/ 13 w 26"/>
                  <a:gd name="T3" fmla="*/ 0 h 39"/>
                  <a:gd name="T4" fmla="*/ 0 w 26"/>
                  <a:gd name="T5" fmla="*/ 13 h 39"/>
                  <a:gd name="T6" fmla="*/ 2 w 26"/>
                  <a:gd name="T7" fmla="*/ 20 h 39"/>
                  <a:gd name="T8" fmla="*/ 2 w 26"/>
                  <a:gd name="T9" fmla="*/ 20 h 39"/>
                  <a:gd name="T10" fmla="*/ 13 w 26"/>
                  <a:gd name="T11" fmla="*/ 39 h 39"/>
                  <a:gd name="T12" fmla="*/ 24 w 26"/>
                  <a:gd name="T13" fmla="*/ 20 h 39"/>
                  <a:gd name="T14" fmla="*/ 24 w 26"/>
                  <a:gd name="T15" fmla="*/ 20 h 39"/>
                  <a:gd name="T16" fmla="*/ 26 w 26"/>
                  <a:gd name="T17" fmla="*/ 13 h 39"/>
                  <a:gd name="T18" fmla="*/ 13 w 26"/>
                  <a:gd name="T19" fmla="*/ 24 h 39"/>
                  <a:gd name="T20" fmla="*/ 2 w 26"/>
                  <a:gd name="T21" fmla="*/ 13 h 39"/>
                  <a:gd name="T22" fmla="*/ 13 w 26"/>
                  <a:gd name="T23" fmla="*/ 3 h 39"/>
                  <a:gd name="T24" fmla="*/ 24 w 26"/>
                  <a:gd name="T25" fmla="*/ 13 h 39"/>
                  <a:gd name="T26" fmla="*/ 13 w 26"/>
                  <a:gd name="T27" fmla="*/ 24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6" h="39">
                    <a:moveTo>
                      <a:pt x="26" y="13"/>
                    </a:moveTo>
                    <a:cubicBezTo>
                      <a:pt x="26" y="6"/>
                      <a:pt x="20" y="0"/>
                      <a:pt x="13" y="0"/>
                    </a:cubicBezTo>
                    <a:cubicBezTo>
                      <a:pt x="6" y="0"/>
                      <a:pt x="0" y="6"/>
                      <a:pt x="0" y="13"/>
                    </a:cubicBezTo>
                    <a:cubicBezTo>
                      <a:pt x="0" y="16"/>
                      <a:pt x="1" y="18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5" y="18"/>
                      <a:pt x="26" y="16"/>
                      <a:pt x="26" y="13"/>
                    </a:cubicBezTo>
                    <a:close/>
                    <a:moveTo>
                      <a:pt x="13" y="24"/>
                    </a:moveTo>
                    <a:cubicBezTo>
                      <a:pt x="7" y="24"/>
                      <a:pt x="2" y="19"/>
                      <a:pt x="2" y="13"/>
                    </a:cubicBezTo>
                    <a:cubicBezTo>
                      <a:pt x="2" y="7"/>
                      <a:pt x="7" y="3"/>
                      <a:pt x="13" y="3"/>
                    </a:cubicBezTo>
                    <a:cubicBezTo>
                      <a:pt x="19" y="3"/>
                      <a:pt x="24" y="7"/>
                      <a:pt x="24" y="13"/>
                    </a:cubicBezTo>
                    <a:cubicBezTo>
                      <a:pt x="24" y="19"/>
                      <a:pt x="19" y="24"/>
                      <a:pt x="13" y="2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15000"/>
                  </a:prstClr>
                </a:outerShdw>
              </a:effec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zh-CN" altLang="en-US" sz="1350">
                  <a:solidFill>
                    <a:prstClr val="black"/>
                  </a:solidFill>
                  <a:latin typeface="Aptos" panose="020B0004020202020204" pitchFamily="34" charset="0"/>
                  <a:ea typeface="等线" panose="02010600030101010101" pitchFamily="2" charset="-122"/>
                </a:endParaRPr>
              </a:p>
            </p:txBody>
          </p:sp>
          <p:sp>
            <p:nvSpPr>
              <p:cNvPr id="19" name="Chevron 116">
                <a:extLst>
                  <a:ext uri="{FF2B5EF4-FFF2-40B4-BE49-F238E27FC236}">
                    <a16:creationId xmlns:a16="http://schemas.microsoft.com/office/drawing/2014/main" id="{6DE6D438-691E-EACF-637E-7BD99B0F845A}"/>
                  </a:ext>
                </a:extLst>
              </p:cNvPr>
              <p:cNvSpPr/>
              <p:nvPr/>
            </p:nvSpPr>
            <p:spPr>
              <a:xfrm>
                <a:off x="9482765" y="2711645"/>
                <a:ext cx="2257844" cy="703632"/>
              </a:xfrm>
              <a:prstGeom prst="chevron">
                <a:avLst/>
              </a:prstGeom>
              <a:gradFill flip="none" rotWithShape="1">
                <a:gsLst>
                  <a:gs pos="0">
                    <a:schemeClr val="accent5">
                      <a:lumMod val="75000"/>
                    </a:schemeClr>
                  </a:gs>
                  <a:gs pos="100000">
                    <a:schemeClr val="accent5"/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b="1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ptos" panose="020B0004020202020204" pitchFamily="34" charset="0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9FA0A11-77E1-EEBA-5D3A-30AD80D4B1BA}"/>
                  </a:ext>
                </a:extLst>
              </p:cNvPr>
              <p:cNvSpPr/>
              <p:nvPr/>
            </p:nvSpPr>
            <p:spPr>
              <a:xfrm>
                <a:off x="9932248" y="3716253"/>
                <a:ext cx="1358878" cy="1358878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1" name="任意多边形 82">
                <a:extLst>
                  <a:ext uri="{FF2B5EF4-FFF2-40B4-BE49-F238E27FC236}">
                    <a16:creationId xmlns:a16="http://schemas.microsoft.com/office/drawing/2014/main" id="{AFC74E5F-763F-E7E3-C702-AE68854459F4}"/>
                  </a:ext>
                </a:extLst>
              </p:cNvPr>
              <p:cNvSpPr/>
              <p:nvPr/>
            </p:nvSpPr>
            <p:spPr bwMode="auto">
              <a:xfrm rot="3738964">
                <a:off x="10122851" y="3921671"/>
                <a:ext cx="977672" cy="9757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lstStyle/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 kern="0">
                  <a:solidFill>
                    <a:srgbClr val="FFFFFF"/>
                  </a:solidFill>
                  <a:latin typeface="Aptos" panose="020B0004020202020204" pitchFamily="34" charset="0"/>
                  <a:ea typeface="宋体"/>
                </a:endParaRPr>
              </a:p>
            </p:txBody>
          </p:sp>
          <p:sp>
            <p:nvSpPr>
              <p:cNvPr id="22" name="任意多边形 83">
                <a:extLst>
                  <a:ext uri="{FF2B5EF4-FFF2-40B4-BE49-F238E27FC236}">
                    <a16:creationId xmlns:a16="http://schemas.microsoft.com/office/drawing/2014/main" id="{60F9DBD3-AB3E-7A5A-707B-2575AC292628}"/>
                  </a:ext>
                </a:extLst>
              </p:cNvPr>
              <p:cNvSpPr/>
              <p:nvPr/>
            </p:nvSpPr>
            <p:spPr bwMode="auto">
              <a:xfrm rot="16377237">
                <a:off x="10129895" y="3928701"/>
                <a:ext cx="963584" cy="961639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685800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 kern="0">
                  <a:solidFill>
                    <a:srgbClr val="FFFFFF"/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DC2BD4E-E093-2E2C-9778-70E19E45D769}"/>
                  </a:ext>
                </a:extLst>
              </p:cNvPr>
              <p:cNvSpPr txBox="1"/>
              <p:nvPr/>
            </p:nvSpPr>
            <p:spPr>
              <a:xfrm>
                <a:off x="9743596" y="2734766"/>
                <a:ext cx="1782606" cy="65738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 defTabSz="685800"/>
                <a:r>
                  <a:rPr lang="en-US" sz="1200" b="1" dirty="0">
                    <a:solidFill>
                      <a:prstClr val="white"/>
                    </a:solidFill>
                    <a:latin typeface="Aptos" panose="020B0004020202020204" pitchFamily="34" charset="0"/>
                  </a:rPr>
                  <a:t>OVERALL FINANCIAL STABILITY</a:t>
                </a:r>
                <a:endParaRPr lang="en-IN" sz="1200" b="1" dirty="0">
                  <a:solidFill>
                    <a:prstClr val="white"/>
                  </a:solidFill>
                  <a:latin typeface="Aptos" panose="020B0004020202020204" pitchFamily="34" charset="0"/>
                </a:endParaRPr>
              </a:p>
            </p:txBody>
          </p:sp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7BA672DE-2C75-5DF8-58BB-0FCF66B0E9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rightnessContrast bright="-1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0358764" y="4156597"/>
                <a:ext cx="505846" cy="505846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9AFC5E0-07F1-D031-A3FE-2BDB9851D311}"/>
                  </a:ext>
                </a:extLst>
              </p:cNvPr>
              <p:cNvSpPr txBox="1"/>
              <p:nvPr/>
            </p:nvSpPr>
            <p:spPr>
              <a:xfrm>
                <a:off x="10428090" y="1750122"/>
                <a:ext cx="367193" cy="46017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 defTabSz="685800"/>
                <a:r>
                  <a:rPr lang="en-US" sz="1500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Aptos" panose="020B0004020202020204" pitchFamily="34" charset="0"/>
                  </a:rPr>
                  <a:t>05</a:t>
                </a:r>
                <a:endParaRPr lang="en-IN" sz="15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ptos" panose="020B0004020202020204" pitchFamily="34" charset="0"/>
                </a:endParaRPr>
              </a:p>
            </p:txBody>
          </p:sp>
        </p:grpSp>
      </p:grpSp>
      <p:sp>
        <p:nvSpPr>
          <p:cNvPr id="322" name="Google Shape;12425;p89">
            <a:extLst>
              <a:ext uri="{FF2B5EF4-FFF2-40B4-BE49-F238E27FC236}">
                <a16:creationId xmlns:a16="http://schemas.microsoft.com/office/drawing/2014/main" id="{187D746C-A93D-0695-EE10-611C6E051802}"/>
              </a:ext>
            </a:extLst>
          </p:cNvPr>
          <p:cNvSpPr/>
          <p:nvPr/>
        </p:nvSpPr>
        <p:spPr>
          <a:xfrm>
            <a:off x="5817329" y="3429000"/>
            <a:ext cx="468529" cy="462305"/>
          </a:xfrm>
          <a:custGeom>
            <a:avLst/>
            <a:gdLst/>
            <a:ahLst/>
            <a:cxnLst/>
            <a:rect l="l" t="t" r="r" b="b"/>
            <a:pathLst>
              <a:path w="11815" h="11658" extrusionOk="0">
                <a:moveTo>
                  <a:pt x="2048" y="1167"/>
                </a:moveTo>
                <a:lnTo>
                  <a:pt x="2048" y="2017"/>
                </a:lnTo>
                <a:lnTo>
                  <a:pt x="1166" y="2017"/>
                </a:lnTo>
                <a:lnTo>
                  <a:pt x="2048" y="1167"/>
                </a:lnTo>
                <a:close/>
                <a:moveTo>
                  <a:pt x="10330" y="2773"/>
                </a:moveTo>
                <a:cubicBezTo>
                  <a:pt x="10507" y="2773"/>
                  <a:pt x="10680" y="2836"/>
                  <a:pt x="10806" y="2962"/>
                </a:cubicBezTo>
                <a:cubicBezTo>
                  <a:pt x="11058" y="3246"/>
                  <a:pt x="11058" y="3687"/>
                  <a:pt x="10775" y="3908"/>
                </a:cubicBezTo>
                <a:lnTo>
                  <a:pt x="10176" y="4506"/>
                </a:lnTo>
                <a:lnTo>
                  <a:pt x="9231" y="3561"/>
                </a:lnTo>
                <a:lnTo>
                  <a:pt x="9830" y="2962"/>
                </a:lnTo>
                <a:cubicBezTo>
                  <a:pt x="9972" y="2836"/>
                  <a:pt x="10153" y="2773"/>
                  <a:pt x="10330" y="2773"/>
                </a:cubicBezTo>
                <a:close/>
                <a:moveTo>
                  <a:pt x="8727" y="4034"/>
                </a:moveTo>
                <a:lnTo>
                  <a:pt x="9672" y="4979"/>
                </a:lnTo>
                <a:cubicBezTo>
                  <a:pt x="8538" y="6207"/>
                  <a:pt x="7026" y="7688"/>
                  <a:pt x="5892" y="8854"/>
                </a:cubicBezTo>
                <a:lnTo>
                  <a:pt x="4915" y="7846"/>
                </a:lnTo>
                <a:lnTo>
                  <a:pt x="8727" y="4034"/>
                </a:lnTo>
                <a:close/>
                <a:moveTo>
                  <a:pt x="4600" y="8539"/>
                </a:moveTo>
                <a:lnTo>
                  <a:pt x="5230" y="9169"/>
                </a:lnTo>
                <a:lnTo>
                  <a:pt x="4285" y="9421"/>
                </a:lnTo>
                <a:cubicBezTo>
                  <a:pt x="4348" y="9232"/>
                  <a:pt x="4505" y="8728"/>
                  <a:pt x="4600" y="8539"/>
                </a:cubicBezTo>
                <a:close/>
                <a:moveTo>
                  <a:pt x="7908" y="694"/>
                </a:moveTo>
                <a:cubicBezTo>
                  <a:pt x="8097" y="694"/>
                  <a:pt x="8255" y="852"/>
                  <a:pt x="8255" y="1041"/>
                </a:cubicBezTo>
                <a:lnTo>
                  <a:pt x="8255" y="3592"/>
                </a:lnTo>
                <a:lnTo>
                  <a:pt x="7467" y="4380"/>
                </a:lnTo>
                <a:cubicBezTo>
                  <a:pt x="7435" y="4286"/>
                  <a:pt x="7309" y="4160"/>
                  <a:pt x="7152" y="4160"/>
                </a:cubicBezTo>
                <a:lnTo>
                  <a:pt x="1733" y="4160"/>
                </a:lnTo>
                <a:cubicBezTo>
                  <a:pt x="1512" y="4160"/>
                  <a:pt x="1386" y="4317"/>
                  <a:pt x="1386" y="4506"/>
                </a:cubicBezTo>
                <a:cubicBezTo>
                  <a:pt x="1386" y="4695"/>
                  <a:pt x="1512" y="4853"/>
                  <a:pt x="1733" y="4853"/>
                </a:cubicBezTo>
                <a:lnTo>
                  <a:pt x="6994" y="4853"/>
                </a:lnTo>
                <a:lnTo>
                  <a:pt x="6333" y="5546"/>
                </a:lnTo>
                <a:lnTo>
                  <a:pt x="1733" y="5546"/>
                </a:lnTo>
                <a:cubicBezTo>
                  <a:pt x="1512" y="5546"/>
                  <a:pt x="1355" y="5703"/>
                  <a:pt x="1355" y="5892"/>
                </a:cubicBezTo>
                <a:cubicBezTo>
                  <a:pt x="1355" y="6081"/>
                  <a:pt x="1512" y="6239"/>
                  <a:pt x="1733" y="6239"/>
                </a:cubicBezTo>
                <a:lnTo>
                  <a:pt x="5608" y="6239"/>
                </a:lnTo>
                <a:lnTo>
                  <a:pt x="4947" y="6901"/>
                </a:lnTo>
                <a:lnTo>
                  <a:pt x="1733" y="6901"/>
                </a:lnTo>
                <a:cubicBezTo>
                  <a:pt x="1512" y="6901"/>
                  <a:pt x="1355" y="7058"/>
                  <a:pt x="1355" y="7279"/>
                </a:cubicBezTo>
                <a:cubicBezTo>
                  <a:pt x="1355" y="7468"/>
                  <a:pt x="1512" y="7625"/>
                  <a:pt x="1733" y="7625"/>
                </a:cubicBezTo>
                <a:lnTo>
                  <a:pt x="4285" y="7625"/>
                </a:lnTo>
                <a:cubicBezTo>
                  <a:pt x="4190" y="7688"/>
                  <a:pt x="4159" y="7751"/>
                  <a:pt x="4127" y="7814"/>
                </a:cubicBezTo>
                <a:lnTo>
                  <a:pt x="3970" y="8287"/>
                </a:lnTo>
                <a:lnTo>
                  <a:pt x="1733" y="8287"/>
                </a:lnTo>
                <a:cubicBezTo>
                  <a:pt x="1512" y="8287"/>
                  <a:pt x="1355" y="8444"/>
                  <a:pt x="1355" y="8633"/>
                </a:cubicBezTo>
                <a:cubicBezTo>
                  <a:pt x="1355" y="8854"/>
                  <a:pt x="1512" y="9011"/>
                  <a:pt x="1733" y="9011"/>
                </a:cubicBezTo>
                <a:lnTo>
                  <a:pt x="3718" y="9011"/>
                </a:lnTo>
                <a:lnTo>
                  <a:pt x="3466" y="9893"/>
                </a:lnTo>
                <a:cubicBezTo>
                  <a:pt x="3385" y="10136"/>
                  <a:pt x="3557" y="10355"/>
                  <a:pt x="3766" y="10355"/>
                </a:cubicBezTo>
                <a:cubicBezTo>
                  <a:pt x="3802" y="10355"/>
                  <a:pt x="3839" y="10348"/>
                  <a:pt x="3875" y="10335"/>
                </a:cubicBezTo>
                <a:lnTo>
                  <a:pt x="6018" y="9704"/>
                </a:lnTo>
                <a:cubicBezTo>
                  <a:pt x="6049" y="9704"/>
                  <a:pt x="6144" y="9673"/>
                  <a:pt x="6175" y="9641"/>
                </a:cubicBezTo>
                <a:lnTo>
                  <a:pt x="8286" y="7499"/>
                </a:lnTo>
                <a:lnTo>
                  <a:pt x="8286" y="10681"/>
                </a:lnTo>
                <a:cubicBezTo>
                  <a:pt x="8255" y="10839"/>
                  <a:pt x="8097" y="10996"/>
                  <a:pt x="7908" y="10996"/>
                </a:cubicBezTo>
                <a:lnTo>
                  <a:pt x="1040" y="10996"/>
                </a:lnTo>
                <a:cubicBezTo>
                  <a:pt x="851" y="10996"/>
                  <a:pt x="693" y="10839"/>
                  <a:pt x="693" y="10650"/>
                </a:cubicBezTo>
                <a:lnTo>
                  <a:pt x="693" y="2742"/>
                </a:lnTo>
                <a:lnTo>
                  <a:pt x="2395" y="2742"/>
                </a:lnTo>
                <a:cubicBezTo>
                  <a:pt x="2584" y="2742"/>
                  <a:pt x="2741" y="2584"/>
                  <a:pt x="2741" y="2395"/>
                </a:cubicBezTo>
                <a:lnTo>
                  <a:pt x="2741" y="694"/>
                </a:lnTo>
                <a:close/>
                <a:moveTo>
                  <a:pt x="2363" y="1"/>
                </a:moveTo>
                <a:cubicBezTo>
                  <a:pt x="2237" y="1"/>
                  <a:pt x="2143" y="64"/>
                  <a:pt x="2111" y="127"/>
                </a:cubicBezTo>
                <a:lnTo>
                  <a:pt x="158" y="2112"/>
                </a:lnTo>
                <a:cubicBezTo>
                  <a:pt x="63" y="2175"/>
                  <a:pt x="0" y="2269"/>
                  <a:pt x="0" y="2364"/>
                </a:cubicBezTo>
                <a:lnTo>
                  <a:pt x="0" y="10650"/>
                </a:lnTo>
                <a:cubicBezTo>
                  <a:pt x="0" y="11217"/>
                  <a:pt x="473" y="11658"/>
                  <a:pt x="1008" y="11658"/>
                </a:cubicBezTo>
                <a:lnTo>
                  <a:pt x="7908" y="11658"/>
                </a:lnTo>
                <a:cubicBezTo>
                  <a:pt x="8444" y="11658"/>
                  <a:pt x="8916" y="11217"/>
                  <a:pt x="8916" y="10650"/>
                </a:cubicBezTo>
                <a:lnTo>
                  <a:pt x="8916" y="6774"/>
                </a:lnTo>
                <a:lnTo>
                  <a:pt x="11279" y="4412"/>
                </a:lnTo>
                <a:cubicBezTo>
                  <a:pt x="11815" y="3876"/>
                  <a:pt x="11815" y="3025"/>
                  <a:pt x="11279" y="2490"/>
                </a:cubicBezTo>
                <a:cubicBezTo>
                  <a:pt x="11011" y="2222"/>
                  <a:pt x="10657" y="2088"/>
                  <a:pt x="10306" y="2088"/>
                </a:cubicBezTo>
                <a:cubicBezTo>
                  <a:pt x="9956" y="2088"/>
                  <a:pt x="9609" y="2222"/>
                  <a:pt x="9357" y="2490"/>
                </a:cubicBezTo>
                <a:lnTo>
                  <a:pt x="8916" y="2931"/>
                </a:lnTo>
                <a:lnTo>
                  <a:pt x="8916" y="1041"/>
                </a:lnTo>
                <a:cubicBezTo>
                  <a:pt x="8916" y="474"/>
                  <a:pt x="8444" y="1"/>
                  <a:pt x="7908" y="1"/>
                </a:cubicBezTo>
                <a:close/>
              </a:path>
            </a:pathLst>
          </a:custGeom>
          <a:solidFill>
            <a:sysClr val="windowText" lastClr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3" name="Rectangle: Rounded Corners 322">
            <a:extLst>
              <a:ext uri="{FF2B5EF4-FFF2-40B4-BE49-F238E27FC236}">
                <a16:creationId xmlns:a16="http://schemas.microsoft.com/office/drawing/2014/main" id="{7FE44005-915B-C18E-6AEA-DC70C0A9C70C}"/>
              </a:ext>
            </a:extLst>
          </p:cNvPr>
          <p:cNvSpPr/>
          <p:nvPr/>
        </p:nvSpPr>
        <p:spPr>
          <a:xfrm>
            <a:off x="348692" y="4381985"/>
            <a:ext cx="1732859" cy="4042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00206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Complexed Multi-Layer Budget</a:t>
            </a:r>
          </a:p>
        </p:txBody>
      </p:sp>
      <p:sp>
        <p:nvSpPr>
          <p:cNvPr id="324" name="Rectangle: Rounded Corners 323">
            <a:extLst>
              <a:ext uri="{FF2B5EF4-FFF2-40B4-BE49-F238E27FC236}">
                <a16:creationId xmlns:a16="http://schemas.microsoft.com/office/drawing/2014/main" id="{C5EACDF2-5CA1-6E74-4FE8-9FD044E69EE7}"/>
              </a:ext>
            </a:extLst>
          </p:cNvPr>
          <p:cNvSpPr/>
          <p:nvPr/>
        </p:nvSpPr>
        <p:spPr>
          <a:xfrm>
            <a:off x="341446" y="4996974"/>
            <a:ext cx="1732859" cy="4042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00206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Complexed CF</a:t>
            </a:r>
          </a:p>
        </p:txBody>
      </p:sp>
      <p:sp>
        <p:nvSpPr>
          <p:cNvPr id="325" name="Rectangle: Rounded Corners 324">
            <a:extLst>
              <a:ext uri="{FF2B5EF4-FFF2-40B4-BE49-F238E27FC236}">
                <a16:creationId xmlns:a16="http://schemas.microsoft.com/office/drawing/2014/main" id="{879B2699-B9C2-C76F-0553-17DDF8213B41}"/>
              </a:ext>
            </a:extLst>
          </p:cNvPr>
          <p:cNvSpPr/>
          <p:nvPr/>
        </p:nvSpPr>
        <p:spPr>
          <a:xfrm>
            <a:off x="2757138" y="4363731"/>
            <a:ext cx="1732859" cy="4042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00B0F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Revenues Insights</a:t>
            </a:r>
          </a:p>
        </p:txBody>
      </p:sp>
      <p:sp>
        <p:nvSpPr>
          <p:cNvPr id="327" name="Rectangle: Rounded Corners 326">
            <a:extLst>
              <a:ext uri="{FF2B5EF4-FFF2-40B4-BE49-F238E27FC236}">
                <a16:creationId xmlns:a16="http://schemas.microsoft.com/office/drawing/2014/main" id="{B4B0834C-4699-A7A6-B83B-CC71DB874EE9}"/>
              </a:ext>
            </a:extLst>
          </p:cNvPr>
          <p:cNvSpPr/>
          <p:nvPr/>
        </p:nvSpPr>
        <p:spPr>
          <a:xfrm>
            <a:off x="2766433" y="4996974"/>
            <a:ext cx="1732859" cy="4042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00B0F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Margin Optimization</a:t>
            </a:r>
          </a:p>
        </p:txBody>
      </p:sp>
      <p:sp>
        <p:nvSpPr>
          <p:cNvPr id="328" name="Rectangle: Rounded Corners 327">
            <a:extLst>
              <a:ext uri="{FF2B5EF4-FFF2-40B4-BE49-F238E27FC236}">
                <a16:creationId xmlns:a16="http://schemas.microsoft.com/office/drawing/2014/main" id="{B3C747EE-D43A-A1FA-1989-08CBC1EEE754}"/>
              </a:ext>
            </a:extLst>
          </p:cNvPr>
          <p:cNvSpPr/>
          <p:nvPr/>
        </p:nvSpPr>
        <p:spPr>
          <a:xfrm>
            <a:off x="2751835" y="5617437"/>
            <a:ext cx="1732859" cy="4042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00B0F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Operational Costs Reduction</a:t>
            </a:r>
          </a:p>
        </p:txBody>
      </p:sp>
      <p:sp>
        <p:nvSpPr>
          <p:cNvPr id="329" name="Rectangle: Rounded Corners 328">
            <a:extLst>
              <a:ext uri="{FF2B5EF4-FFF2-40B4-BE49-F238E27FC236}">
                <a16:creationId xmlns:a16="http://schemas.microsoft.com/office/drawing/2014/main" id="{FD86775A-6069-AEDF-F295-7EA2DE8DF05C}"/>
              </a:ext>
            </a:extLst>
          </p:cNvPr>
          <p:cNvSpPr/>
          <p:nvPr/>
        </p:nvSpPr>
        <p:spPr>
          <a:xfrm>
            <a:off x="5165584" y="4367195"/>
            <a:ext cx="1732859" cy="4042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Objectives</a:t>
            </a:r>
          </a:p>
        </p:txBody>
      </p:sp>
      <p:sp>
        <p:nvSpPr>
          <p:cNvPr id="330" name="Rectangle: Rounded Corners 329">
            <a:extLst>
              <a:ext uri="{FF2B5EF4-FFF2-40B4-BE49-F238E27FC236}">
                <a16:creationId xmlns:a16="http://schemas.microsoft.com/office/drawing/2014/main" id="{BEC19581-19BE-3C48-409A-6B3939B6B82C}"/>
              </a:ext>
            </a:extLst>
          </p:cNvPr>
          <p:cNvSpPr/>
          <p:nvPr/>
        </p:nvSpPr>
        <p:spPr>
          <a:xfrm>
            <a:off x="5174879" y="4996974"/>
            <a:ext cx="1732859" cy="4042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KPI’s</a:t>
            </a:r>
          </a:p>
        </p:txBody>
      </p:sp>
      <p:sp>
        <p:nvSpPr>
          <p:cNvPr id="331" name="Rectangle: Rounded Corners 330">
            <a:extLst>
              <a:ext uri="{FF2B5EF4-FFF2-40B4-BE49-F238E27FC236}">
                <a16:creationId xmlns:a16="http://schemas.microsoft.com/office/drawing/2014/main" id="{FB39EC61-8486-55B2-C57F-E6773B6F584D}"/>
              </a:ext>
            </a:extLst>
          </p:cNvPr>
          <p:cNvSpPr/>
          <p:nvPr/>
        </p:nvSpPr>
        <p:spPr>
          <a:xfrm>
            <a:off x="5174879" y="5620826"/>
            <a:ext cx="1732859" cy="4042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Action Items</a:t>
            </a:r>
          </a:p>
        </p:txBody>
      </p:sp>
      <p:sp>
        <p:nvSpPr>
          <p:cNvPr id="351" name="Rectangle: Rounded Corners 350">
            <a:extLst>
              <a:ext uri="{FF2B5EF4-FFF2-40B4-BE49-F238E27FC236}">
                <a16:creationId xmlns:a16="http://schemas.microsoft.com/office/drawing/2014/main" id="{682C8F1B-D035-0FC4-FC5D-99ECF9325206}"/>
              </a:ext>
            </a:extLst>
          </p:cNvPr>
          <p:cNvSpPr/>
          <p:nvPr/>
        </p:nvSpPr>
        <p:spPr>
          <a:xfrm>
            <a:off x="7520681" y="4363731"/>
            <a:ext cx="1732859" cy="4042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Bottom-Up</a:t>
            </a:r>
          </a:p>
        </p:txBody>
      </p:sp>
      <p:sp>
        <p:nvSpPr>
          <p:cNvPr id="352" name="Rectangle: Rounded Corners 351">
            <a:extLst>
              <a:ext uri="{FF2B5EF4-FFF2-40B4-BE49-F238E27FC236}">
                <a16:creationId xmlns:a16="http://schemas.microsoft.com/office/drawing/2014/main" id="{89455D3E-39DA-C51A-432B-319FF848BA13}"/>
              </a:ext>
            </a:extLst>
          </p:cNvPr>
          <p:cNvSpPr/>
          <p:nvPr/>
        </p:nvSpPr>
        <p:spPr>
          <a:xfrm>
            <a:off x="7529976" y="4993585"/>
            <a:ext cx="1732859" cy="4042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Breakdowns</a:t>
            </a:r>
          </a:p>
        </p:txBody>
      </p:sp>
      <p:sp>
        <p:nvSpPr>
          <p:cNvPr id="353" name="Rectangle: Rounded Corners 352">
            <a:extLst>
              <a:ext uri="{FF2B5EF4-FFF2-40B4-BE49-F238E27FC236}">
                <a16:creationId xmlns:a16="http://schemas.microsoft.com/office/drawing/2014/main" id="{B2551FEF-C695-6F6B-E89A-F2CAFAF95497}"/>
              </a:ext>
            </a:extLst>
          </p:cNvPr>
          <p:cNvSpPr/>
          <p:nvPr/>
        </p:nvSpPr>
        <p:spPr>
          <a:xfrm>
            <a:off x="7529976" y="5617437"/>
            <a:ext cx="1732859" cy="4042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OPEX, EBITDA and Margin levels</a:t>
            </a:r>
          </a:p>
        </p:txBody>
      </p:sp>
      <p:sp>
        <p:nvSpPr>
          <p:cNvPr id="354" name="Rectangle: Rounded Corners 353">
            <a:extLst>
              <a:ext uri="{FF2B5EF4-FFF2-40B4-BE49-F238E27FC236}">
                <a16:creationId xmlns:a16="http://schemas.microsoft.com/office/drawing/2014/main" id="{C7EAEEB2-5FF1-A6BB-E22B-306E5CA04C45}"/>
              </a:ext>
            </a:extLst>
          </p:cNvPr>
          <p:cNvSpPr/>
          <p:nvPr/>
        </p:nvSpPr>
        <p:spPr>
          <a:xfrm>
            <a:off x="10000020" y="4362561"/>
            <a:ext cx="1732859" cy="4042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Debt levels</a:t>
            </a:r>
          </a:p>
        </p:txBody>
      </p:sp>
      <p:sp>
        <p:nvSpPr>
          <p:cNvPr id="355" name="Rectangle: Rounded Corners 354">
            <a:extLst>
              <a:ext uri="{FF2B5EF4-FFF2-40B4-BE49-F238E27FC236}">
                <a16:creationId xmlns:a16="http://schemas.microsoft.com/office/drawing/2014/main" id="{138D326E-8827-5E9F-D519-2AD4553AB639}"/>
              </a:ext>
            </a:extLst>
          </p:cNvPr>
          <p:cNvSpPr/>
          <p:nvPr/>
        </p:nvSpPr>
        <p:spPr>
          <a:xfrm>
            <a:off x="10003682" y="4993585"/>
            <a:ext cx="1732859" cy="4042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Procedures &amp; Processes </a:t>
            </a:r>
          </a:p>
        </p:txBody>
      </p:sp>
      <p:sp>
        <p:nvSpPr>
          <p:cNvPr id="356" name="Rectangle: Rounded Corners 355">
            <a:extLst>
              <a:ext uri="{FF2B5EF4-FFF2-40B4-BE49-F238E27FC236}">
                <a16:creationId xmlns:a16="http://schemas.microsoft.com/office/drawing/2014/main" id="{DF5E6C9F-F392-20D4-15DA-11BBDD4C2CC2}"/>
              </a:ext>
            </a:extLst>
          </p:cNvPr>
          <p:cNvSpPr/>
          <p:nvPr/>
        </p:nvSpPr>
        <p:spPr>
          <a:xfrm>
            <a:off x="2766432" y="6237900"/>
            <a:ext cx="1732859" cy="4042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00B0F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WC Optimization</a:t>
            </a:r>
          </a:p>
        </p:txBody>
      </p:sp>
      <p:sp>
        <p:nvSpPr>
          <p:cNvPr id="360" name="Rectangle: Rounded Corners 359">
            <a:extLst>
              <a:ext uri="{FF2B5EF4-FFF2-40B4-BE49-F238E27FC236}">
                <a16:creationId xmlns:a16="http://schemas.microsoft.com/office/drawing/2014/main" id="{1A8649DB-DBF0-13E6-D63E-4371A7341658}"/>
              </a:ext>
            </a:extLst>
          </p:cNvPr>
          <p:cNvSpPr/>
          <p:nvPr/>
        </p:nvSpPr>
        <p:spPr>
          <a:xfrm>
            <a:off x="9997788" y="5625842"/>
            <a:ext cx="1732859" cy="4042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Exposures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2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294"/>
                </a:srgbClr>
              </a:gs>
              <a:gs pos="100000">
                <a:srgbClr val="374C8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FFFFFF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57" name="Google Shape;357;p32"/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253356">
                  <a:alpha val="67450"/>
                </a:srgbClr>
              </a:gs>
              <a:gs pos="19000">
                <a:srgbClr val="253356">
                  <a:alpha val="67450"/>
                </a:srgbClr>
              </a:gs>
              <a:gs pos="100000">
                <a:srgbClr val="4A66AC">
                  <a:alpha val="78431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FFFFFF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58" name="Google Shape;358;p32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4A66AC">
                  <a:alpha val="0"/>
                </a:srgbClr>
              </a:gs>
              <a:gs pos="23000">
                <a:srgbClr val="4A66AC">
                  <a:alpha val="0"/>
                </a:srgbClr>
              </a:gs>
              <a:gs pos="99000">
                <a:srgbClr val="000000">
                  <a:alpha val="73333"/>
                </a:srgbClr>
              </a:gs>
              <a:gs pos="100000">
                <a:srgbClr val="000000">
                  <a:alpha val="73333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FFFFFF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59" name="Google Shape;359;p32"/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400" dirty="0">
                <a:solidFill>
                  <a:srgbClr val="FFFFFF"/>
                </a:solidFill>
                <a:latin typeface="Aptos" panose="020B0004020202020204" pitchFamily="34" charset="0"/>
              </a:rPr>
              <a:t>VISION</a:t>
            </a: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61" name="Google Shape;361;p32"/>
          <p:cNvSpPr/>
          <p:nvPr/>
        </p:nvSpPr>
        <p:spPr>
          <a:xfrm>
            <a:off x="163366" y="1695071"/>
            <a:ext cx="4500074" cy="919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dirty="0">
                <a:latin typeface="Aptos" panose="020B0004020202020204" pitchFamily="34" charset="0"/>
              </a:rPr>
              <a:t>Budget - Financial Insights Enabler</a:t>
            </a:r>
            <a:endParaRPr sz="22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62" name="Google Shape;362;p32"/>
          <p:cNvSpPr/>
          <p:nvPr/>
        </p:nvSpPr>
        <p:spPr>
          <a:xfrm>
            <a:off x="161842" y="2154830"/>
            <a:ext cx="11866792" cy="4567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dirty="0">
                <a:latin typeface="Aptos" panose="020B0004020202020204" pitchFamily="34" charset="0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U</a:t>
            </a:r>
            <a:r>
              <a:rPr lang="en-US" sz="140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nique </a:t>
            </a:r>
            <a:r>
              <a:rPr lang="en-US" dirty="0">
                <a:latin typeface="Aptos" panose="020B0004020202020204" pitchFamily="34" charset="0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multi&lt;&gt;multi parameters system allowing the business to view its financials on different layers.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dirty="0">
                <a:latin typeface="Aptos" panose="020B0004020202020204" pitchFamily="34" charset="0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Meaning a creation of a budget code in the ERP with the following parameters: Division&gt;</a:t>
            </a:r>
            <a:r>
              <a:rPr lang="en-US" dirty="0">
                <a:latin typeface="Aptos" panose="020B0004020202020204" pitchFamily="34" charset="0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1"/>
                  </a:ext>
                </a:extLst>
              </a:rPr>
              <a:t>Company&gt;</a:t>
            </a:r>
            <a:r>
              <a:rPr lang="en-US" dirty="0">
                <a:latin typeface="Aptos" panose="020B0004020202020204" pitchFamily="34" charset="0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Product&gt;Department&gt;</a:t>
            </a:r>
            <a:r>
              <a:rPr lang="en-US" dirty="0">
                <a:latin typeface="Aptos" panose="020B0004020202020204" pitchFamily="34" charset="0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1"/>
                  </a:ext>
                </a:extLst>
              </a:rPr>
              <a:t> Budget Section</a:t>
            </a:r>
            <a:r>
              <a:rPr lang="en-US" dirty="0">
                <a:latin typeface="Aptos" panose="020B0004020202020204" pitchFamily="34" charset="0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&gt;P&amp;L Section&gt;Activity&gt;Account Exp./Inc.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dirty="0">
                <a:latin typeface="Aptos" panose="020B0004020202020204" pitchFamily="34" charset="0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For Example: D10/P10.20.100.200-85600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lang="en-US" dirty="0">
              <a:latin typeface="Aptos" panose="020B0004020202020204" pitchFamily="34" charset="0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</a:ext>
              </a:extLs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dirty="0">
                <a:latin typeface="Aptos" panose="020B0004020202020204" pitchFamily="34" charset="0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Map your DATA: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lang="en-US" dirty="0">
              <a:latin typeface="Aptos" panose="020B0004020202020204" pitchFamily="34" charset="0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</a:ext>
              </a:extLst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lang="en-US" dirty="0">
              <a:latin typeface="Aptos" panose="020B0004020202020204" pitchFamily="34" charset="0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</a:ext>
              </a:extLst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lang="en-US" dirty="0">
              <a:latin typeface="Aptos" panose="020B0004020202020204" pitchFamily="34" charset="0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</a:ext>
              </a:extLst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lang="en-US" dirty="0">
              <a:latin typeface="Aptos" panose="020B0004020202020204" pitchFamily="34" charset="0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</a:ext>
              </a:extLst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lang="en-US" sz="140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</a:ext>
              </a:extLst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40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8498D7-8095-8628-063C-406F38D1A682}"/>
              </a:ext>
            </a:extLst>
          </p:cNvPr>
          <p:cNvSpPr txBox="1"/>
          <p:nvPr/>
        </p:nvSpPr>
        <p:spPr>
          <a:xfrm>
            <a:off x="10399015" y="4332537"/>
            <a:ext cx="1794509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900" dirty="0">
                <a:solidFill>
                  <a:schemeClr val="accent1">
                    <a:lumMod val="75000"/>
                    <a:alpha val="17000"/>
                  </a:schemeClr>
                </a:solidFill>
                <a:latin typeface="Century Gothic" panose="020B0502020202020204" pitchFamily="34" charset="0"/>
              </a:rPr>
              <a:t>V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4730213-3276-804E-C677-BAE80BCBA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418146"/>
              </p:ext>
            </p:extLst>
          </p:nvPr>
        </p:nvGraphicFramePr>
        <p:xfrm>
          <a:off x="160318" y="3429000"/>
          <a:ext cx="10988679" cy="2878000"/>
        </p:xfrm>
        <a:graphic>
          <a:graphicData uri="http://schemas.openxmlformats.org/drawingml/2006/table">
            <a:tbl>
              <a:tblPr/>
              <a:tblGrid>
                <a:gridCol w="151969">
                  <a:extLst>
                    <a:ext uri="{9D8B030D-6E8A-4147-A177-3AD203B41FA5}">
                      <a16:colId xmlns:a16="http://schemas.microsoft.com/office/drawing/2014/main" val="2268895361"/>
                    </a:ext>
                  </a:extLst>
                </a:gridCol>
                <a:gridCol w="416508">
                  <a:extLst>
                    <a:ext uri="{9D8B030D-6E8A-4147-A177-3AD203B41FA5}">
                      <a16:colId xmlns:a16="http://schemas.microsoft.com/office/drawing/2014/main" val="3801445704"/>
                    </a:ext>
                  </a:extLst>
                </a:gridCol>
                <a:gridCol w="181988">
                  <a:extLst>
                    <a:ext uri="{9D8B030D-6E8A-4147-A177-3AD203B41FA5}">
                      <a16:colId xmlns:a16="http://schemas.microsoft.com/office/drawing/2014/main" val="3232083463"/>
                    </a:ext>
                  </a:extLst>
                </a:gridCol>
                <a:gridCol w="555344">
                  <a:extLst>
                    <a:ext uri="{9D8B030D-6E8A-4147-A177-3AD203B41FA5}">
                      <a16:colId xmlns:a16="http://schemas.microsoft.com/office/drawing/2014/main" val="1810529543"/>
                    </a:ext>
                  </a:extLst>
                </a:gridCol>
                <a:gridCol w="604124">
                  <a:extLst>
                    <a:ext uri="{9D8B030D-6E8A-4147-A177-3AD203B41FA5}">
                      <a16:colId xmlns:a16="http://schemas.microsoft.com/office/drawing/2014/main" val="1866047059"/>
                    </a:ext>
                  </a:extLst>
                </a:gridCol>
                <a:gridCol w="281424">
                  <a:extLst>
                    <a:ext uri="{9D8B030D-6E8A-4147-A177-3AD203B41FA5}">
                      <a16:colId xmlns:a16="http://schemas.microsoft.com/office/drawing/2014/main" val="121005186"/>
                    </a:ext>
                  </a:extLst>
                </a:gridCol>
                <a:gridCol w="125703">
                  <a:extLst>
                    <a:ext uri="{9D8B030D-6E8A-4147-A177-3AD203B41FA5}">
                      <a16:colId xmlns:a16="http://schemas.microsoft.com/office/drawing/2014/main" val="3260200888"/>
                    </a:ext>
                  </a:extLst>
                </a:gridCol>
                <a:gridCol w="142588">
                  <a:extLst>
                    <a:ext uri="{9D8B030D-6E8A-4147-A177-3AD203B41FA5}">
                      <a16:colId xmlns:a16="http://schemas.microsoft.com/office/drawing/2014/main" val="1318042676"/>
                    </a:ext>
                  </a:extLst>
                </a:gridCol>
                <a:gridCol w="118198">
                  <a:extLst>
                    <a:ext uri="{9D8B030D-6E8A-4147-A177-3AD203B41FA5}">
                      <a16:colId xmlns:a16="http://schemas.microsoft.com/office/drawing/2014/main" val="4219781258"/>
                    </a:ext>
                  </a:extLst>
                </a:gridCol>
                <a:gridCol w="118198">
                  <a:extLst>
                    <a:ext uri="{9D8B030D-6E8A-4147-A177-3AD203B41FA5}">
                      <a16:colId xmlns:a16="http://schemas.microsoft.com/office/drawing/2014/main" val="2100329882"/>
                    </a:ext>
                  </a:extLst>
                </a:gridCol>
                <a:gridCol w="118198">
                  <a:extLst>
                    <a:ext uri="{9D8B030D-6E8A-4147-A177-3AD203B41FA5}">
                      <a16:colId xmlns:a16="http://schemas.microsoft.com/office/drawing/2014/main" val="1258469951"/>
                    </a:ext>
                  </a:extLst>
                </a:gridCol>
                <a:gridCol w="144464">
                  <a:extLst>
                    <a:ext uri="{9D8B030D-6E8A-4147-A177-3AD203B41FA5}">
                      <a16:colId xmlns:a16="http://schemas.microsoft.com/office/drawing/2014/main" val="3378660005"/>
                    </a:ext>
                  </a:extLst>
                </a:gridCol>
                <a:gridCol w="266415">
                  <a:extLst>
                    <a:ext uri="{9D8B030D-6E8A-4147-A177-3AD203B41FA5}">
                      <a16:colId xmlns:a16="http://schemas.microsoft.com/office/drawing/2014/main" val="2100874300"/>
                    </a:ext>
                  </a:extLst>
                </a:gridCol>
                <a:gridCol w="245777">
                  <a:extLst>
                    <a:ext uri="{9D8B030D-6E8A-4147-A177-3AD203B41FA5}">
                      <a16:colId xmlns:a16="http://schemas.microsoft.com/office/drawing/2014/main" val="3380005916"/>
                    </a:ext>
                  </a:extLst>
                </a:gridCol>
                <a:gridCol w="266415">
                  <a:extLst>
                    <a:ext uri="{9D8B030D-6E8A-4147-A177-3AD203B41FA5}">
                      <a16:colId xmlns:a16="http://schemas.microsoft.com/office/drawing/2014/main" val="2118311995"/>
                    </a:ext>
                  </a:extLst>
                </a:gridCol>
                <a:gridCol w="617257">
                  <a:extLst>
                    <a:ext uri="{9D8B030D-6E8A-4147-A177-3AD203B41FA5}">
                      <a16:colId xmlns:a16="http://schemas.microsoft.com/office/drawing/2014/main" val="86888481"/>
                    </a:ext>
                  </a:extLst>
                </a:gridCol>
                <a:gridCol w="562848">
                  <a:extLst>
                    <a:ext uri="{9D8B030D-6E8A-4147-A177-3AD203B41FA5}">
                      <a16:colId xmlns:a16="http://schemas.microsoft.com/office/drawing/2014/main" val="1746932912"/>
                    </a:ext>
                  </a:extLst>
                </a:gridCol>
                <a:gridCol w="549715">
                  <a:extLst>
                    <a:ext uri="{9D8B030D-6E8A-4147-A177-3AD203B41FA5}">
                      <a16:colId xmlns:a16="http://schemas.microsoft.com/office/drawing/2014/main" val="2350860244"/>
                    </a:ext>
                  </a:extLst>
                </a:gridCol>
                <a:gridCol w="551591">
                  <a:extLst>
                    <a:ext uri="{9D8B030D-6E8A-4147-A177-3AD203B41FA5}">
                      <a16:colId xmlns:a16="http://schemas.microsoft.com/office/drawing/2014/main" val="2473856110"/>
                    </a:ext>
                  </a:extLst>
                </a:gridCol>
                <a:gridCol w="330204">
                  <a:extLst>
                    <a:ext uri="{9D8B030D-6E8A-4147-A177-3AD203B41FA5}">
                      <a16:colId xmlns:a16="http://schemas.microsoft.com/office/drawing/2014/main" val="3712915767"/>
                    </a:ext>
                  </a:extLst>
                </a:gridCol>
                <a:gridCol w="262663">
                  <a:extLst>
                    <a:ext uri="{9D8B030D-6E8A-4147-A177-3AD203B41FA5}">
                      <a16:colId xmlns:a16="http://schemas.microsoft.com/office/drawing/2014/main" val="1682108012"/>
                    </a:ext>
                  </a:extLst>
                </a:gridCol>
                <a:gridCol w="262663">
                  <a:extLst>
                    <a:ext uri="{9D8B030D-6E8A-4147-A177-3AD203B41FA5}">
                      <a16:colId xmlns:a16="http://schemas.microsoft.com/office/drawing/2014/main" val="535573988"/>
                    </a:ext>
                  </a:extLst>
                </a:gridCol>
                <a:gridCol w="262663">
                  <a:extLst>
                    <a:ext uri="{9D8B030D-6E8A-4147-A177-3AD203B41FA5}">
                      <a16:colId xmlns:a16="http://schemas.microsoft.com/office/drawing/2014/main" val="364813481"/>
                    </a:ext>
                  </a:extLst>
                </a:gridCol>
                <a:gridCol w="262663">
                  <a:extLst>
                    <a:ext uri="{9D8B030D-6E8A-4147-A177-3AD203B41FA5}">
                      <a16:colId xmlns:a16="http://schemas.microsoft.com/office/drawing/2014/main" val="665026388"/>
                    </a:ext>
                  </a:extLst>
                </a:gridCol>
                <a:gridCol w="170731">
                  <a:extLst>
                    <a:ext uri="{9D8B030D-6E8A-4147-A177-3AD203B41FA5}">
                      <a16:colId xmlns:a16="http://schemas.microsoft.com/office/drawing/2014/main" val="1131531104"/>
                    </a:ext>
                  </a:extLst>
                </a:gridCol>
                <a:gridCol w="172607">
                  <a:extLst>
                    <a:ext uri="{9D8B030D-6E8A-4147-A177-3AD203B41FA5}">
                      <a16:colId xmlns:a16="http://schemas.microsoft.com/office/drawing/2014/main" val="2475823302"/>
                    </a:ext>
                  </a:extLst>
                </a:gridCol>
                <a:gridCol w="170731">
                  <a:extLst>
                    <a:ext uri="{9D8B030D-6E8A-4147-A177-3AD203B41FA5}">
                      <a16:colId xmlns:a16="http://schemas.microsoft.com/office/drawing/2014/main" val="3257757178"/>
                    </a:ext>
                  </a:extLst>
                </a:gridCol>
                <a:gridCol w="168854">
                  <a:extLst>
                    <a:ext uri="{9D8B030D-6E8A-4147-A177-3AD203B41FA5}">
                      <a16:colId xmlns:a16="http://schemas.microsoft.com/office/drawing/2014/main" val="3787539518"/>
                    </a:ext>
                  </a:extLst>
                </a:gridCol>
                <a:gridCol w="174483">
                  <a:extLst>
                    <a:ext uri="{9D8B030D-6E8A-4147-A177-3AD203B41FA5}">
                      <a16:colId xmlns:a16="http://schemas.microsoft.com/office/drawing/2014/main" val="2251730756"/>
                    </a:ext>
                  </a:extLst>
                </a:gridCol>
                <a:gridCol w="170731">
                  <a:extLst>
                    <a:ext uri="{9D8B030D-6E8A-4147-A177-3AD203B41FA5}">
                      <a16:colId xmlns:a16="http://schemas.microsoft.com/office/drawing/2014/main" val="603001095"/>
                    </a:ext>
                  </a:extLst>
                </a:gridCol>
                <a:gridCol w="163226">
                  <a:extLst>
                    <a:ext uri="{9D8B030D-6E8A-4147-A177-3AD203B41FA5}">
                      <a16:colId xmlns:a16="http://schemas.microsoft.com/office/drawing/2014/main" val="1904583469"/>
                    </a:ext>
                  </a:extLst>
                </a:gridCol>
                <a:gridCol w="174483">
                  <a:extLst>
                    <a:ext uri="{9D8B030D-6E8A-4147-A177-3AD203B41FA5}">
                      <a16:colId xmlns:a16="http://schemas.microsoft.com/office/drawing/2014/main" val="597666079"/>
                    </a:ext>
                  </a:extLst>
                </a:gridCol>
                <a:gridCol w="174483">
                  <a:extLst>
                    <a:ext uri="{9D8B030D-6E8A-4147-A177-3AD203B41FA5}">
                      <a16:colId xmlns:a16="http://schemas.microsoft.com/office/drawing/2014/main" val="3267224274"/>
                    </a:ext>
                  </a:extLst>
                </a:gridCol>
                <a:gridCol w="170731">
                  <a:extLst>
                    <a:ext uri="{9D8B030D-6E8A-4147-A177-3AD203B41FA5}">
                      <a16:colId xmlns:a16="http://schemas.microsoft.com/office/drawing/2014/main" val="1073158796"/>
                    </a:ext>
                  </a:extLst>
                </a:gridCol>
                <a:gridCol w="172607">
                  <a:extLst>
                    <a:ext uri="{9D8B030D-6E8A-4147-A177-3AD203B41FA5}">
                      <a16:colId xmlns:a16="http://schemas.microsoft.com/office/drawing/2014/main" val="924970521"/>
                    </a:ext>
                  </a:extLst>
                </a:gridCol>
                <a:gridCol w="174483">
                  <a:extLst>
                    <a:ext uri="{9D8B030D-6E8A-4147-A177-3AD203B41FA5}">
                      <a16:colId xmlns:a16="http://schemas.microsoft.com/office/drawing/2014/main" val="300666296"/>
                    </a:ext>
                  </a:extLst>
                </a:gridCol>
                <a:gridCol w="150093">
                  <a:extLst>
                    <a:ext uri="{9D8B030D-6E8A-4147-A177-3AD203B41FA5}">
                      <a16:colId xmlns:a16="http://schemas.microsoft.com/office/drawing/2014/main" val="1756309380"/>
                    </a:ext>
                  </a:extLst>
                </a:gridCol>
                <a:gridCol w="150093">
                  <a:extLst>
                    <a:ext uri="{9D8B030D-6E8A-4147-A177-3AD203B41FA5}">
                      <a16:colId xmlns:a16="http://schemas.microsoft.com/office/drawing/2014/main" val="1391410606"/>
                    </a:ext>
                  </a:extLst>
                </a:gridCol>
                <a:gridCol w="155721">
                  <a:extLst>
                    <a:ext uri="{9D8B030D-6E8A-4147-A177-3AD203B41FA5}">
                      <a16:colId xmlns:a16="http://schemas.microsoft.com/office/drawing/2014/main" val="2286210598"/>
                    </a:ext>
                  </a:extLst>
                </a:gridCol>
                <a:gridCol w="133208">
                  <a:extLst>
                    <a:ext uri="{9D8B030D-6E8A-4147-A177-3AD203B41FA5}">
                      <a16:colId xmlns:a16="http://schemas.microsoft.com/office/drawing/2014/main" val="3864358834"/>
                    </a:ext>
                  </a:extLst>
                </a:gridCol>
                <a:gridCol w="118198">
                  <a:extLst>
                    <a:ext uri="{9D8B030D-6E8A-4147-A177-3AD203B41FA5}">
                      <a16:colId xmlns:a16="http://schemas.microsoft.com/office/drawing/2014/main" val="1609137239"/>
                    </a:ext>
                  </a:extLst>
                </a:gridCol>
                <a:gridCol w="133208">
                  <a:extLst>
                    <a:ext uri="{9D8B030D-6E8A-4147-A177-3AD203B41FA5}">
                      <a16:colId xmlns:a16="http://schemas.microsoft.com/office/drawing/2014/main" val="196163747"/>
                    </a:ext>
                  </a:extLst>
                </a:gridCol>
                <a:gridCol w="136960">
                  <a:extLst>
                    <a:ext uri="{9D8B030D-6E8A-4147-A177-3AD203B41FA5}">
                      <a16:colId xmlns:a16="http://schemas.microsoft.com/office/drawing/2014/main" val="4268706129"/>
                    </a:ext>
                  </a:extLst>
                </a:gridCol>
                <a:gridCol w="345214">
                  <a:extLst>
                    <a:ext uri="{9D8B030D-6E8A-4147-A177-3AD203B41FA5}">
                      <a16:colId xmlns:a16="http://schemas.microsoft.com/office/drawing/2014/main" val="2490604322"/>
                    </a:ext>
                  </a:extLst>
                </a:gridCol>
                <a:gridCol w="208254">
                  <a:extLst>
                    <a:ext uri="{9D8B030D-6E8A-4147-A177-3AD203B41FA5}">
                      <a16:colId xmlns:a16="http://schemas.microsoft.com/office/drawing/2014/main" val="314070193"/>
                    </a:ext>
                  </a:extLst>
                </a:gridCol>
              </a:tblGrid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PL/BS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Budget section/FS Note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Employee number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First name/Subcontractors name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Last name/Subcontractors description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Salary total/Amount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 month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Quarter 1 %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Quarter 2 %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Quarter 3 %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Quarter 4 %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Qaurter 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Division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Activity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Department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Account name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Sub-account name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Budget number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Division 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 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Activity 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Department 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Jan-25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Feb-25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Apr-25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Jul-25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Aug-25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Sep-25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Oct-25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Nov-25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2025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Check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Owner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Company data validation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Company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06809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187,904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On-going activity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15,592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15,592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15,592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15,592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15,592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15,592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16,392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15,592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15,592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15,592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15,592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15,592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187,904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46,776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46,776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47,576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46,776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Nano_X_Imaging_Ltd.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Nano-X Imaging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77139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256,153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On-going activity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Management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21,279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21,279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21,279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21,279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21,279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21,279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22,079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21,279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21,279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21,279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21,279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21,279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256,153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63,838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63,838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64,638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63,838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1687455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49,469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Services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Market Place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Support Marketplace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Marketplace  &gt; Services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4,269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49,469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12,327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12,327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12,487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12,327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002488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49,469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HealthOST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REAL+ - FLS management tool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Marketplace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4,269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49,469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12,327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12,327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12,487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12,327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3900990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12,367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CONNECT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Support Marketplace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Marketplace  &gt; ARC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1,067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12,367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3,122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0376841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12,367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Services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Second Opinion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Support Marketplace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Marketplace  &gt; Services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1,067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12,367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3,122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4449685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37,102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Services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lake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Marketplace  &gt; Services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3,202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37,102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9,245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9,245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9,365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9,245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9291032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37,102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 2.2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On-going activity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Marketplace  &gt; ARC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3,202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37,102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9,245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9,245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9,365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9,245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314204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49,469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HealthCCS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EMR Integration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Marketplace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4,269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49,469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12,327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12,327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12,487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12,327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432548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202,911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On-going activity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 Algorithm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16,843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16,843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16,843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16,843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16,843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16,843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17,643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16,843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16,843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16,843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16,843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16,843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202,911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50,528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50,528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51,328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50,528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Nano_X_Imaging_Ltd.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Nano-X Imaging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538132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28,798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CONNECT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On-going activity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 RA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2,390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2,390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2,390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2,390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2,390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2,390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2,510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2,390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2,390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2,390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2,390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2,390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28,798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7,170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7,170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7,290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7,170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Nano_X_Imaging_Ltd.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Nano-X Imaging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057401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81,595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 2.2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On-going activity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 RA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7,111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81,595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20,314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20,314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20,654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20,314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Nano_X_Imaging_Ltd.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Nano-X Imaging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304164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81,595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 X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On-going activity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 RA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7,111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81,595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20,314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20,314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20,654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20,314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Nano_X_Imaging_Ltd.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Nano-X Imaging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255584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193,320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On-going activity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 Software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16,043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16,043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16,043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16,043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16,043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16,043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16,843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16,043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16,043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16,043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16,043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16,043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193,320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48,130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48,130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48,930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48,130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Nano_X_Imaging_Ltd.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Nano-X Imaging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20400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185,956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On-going activity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DevOps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15,430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15,430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15,430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15,430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15,430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15,430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16,230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15,430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15,430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15,430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15,430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15,430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185,956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46,289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46,289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47,089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46,289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3020786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94,021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Source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OEM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Tubes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Source OEM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8,202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94,021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23,405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23,405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23,805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23,405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Nano_X_Imaging_Ltd.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Nano-X Imaging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331348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94,021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Source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OEM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Chips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Source OEM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8,202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94,021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23,405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23,405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23,805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23,405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Nano_X_Imaging_Ltd.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Nano-X Imaging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6875157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190,144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On-going activity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Data Analytics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15,779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15,779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15,779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15,779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15,779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15,779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16,579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15,779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15,779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15,779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15,779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15,779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190,144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47,336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47,336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48,136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47,336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8482279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179,163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On-going activity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 Software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14,864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14,864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14,864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14,864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14,864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14,864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15,664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14,864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14,864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14,864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14,864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14,864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179,163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44,591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44,591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45,391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44,591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Nano_X_Imaging_Ltd.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Nano-X Imaging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390509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175,890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Shared Resources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On-going activity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Shared Resources Clinical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14,591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14,591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14,591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14,591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14,591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14,591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15,391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14,591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14,591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14,591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14,591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14,591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175,890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43,772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43,772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44,572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43,772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Nano_X_Imaging_Ltd.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Nano-X Imaging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469463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172,054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Platforms - IMA/OPI/REAL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SW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14,271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14,271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14,271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14,271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14,271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14,271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15,071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14,271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14,271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14,271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14,271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14,271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172,054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42,814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42,814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43,614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42,814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464922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84,863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Services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lake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Research Engineering  &gt; Services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7,439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84,863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21,116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21,116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21,516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21,116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455691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84,863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 and Algorithem Development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Research Engineering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7,439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84,863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21,116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21,116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21,516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21,116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286468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174,211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On-going activity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 Algorithm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14,451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14,451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14,451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14,451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14,451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14,451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15,251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14,451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14,451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14,451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14,451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14,451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174,211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43,353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43,353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44,153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43,353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Nano_X_Imaging_Ltd.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Nano-X Imaging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9870026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HealthOST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HealthOST 2.0 - T/Z score to BMD measurement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Product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1,473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4,260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9968374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 2.2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Pulmonary nodules – first ARC AI application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Product  &gt; ARC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1,473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4,260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7422750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HealthAVC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HealthAVC - Aortic valve calcification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Product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1,473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4,260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71543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REAL+ - FLS management tool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Product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1,473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4,260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708297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Body composition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Product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1,473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4,260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5644725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EMR Integration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Product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1,473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4,260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2349255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HealthOST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Support OST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Product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1,473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4,260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512588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HealthCCS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Support CCS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Product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1,473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4,260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177103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HealthFLD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Support FLD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Product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1,473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4,260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5681062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 Box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Product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1,473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4,260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21455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170,609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On-going activity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 QA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14,151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14,151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14,151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14,151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14,151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14,151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14,951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14,151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14,151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14,151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14,151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14,151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170,609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42,452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42,452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43,252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42,452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Nano_X_Imaging_Ltd.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Nano-X Imaging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1345745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171,143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 X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Pulmonary nodules – first ARC AI application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Research Engineering  &gt; ARC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14,195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14,195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14,195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14,195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14,195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14,195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14,995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14,195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14,195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14,195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14,195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14,195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171,143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42,586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42,586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43,386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42,586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9403023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166,973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Shared Resources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G&amp;A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On-going activity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Shared Resources Finance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G&amp;A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13,848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13,848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13,848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13,848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13,848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13,848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14,648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13,848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13,848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13,848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13,848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13,848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166,973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41,543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41,543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42,343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41,543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Nano_X_Imaging_Ltd.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Nano-X Imaging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5876937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53,824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HealthCCS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S&amp;M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Support CCS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Customer Success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S&amp;M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4,730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53,824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13,389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13,389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13,656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13,389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372512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53,824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HealthOST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S&amp;M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Support OST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Customer Success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S&amp;M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4,730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53,824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13,389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13,389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13,656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13,389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</a:t>
                      </a:r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725117"/>
                  </a:ext>
                </a:extLst>
              </a:tr>
            </a:tbl>
          </a:graphicData>
        </a:graphic>
      </p:graphicFrame>
      <p:pic>
        <p:nvPicPr>
          <p:cNvPr id="14" name="Picture 13" descr="Blue digital binary data on a screen">
            <a:extLst>
              <a:ext uri="{FF2B5EF4-FFF2-40B4-BE49-F238E27FC236}">
                <a16:creationId xmlns:a16="http://schemas.microsoft.com/office/drawing/2014/main" id="{648281EF-B36A-7A4D-0D8F-A7B48ACA90D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1575460"/>
            <a:ext cx="12192000" cy="52825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4">
          <a:extLst>
            <a:ext uri="{FF2B5EF4-FFF2-40B4-BE49-F238E27FC236}">
              <a16:creationId xmlns:a16="http://schemas.microsoft.com/office/drawing/2014/main" id="{64530A02-2067-5582-1AD7-3C71BF719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2">
            <a:extLst>
              <a:ext uri="{FF2B5EF4-FFF2-40B4-BE49-F238E27FC236}">
                <a16:creationId xmlns:a16="http://schemas.microsoft.com/office/drawing/2014/main" id="{CA6A7910-F72F-589D-B1EA-4ED9A51D3E6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56" name="Google Shape;356;p32">
            <a:extLst>
              <a:ext uri="{FF2B5EF4-FFF2-40B4-BE49-F238E27FC236}">
                <a16:creationId xmlns:a16="http://schemas.microsoft.com/office/drawing/2014/main" id="{C89038BC-E73B-84FA-D5FA-6EAB36D78681}"/>
              </a:ext>
            </a:extLst>
          </p:cNvPr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294"/>
                </a:srgbClr>
              </a:gs>
              <a:gs pos="100000">
                <a:srgbClr val="374C8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57" name="Google Shape;357;p32">
            <a:extLst>
              <a:ext uri="{FF2B5EF4-FFF2-40B4-BE49-F238E27FC236}">
                <a16:creationId xmlns:a16="http://schemas.microsoft.com/office/drawing/2014/main" id="{54BBF4F0-D805-B071-D14F-1D683BF74846}"/>
              </a:ext>
            </a:extLst>
          </p:cNvPr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253356">
                  <a:alpha val="67450"/>
                </a:srgbClr>
              </a:gs>
              <a:gs pos="19000">
                <a:srgbClr val="253356">
                  <a:alpha val="67450"/>
                </a:srgbClr>
              </a:gs>
              <a:gs pos="100000">
                <a:srgbClr val="4A66AC">
                  <a:alpha val="78431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58" name="Google Shape;358;p32">
            <a:extLst>
              <a:ext uri="{FF2B5EF4-FFF2-40B4-BE49-F238E27FC236}">
                <a16:creationId xmlns:a16="http://schemas.microsoft.com/office/drawing/2014/main" id="{28C3213A-7275-C60F-F5C0-AF8904A120AA}"/>
              </a:ext>
            </a:extLst>
          </p:cNvPr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4A66AC">
                  <a:alpha val="0"/>
                </a:srgbClr>
              </a:gs>
              <a:gs pos="23000">
                <a:srgbClr val="4A66AC">
                  <a:alpha val="0"/>
                </a:srgbClr>
              </a:gs>
              <a:gs pos="99000">
                <a:srgbClr val="000000">
                  <a:alpha val="73333"/>
                </a:srgbClr>
              </a:gs>
              <a:gs pos="100000">
                <a:srgbClr val="000000">
                  <a:alpha val="73333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59" name="Google Shape;359;p32">
            <a:extLst>
              <a:ext uri="{FF2B5EF4-FFF2-40B4-BE49-F238E27FC236}">
                <a16:creationId xmlns:a16="http://schemas.microsoft.com/office/drawing/2014/main" id="{D2438B9C-9609-47DD-34E3-8AD3D9209458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1">
              <a:lnSpc>
                <a:spcPct val="90000"/>
              </a:lnSpc>
              <a:spcAft>
                <a:spcPts val="600"/>
              </a:spcAft>
              <a:buSzPts val="4800"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INSIGHTS</a:t>
            </a:r>
            <a:endParaRPr kumimoji="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61" name="Google Shape;361;p32">
            <a:extLst>
              <a:ext uri="{FF2B5EF4-FFF2-40B4-BE49-F238E27FC236}">
                <a16:creationId xmlns:a16="http://schemas.microsoft.com/office/drawing/2014/main" id="{0D041F17-2D33-FE28-7579-1C79657219F9}"/>
              </a:ext>
            </a:extLst>
          </p:cNvPr>
          <p:cNvSpPr/>
          <p:nvPr/>
        </p:nvSpPr>
        <p:spPr>
          <a:xfrm>
            <a:off x="163366" y="1695071"/>
            <a:ext cx="4500074" cy="459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Budget - Financial Insights Enabler</a:t>
            </a: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62" name="Google Shape;362;p32">
            <a:extLst>
              <a:ext uri="{FF2B5EF4-FFF2-40B4-BE49-F238E27FC236}">
                <a16:creationId xmlns:a16="http://schemas.microsoft.com/office/drawing/2014/main" id="{4EE585E4-D77D-A6E5-C022-207C8D597AD2}"/>
              </a:ext>
            </a:extLst>
          </p:cNvPr>
          <p:cNvSpPr/>
          <p:nvPr/>
        </p:nvSpPr>
        <p:spPr>
          <a:xfrm>
            <a:off x="161842" y="2154830"/>
            <a:ext cx="10112458" cy="67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</a:ext>
              </a:extLst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Insights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 delivered In form of GM. per Product, per Customer, P&amp;L per Division, Costs of activities, Profitability of Products &amp; Customers, MRR per customer, ARPU, etc.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</a:ext>
              </a:extLst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r>
              <a:rPr kumimoji="0" lang="en-US" sz="14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Outputs: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</a:ext>
              </a:extLst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</a:ext>
              </a:extLst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</a:ext>
              </a:extLst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664037-66E1-204A-BD95-BE0FE0B45CEC}"/>
              </a:ext>
            </a:extLst>
          </p:cNvPr>
          <p:cNvSpPr txBox="1"/>
          <p:nvPr/>
        </p:nvSpPr>
        <p:spPr>
          <a:xfrm>
            <a:off x="10399015" y="4332537"/>
            <a:ext cx="1794509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9900" b="0" i="0" u="none" strike="noStrike" kern="0" cap="none" spc="0" normalizeH="0" baseline="0" noProof="0" dirty="0">
                <a:ln>
                  <a:noFill/>
                </a:ln>
                <a:solidFill>
                  <a:srgbClr val="4A66AC">
                    <a:lumMod val="75000"/>
                    <a:alpha val="17000"/>
                  </a:srgbClr>
                </a:solidFill>
                <a:effectLst/>
                <a:uLnTx/>
                <a:uFillTx/>
                <a:latin typeface="Century Gothic" panose="020B0502020202020204" pitchFamily="34" charset="0"/>
                <a:cs typeface="Arial"/>
                <a:sym typeface="Arial"/>
              </a:rPr>
              <a:t>V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5E1297F-5A2C-7011-3950-C748F36C2E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123307"/>
              </p:ext>
            </p:extLst>
          </p:nvPr>
        </p:nvGraphicFramePr>
        <p:xfrm>
          <a:off x="6701527" y="5180107"/>
          <a:ext cx="2834640" cy="1493520"/>
        </p:xfrm>
        <a:graphic>
          <a:graphicData uri="http://schemas.openxmlformats.org/drawingml/2006/table">
            <a:tbl>
              <a:tblPr/>
              <a:tblGrid>
                <a:gridCol w="661115">
                  <a:extLst>
                    <a:ext uri="{9D8B030D-6E8A-4147-A177-3AD203B41FA5}">
                      <a16:colId xmlns:a16="http://schemas.microsoft.com/office/drawing/2014/main" val="2518022880"/>
                    </a:ext>
                  </a:extLst>
                </a:gridCol>
                <a:gridCol w="434705">
                  <a:extLst>
                    <a:ext uri="{9D8B030D-6E8A-4147-A177-3AD203B41FA5}">
                      <a16:colId xmlns:a16="http://schemas.microsoft.com/office/drawing/2014/main" val="1233036115"/>
                    </a:ext>
                  </a:extLst>
                </a:gridCol>
                <a:gridCol w="434705">
                  <a:extLst>
                    <a:ext uri="{9D8B030D-6E8A-4147-A177-3AD203B41FA5}">
                      <a16:colId xmlns:a16="http://schemas.microsoft.com/office/drawing/2014/main" val="2850673960"/>
                    </a:ext>
                  </a:extLst>
                </a:gridCol>
                <a:gridCol w="434705">
                  <a:extLst>
                    <a:ext uri="{9D8B030D-6E8A-4147-A177-3AD203B41FA5}">
                      <a16:colId xmlns:a16="http://schemas.microsoft.com/office/drawing/2014/main" val="1422378469"/>
                    </a:ext>
                  </a:extLst>
                </a:gridCol>
                <a:gridCol w="434705">
                  <a:extLst>
                    <a:ext uri="{9D8B030D-6E8A-4147-A177-3AD203B41FA5}">
                      <a16:colId xmlns:a16="http://schemas.microsoft.com/office/drawing/2014/main" val="1127704348"/>
                    </a:ext>
                  </a:extLst>
                </a:gridCol>
                <a:gridCol w="434705">
                  <a:extLst>
                    <a:ext uri="{9D8B030D-6E8A-4147-A177-3AD203B41FA5}">
                      <a16:colId xmlns:a16="http://schemas.microsoft.com/office/drawing/2014/main" val="174570406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Activity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368803"/>
                  </a:ext>
                </a:extLst>
              </a:tr>
              <a:tr h="11379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B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937149"/>
                  </a:ext>
                </a:extLst>
              </a:tr>
              <a:tr h="11379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Revenues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10,800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12,600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32,500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2844952"/>
                  </a:ext>
                </a:extLst>
              </a:tr>
              <a:tr h="11379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COGS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7,700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9,800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11,900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29,450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866817"/>
                  </a:ext>
                </a:extLst>
              </a:tr>
              <a:tr h="11379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Gross Profit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1,300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4152576"/>
                  </a:ext>
                </a:extLst>
              </a:tr>
              <a:tr h="11379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GM%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8759897"/>
                  </a:ext>
                </a:extLst>
              </a:tr>
              <a:tr h="11379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500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600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700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800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938891"/>
                  </a:ext>
                </a:extLst>
              </a:tr>
              <a:tr h="11379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S&amp;M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400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500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600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700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91512"/>
                  </a:ext>
                </a:extLst>
              </a:tr>
              <a:tr h="11379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G&amp;A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400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700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228023"/>
                  </a:ext>
                </a:extLst>
              </a:tr>
              <a:tr h="11379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EBITDA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1,550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99848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8B728B9-E4A8-9D35-E4A6-80A8F06632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511712"/>
              </p:ext>
            </p:extLst>
          </p:nvPr>
        </p:nvGraphicFramePr>
        <p:xfrm>
          <a:off x="918473" y="3745855"/>
          <a:ext cx="4572001" cy="2194560"/>
        </p:xfrm>
        <a:graphic>
          <a:graphicData uri="http://schemas.openxmlformats.org/drawingml/2006/table">
            <a:tbl>
              <a:tblPr/>
              <a:tblGrid>
                <a:gridCol w="510365">
                  <a:extLst>
                    <a:ext uri="{9D8B030D-6E8A-4147-A177-3AD203B41FA5}">
                      <a16:colId xmlns:a16="http://schemas.microsoft.com/office/drawing/2014/main" val="1403633390"/>
                    </a:ext>
                  </a:extLst>
                </a:gridCol>
                <a:gridCol w="776173">
                  <a:extLst>
                    <a:ext uri="{9D8B030D-6E8A-4147-A177-3AD203B41FA5}">
                      <a16:colId xmlns:a16="http://schemas.microsoft.com/office/drawing/2014/main" val="1381772859"/>
                    </a:ext>
                  </a:extLst>
                </a:gridCol>
                <a:gridCol w="701749">
                  <a:extLst>
                    <a:ext uri="{9D8B030D-6E8A-4147-A177-3AD203B41FA5}">
                      <a16:colId xmlns:a16="http://schemas.microsoft.com/office/drawing/2014/main" val="593119450"/>
                    </a:ext>
                  </a:extLst>
                </a:gridCol>
                <a:gridCol w="510365">
                  <a:extLst>
                    <a:ext uri="{9D8B030D-6E8A-4147-A177-3AD203B41FA5}">
                      <a16:colId xmlns:a16="http://schemas.microsoft.com/office/drawing/2014/main" val="3229266557"/>
                    </a:ext>
                  </a:extLst>
                </a:gridCol>
                <a:gridCol w="776173">
                  <a:extLst>
                    <a:ext uri="{9D8B030D-6E8A-4147-A177-3AD203B41FA5}">
                      <a16:colId xmlns:a16="http://schemas.microsoft.com/office/drawing/2014/main" val="3204379321"/>
                    </a:ext>
                  </a:extLst>
                </a:gridCol>
                <a:gridCol w="510365">
                  <a:extLst>
                    <a:ext uri="{9D8B030D-6E8A-4147-A177-3AD203B41FA5}">
                      <a16:colId xmlns:a16="http://schemas.microsoft.com/office/drawing/2014/main" val="3702670553"/>
                    </a:ext>
                  </a:extLst>
                </a:gridCol>
                <a:gridCol w="786811">
                  <a:extLst>
                    <a:ext uri="{9D8B030D-6E8A-4147-A177-3AD203B41FA5}">
                      <a16:colId xmlns:a16="http://schemas.microsoft.com/office/drawing/2014/main" val="3249675322"/>
                    </a:ext>
                  </a:extLst>
                </a:gridCol>
              </a:tblGrid>
              <a:tr h="96819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Product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100135"/>
                  </a:ext>
                </a:extLst>
              </a:tr>
              <a:tr h="96819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Budget section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0455"/>
                  </a:ext>
                </a:extLst>
              </a:tr>
              <a:tr h="96819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Revenues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Capex Sales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5,000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5,600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6,200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16,800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8181471"/>
                  </a:ext>
                </a:extLst>
              </a:tr>
              <a:tr h="96819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Revenues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Subscription Fees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3,500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4,100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4,700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800" b="0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12,300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319053"/>
                  </a:ext>
                </a:extLst>
              </a:tr>
              <a:tr h="96819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Revenues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Other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500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1,100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1,700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3,400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283319"/>
                  </a:ext>
                </a:extLst>
              </a:tr>
              <a:tr h="193638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Revenues Total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800" b="1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9,000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10,800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12,600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32,500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7076457"/>
                  </a:ext>
                </a:extLst>
              </a:tr>
              <a:tr h="96819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COGS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Salaries and benefits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2,500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2,800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3,100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800" b="0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8,400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649005"/>
                  </a:ext>
                </a:extLst>
              </a:tr>
              <a:tr h="193638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COGS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Depreciation and Amortization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1,000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1,300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1,600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800" b="0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3,900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131386"/>
                  </a:ext>
                </a:extLst>
              </a:tr>
              <a:tr h="96819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COGS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Finished goods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2,500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2,800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3,100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800" b="0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8,400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5077186"/>
                  </a:ext>
                </a:extLst>
              </a:tr>
              <a:tr h="96819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COGS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Other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400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700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800" b="0" i="0" u="none" strike="noStrike" cap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1,200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707308"/>
                  </a:ext>
                </a:extLst>
              </a:tr>
              <a:tr h="96819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COGS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Overhead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200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500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800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1,550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112874"/>
                  </a:ext>
                </a:extLst>
              </a:tr>
              <a:tr h="96819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COGS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Shipping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400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700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1,000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800" b="0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2,100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9156205"/>
                  </a:ext>
                </a:extLst>
              </a:tr>
              <a:tr h="96819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COGS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Subcontractors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1,000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1,300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1,600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800" b="0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3,900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114623"/>
                  </a:ext>
                </a:extLst>
              </a:tr>
              <a:tr h="96819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COGS Total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7,700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9,800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11,900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29,450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3568382"/>
                  </a:ext>
                </a:extLst>
              </a:tr>
              <a:tr h="96819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1,300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1,000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700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3,050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6747247"/>
                  </a:ext>
                </a:extLst>
              </a:tr>
            </a:tbl>
          </a:graphicData>
        </a:graphic>
      </p:graphicFrame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3" name="Chart 12">
                <a:extLst>
                  <a:ext uri="{FF2B5EF4-FFF2-40B4-BE49-F238E27FC236}">
                    <a16:creationId xmlns:a16="http://schemas.microsoft.com/office/drawing/2014/main" id="{74A290A8-FEFE-45F5-BA71-8CFDF8ED606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680340586"/>
                  </p:ext>
                </p:extLst>
              </p:nvPr>
            </p:nvGraphicFramePr>
            <p:xfrm>
              <a:off x="6590986" y="3151642"/>
              <a:ext cx="3732994" cy="1932011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13" name="Chart 12">
                <a:extLst>
                  <a:ext uri="{FF2B5EF4-FFF2-40B4-BE49-F238E27FC236}">
                    <a16:creationId xmlns:a16="http://schemas.microsoft.com/office/drawing/2014/main" id="{74A290A8-FEFE-45F5-BA71-8CFDF8ED606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986" y="3151642"/>
                <a:ext cx="3732994" cy="1932011"/>
              </a:xfrm>
              <a:prstGeom prst="rect">
                <a:avLst/>
              </a:prstGeom>
            </p:spPr>
          </p:pic>
        </mc:Fallback>
      </mc:AlternateContent>
      <p:pic>
        <p:nvPicPr>
          <p:cNvPr id="2" name="Picture 1" descr="Graphs and charts">
            <a:extLst>
              <a:ext uri="{FF2B5EF4-FFF2-40B4-BE49-F238E27FC236}">
                <a16:creationId xmlns:a16="http://schemas.microsoft.com/office/drawing/2014/main" id="{B23A6631-78DC-0230-FAD6-29124B8EE765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>
            <a:off x="0" y="1575458"/>
            <a:ext cx="12192000" cy="5282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367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4">
          <a:extLst>
            <a:ext uri="{FF2B5EF4-FFF2-40B4-BE49-F238E27FC236}">
              <a16:creationId xmlns:a16="http://schemas.microsoft.com/office/drawing/2014/main" id="{57291194-2E2B-ED01-82E5-A2988E091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2">
            <a:extLst>
              <a:ext uri="{FF2B5EF4-FFF2-40B4-BE49-F238E27FC236}">
                <a16:creationId xmlns:a16="http://schemas.microsoft.com/office/drawing/2014/main" id="{34F1A375-E825-7627-AE84-4973E80D0B4A}"/>
              </a:ext>
            </a:extLst>
          </p:cNvPr>
          <p:cNvSpPr/>
          <p:nvPr/>
        </p:nvSpPr>
        <p:spPr>
          <a:xfrm>
            <a:off x="0" y="-2354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56" name="Google Shape;356;p32">
            <a:extLst>
              <a:ext uri="{FF2B5EF4-FFF2-40B4-BE49-F238E27FC236}">
                <a16:creationId xmlns:a16="http://schemas.microsoft.com/office/drawing/2014/main" id="{AE939455-D20C-C279-0A9C-295698897E72}"/>
              </a:ext>
            </a:extLst>
          </p:cNvPr>
          <p:cNvSpPr/>
          <p:nvPr/>
        </p:nvSpPr>
        <p:spPr>
          <a:xfrm flipH="1">
            <a:off x="2" y="1"/>
            <a:ext cx="12191998" cy="822881"/>
          </a:xfrm>
          <a:prstGeom prst="rect">
            <a:avLst/>
          </a:prstGeom>
          <a:gradFill>
            <a:gsLst>
              <a:gs pos="0">
                <a:srgbClr val="000000">
                  <a:alpha val="95294"/>
                </a:srgbClr>
              </a:gs>
              <a:gs pos="100000">
                <a:srgbClr val="374C8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57" name="Google Shape;357;p32">
            <a:extLst>
              <a:ext uri="{FF2B5EF4-FFF2-40B4-BE49-F238E27FC236}">
                <a16:creationId xmlns:a16="http://schemas.microsoft.com/office/drawing/2014/main" id="{D09ED437-2E06-29F8-BCC4-1B7D863ECEBC}"/>
              </a:ext>
            </a:extLst>
          </p:cNvPr>
          <p:cNvSpPr/>
          <p:nvPr/>
        </p:nvSpPr>
        <p:spPr>
          <a:xfrm rot="10800000" flipH="1">
            <a:off x="8128857" y="0"/>
            <a:ext cx="4063143" cy="822882"/>
          </a:xfrm>
          <a:prstGeom prst="rect">
            <a:avLst/>
          </a:prstGeom>
          <a:gradFill>
            <a:gsLst>
              <a:gs pos="0">
                <a:srgbClr val="253356">
                  <a:alpha val="67450"/>
                </a:srgbClr>
              </a:gs>
              <a:gs pos="19000">
                <a:srgbClr val="253356">
                  <a:alpha val="67450"/>
                </a:srgbClr>
              </a:gs>
              <a:gs pos="100000">
                <a:srgbClr val="4A66AC">
                  <a:alpha val="78431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58" name="Google Shape;358;p32">
            <a:extLst>
              <a:ext uri="{FF2B5EF4-FFF2-40B4-BE49-F238E27FC236}">
                <a16:creationId xmlns:a16="http://schemas.microsoft.com/office/drawing/2014/main" id="{36E52B9D-0D01-F0CD-32DC-CC2CEB3F3D15}"/>
              </a:ext>
            </a:extLst>
          </p:cNvPr>
          <p:cNvSpPr/>
          <p:nvPr/>
        </p:nvSpPr>
        <p:spPr>
          <a:xfrm rot="5400000">
            <a:off x="5705489" y="-5663548"/>
            <a:ext cx="781021" cy="12192002"/>
          </a:xfrm>
          <a:prstGeom prst="rect">
            <a:avLst/>
          </a:prstGeom>
          <a:gradFill>
            <a:gsLst>
              <a:gs pos="0">
                <a:srgbClr val="4A66AC">
                  <a:alpha val="0"/>
                </a:srgbClr>
              </a:gs>
              <a:gs pos="23000">
                <a:srgbClr val="4A66AC">
                  <a:alpha val="0"/>
                </a:srgbClr>
              </a:gs>
              <a:gs pos="99000">
                <a:srgbClr val="000000">
                  <a:alpha val="73333"/>
                </a:srgbClr>
              </a:gs>
              <a:gs pos="100000">
                <a:srgbClr val="000000">
                  <a:alpha val="73333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59" name="Google Shape;359;p32">
            <a:extLst>
              <a:ext uri="{FF2B5EF4-FFF2-40B4-BE49-F238E27FC236}">
                <a16:creationId xmlns:a16="http://schemas.microsoft.com/office/drawing/2014/main" id="{B3E3615D-E45E-36EA-0ADC-19E3683D0228}"/>
              </a:ext>
            </a:extLst>
          </p:cNvPr>
          <p:cNvSpPr txBox="1"/>
          <p:nvPr/>
        </p:nvSpPr>
        <p:spPr>
          <a:xfrm>
            <a:off x="1447803" y="112623"/>
            <a:ext cx="10044023" cy="781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4800"/>
              <a:buFont typeface="Arial"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INSIGHTS</a:t>
            </a:r>
            <a:endParaRPr kumimoji="0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61" name="Google Shape;361;p32">
            <a:extLst>
              <a:ext uri="{FF2B5EF4-FFF2-40B4-BE49-F238E27FC236}">
                <a16:creationId xmlns:a16="http://schemas.microsoft.com/office/drawing/2014/main" id="{EB2C2660-CC93-7382-D5F5-BCEB900DD1B4}"/>
              </a:ext>
            </a:extLst>
          </p:cNvPr>
          <p:cNvSpPr/>
          <p:nvPr/>
        </p:nvSpPr>
        <p:spPr>
          <a:xfrm>
            <a:off x="161841" y="783999"/>
            <a:ext cx="4500074" cy="476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CF - Financial Insights Enabler</a:t>
            </a: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4F4484-7D3D-A5F9-CDAD-124E45C6A8A8}"/>
              </a:ext>
            </a:extLst>
          </p:cNvPr>
          <p:cNvSpPr txBox="1"/>
          <p:nvPr/>
        </p:nvSpPr>
        <p:spPr>
          <a:xfrm>
            <a:off x="10399015" y="4332537"/>
            <a:ext cx="1794509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9900" b="0" i="0" u="none" strike="noStrike" kern="0" cap="none" spc="0" normalizeH="0" baseline="0" noProof="0" dirty="0">
                <a:ln>
                  <a:noFill/>
                </a:ln>
                <a:solidFill>
                  <a:srgbClr val="4A66AC">
                    <a:lumMod val="75000"/>
                    <a:alpha val="17000"/>
                  </a:srgbClr>
                </a:solidFill>
                <a:effectLst/>
                <a:uLnTx/>
                <a:uFillTx/>
                <a:latin typeface="Century Gothic" panose="020B0502020202020204" pitchFamily="34" charset="0"/>
                <a:cs typeface="Arial"/>
                <a:sym typeface="Arial"/>
              </a:rPr>
              <a:t>V</a:t>
            </a:r>
          </a:p>
        </p:txBody>
      </p:sp>
      <p:sp>
        <p:nvSpPr>
          <p:cNvPr id="2" name="Google Shape;362;p32">
            <a:extLst>
              <a:ext uri="{FF2B5EF4-FFF2-40B4-BE49-F238E27FC236}">
                <a16:creationId xmlns:a16="http://schemas.microsoft.com/office/drawing/2014/main" id="{3F72934B-00B5-23EC-4E24-4AAF65A59909}"/>
              </a:ext>
            </a:extLst>
          </p:cNvPr>
          <p:cNvSpPr/>
          <p:nvPr/>
        </p:nvSpPr>
        <p:spPr>
          <a:xfrm>
            <a:off x="161841" y="1216421"/>
            <a:ext cx="11865270" cy="2458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Connect the Forecast to your Cash Flow to identify the following Insights: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Forecast CF burn on a monthly-basis.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</a:ext>
              </a:extLst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WC- </a:t>
            </a:r>
            <a:r>
              <a:rPr lang="en-US" sz="1600" dirty="0">
                <a:latin typeface="Aptos" panose="020B0004020202020204" pitchFamily="34" charset="0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Working Capital is your current operational activity which the business is funding out of the EBITDA.</a:t>
            </a:r>
          </a:p>
          <a:p>
            <a:pPr marL="28575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Identify WC weak point: Improve collection from customers, Renegotiate payments terms with vendors, Optimize Inventory levels.</a:t>
            </a:r>
          </a:p>
          <a:p>
            <a:pPr marL="28575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</a:ext>
              </a:extLst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Quarterly Trends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All For the purpose of Increasing your cash runway.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</a:ext>
              </a:extLst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tabLst/>
              <a:defRPr/>
            </a:pPr>
            <a:r>
              <a:rPr lang="en-US" sz="1600" dirty="0">
                <a:latin typeface="Aptos" panose="020B0004020202020204" pitchFamily="34" charset="0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How is should look like: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</a:ext>
              </a:extLst>
            </a:endParaRPr>
          </a:p>
        </p:txBody>
      </p:sp>
      <p:pic>
        <p:nvPicPr>
          <p:cNvPr id="11" name="Picture 10" descr="Magnifying glass showing decling performance">
            <a:extLst>
              <a:ext uri="{FF2B5EF4-FFF2-40B4-BE49-F238E27FC236}">
                <a16:creationId xmlns:a16="http://schemas.microsoft.com/office/drawing/2014/main" id="{A4473933-40FC-0A7B-A031-C1227318848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4000"/>
          </a:blip>
          <a:stretch>
            <a:fillRect/>
          </a:stretch>
        </p:blipFill>
        <p:spPr>
          <a:xfrm>
            <a:off x="2292497" y="8549266"/>
            <a:ext cx="12192000" cy="5282541"/>
          </a:xfrm>
          <a:prstGeom prst="rect">
            <a:avLst/>
          </a:prstGeom>
          <a:noFill/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C4832B7-BFB0-9245-12F7-4AFEA8BC08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041741"/>
              </p:ext>
            </p:extLst>
          </p:nvPr>
        </p:nvGraphicFramePr>
        <p:xfrm>
          <a:off x="161841" y="3630169"/>
          <a:ext cx="11782508" cy="3115749"/>
        </p:xfrm>
        <a:graphic>
          <a:graphicData uri="http://schemas.openxmlformats.org/drawingml/2006/table">
            <a:tbl>
              <a:tblPr/>
              <a:tblGrid>
                <a:gridCol w="2793403">
                  <a:extLst>
                    <a:ext uri="{9D8B030D-6E8A-4147-A177-3AD203B41FA5}">
                      <a16:colId xmlns:a16="http://schemas.microsoft.com/office/drawing/2014/main" val="2608083821"/>
                    </a:ext>
                  </a:extLst>
                </a:gridCol>
                <a:gridCol w="677949">
                  <a:extLst>
                    <a:ext uri="{9D8B030D-6E8A-4147-A177-3AD203B41FA5}">
                      <a16:colId xmlns:a16="http://schemas.microsoft.com/office/drawing/2014/main" val="2715978376"/>
                    </a:ext>
                  </a:extLst>
                </a:gridCol>
                <a:gridCol w="684227">
                  <a:extLst>
                    <a:ext uri="{9D8B030D-6E8A-4147-A177-3AD203B41FA5}">
                      <a16:colId xmlns:a16="http://schemas.microsoft.com/office/drawing/2014/main" val="1937871153"/>
                    </a:ext>
                  </a:extLst>
                </a:gridCol>
                <a:gridCol w="677949">
                  <a:extLst>
                    <a:ext uri="{9D8B030D-6E8A-4147-A177-3AD203B41FA5}">
                      <a16:colId xmlns:a16="http://schemas.microsoft.com/office/drawing/2014/main" val="348724671"/>
                    </a:ext>
                  </a:extLst>
                </a:gridCol>
                <a:gridCol w="671672">
                  <a:extLst>
                    <a:ext uri="{9D8B030D-6E8A-4147-A177-3AD203B41FA5}">
                      <a16:colId xmlns:a16="http://schemas.microsoft.com/office/drawing/2014/main" val="754279726"/>
                    </a:ext>
                  </a:extLst>
                </a:gridCol>
                <a:gridCol w="690504">
                  <a:extLst>
                    <a:ext uri="{9D8B030D-6E8A-4147-A177-3AD203B41FA5}">
                      <a16:colId xmlns:a16="http://schemas.microsoft.com/office/drawing/2014/main" val="3645783692"/>
                    </a:ext>
                  </a:extLst>
                </a:gridCol>
                <a:gridCol w="677949">
                  <a:extLst>
                    <a:ext uri="{9D8B030D-6E8A-4147-A177-3AD203B41FA5}">
                      <a16:colId xmlns:a16="http://schemas.microsoft.com/office/drawing/2014/main" val="2513849092"/>
                    </a:ext>
                  </a:extLst>
                </a:gridCol>
                <a:gridCol w="646563">
                  <a:extLst>
                    <a:ext uri="{9D8B030D-6E8A-4147-A177-3AD203B41FA5}">
                      <a16:colId xmlns:a16="http://schemas.microsoft.com/office/drawing/2014/main" val="227279027"/>
                    </a:ext>
                  </a:extLst>
                </a:gridCol>
                <a:gridCol w="690504">
                  <a:extLst>
                    <a:ext uri="{9D8B030D-6E8A-4147-A177-3AD203B41FA5}">
                      <a16:colId xmlns:a16="http://schemas.microsoft.com/office/drawing/2014/main" val="3717909280"/>
                    </a:ext>
                  </a:extLst>
                </a:gridCol>
                <a:gridCol w="690504">
                  <a:extLst>
                    <a:ext uri="{9D8B030D-6E8A-4147-A177-3AD203B41FA5}">
                      <a16:colId xmlns:a16="http://schemas.microsoft.com/office/drawing/2014/main" val="1570087141"/>
                    </a:ext>
                  </a:extLst>
                </a:gridCol>
                <a:gridCol w="677949">
                  <a:extLst>
                    <a:ext uri="{9D8B030D-6E8A-4147-A177-3AD203B41FA5}">
                      <a16:colId xmlns:a16="http://schemas.microsoft.com/office/drawing/2014/main" val="3602560367"/>
                    </a:ext>
                  </a:extLst>
                </a:gridCol>
                <a:gridCol w="684227">
                  <a:extLst>
                    <a:ext uri="{9D8B030D-6E8A-4147-A177-3AD203B41FA5}">
                      <a16:colId xmlns:a16="http://schemas.microsoft.com/office/drawing/2014/main" val="1202086301"/>
                    </a:ext>
                  </a:extLst>
                </a:gridCol>
                <a:gridCol w="690504">
                  <a:extLst>
                    <a:ext uri="{9D8B030D-6E8A-4147-A177-3AD203B41FA5}">
                      <a16:colId xmlns:a16="http://schemas.microsoft.com/office/drawing/2014/main" val="2053749275"/>
                    </a:ext>
                  </a:extLst>
                </a:gridCol>
                <a:gridCol w="828604">
                  <a:extLst>
                    <a:ext uri="{9D8B030D-6E8A-4147-A177-3AD203B41FA5}">
                      <a16:colId xmlns:a16="http://schemas.microsoft.com/office/drawing/2014/main" val="470498534"/>
                    </a:ext>
                  </a:extLst>
                </a:gridCol>
              </a:tblGrid>
              <a:tr h="2396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Revenue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1,500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36,500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1615545"/>
                  </a:ext>
                </a:extLst>
              </a:tr>
              <a:tr h="2396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CF 2025 wo. Korea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Jan-25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Feb-25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Apr-25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Jul-25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Aug-25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Sep-25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Oct-25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Nov-25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0573908"/>
                  </a:ext>
                </a:extLst>
              </a:tr>
              <a:tr h="2396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O.B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46,988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42,822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53,510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48,538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43,938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53,929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49,873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45,826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47,764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41,653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35,361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3497806"/>
                  </a:ext>
                </a:extLst>
              </a:tr>
              <a:tr h="2396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Adjuted EBITDA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(2,500)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(2,500)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(2,500)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(2,500)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(2,500)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(2,000)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(2,000)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(2,000)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(2,000)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(2,000)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(2,000)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(2,000)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(26,500)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789330"/>
                  </a:ext>
                </a:extLst>
              </a:tr>
              <a:tr h="2396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(500)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(1,622)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(323)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(2,363)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(1,952)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(2,733)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(1,814)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(1,859)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(2,592)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(3,841)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(4,139)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(736)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(24,474)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986944"/>
                  </a:ext>
                </a:extLst>
              </a:tr>
              <a:tr h="2396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(32)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(1,342)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(32)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(64)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(64)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(64)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(96)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(96)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(104)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(128)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1,373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(650)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984098"/>
                  </a:ext>
                </a:extLst>
              </a:tr>
              <a:tr h="2396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Capex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(134)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(64)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(73)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(200)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(166)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(80)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(61)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(167)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(25)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(77)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(1,046)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1278970"/>
                  </a:ext>
                </a:extLst>
              </a:tr>
              <a:tr h="2396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Financing, net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14,988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14,988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6,688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41,591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499848"/>
                  </a:ext>
                </a:extLst>
              </a:tr>
              <a:tr h="2396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C.B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46,988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42,822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53,510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48,538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43,938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53,929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49,873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45,826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47,764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41,653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35,361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38,921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38,921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7185751"/>
                  </a:ext>
                </a:extLst>
              </a:tr>
              <a:tr h="239673"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497710"/>
                  </a:ext>
                </a:extLst>
              </a:tr>
              <a:tr h="2396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Cash Burn WO financing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(3,000)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(4,154)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(4,300)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(4,960)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(4,589)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(4,997)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(4,044)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(4,035)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(4,749)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(6,112)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(6,292)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(1,440)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(52,670)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989715"/>
                  </a:ext>
                </a:extLst>
              </a:tr>
              <a:tr h="2396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Cash Burn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(3,012)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(4,166)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10,688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(4,972)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(4,601)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9,991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(4,056)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(4,047)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1,939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(6,112)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(6,292)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3,560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(11,079)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4244742"/>
                  </a:ext>
                </a:extLst>
              </a:tr>
              <a:tr h="2396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Avg. monthly cash burn WO financing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(4,389)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212056"/>
                  </a:ext>
                </a:extLst>
              </a:tr>
            </a:tbl>
          </a:graphicData>
        </a:graphic>
      </p:graphicFrame>
      <p:pic>
        <p:nvPicPr>
          <p:cNvPr id="9" name="Picture 8" descr="Graphs and charts">
            <a:extLst>
              <a:ext uri="{FF2B5EF4-FFF2-40B4-BE49-F238E27FC236}">
                <a16:creationId xmlns:a16="http://schemas.microsoft.com/office/drawing/2014/main" id="{AFDD5DB8-C657-B786-3499-52D829C04A6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-1524" y="814134"/>
            <a:ext cx="12192000" cy="603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458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IL"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77" name="Google Shape;377;p6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294"/>
                </a:srgbClr>
              </a:gs>
              <a:gs pos="100000">
                <a:srgbClr val="374C8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78" name="Google Shape;378;p6"/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253356">
                  <a:alpha val="67450"/>
                </a:srgbClr>
              </a:gs>
              <a:gs pos="19000">
                <a:srgbClr val="253356">
                  <a:alpha val="67450"/>
                </a:srgbClr>
              </a:gs>
              <a:gs pos="100000">
                <a:srgbClr val="4A66AC">
                  <a:alpha val="78431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79" name="Google Shape;379;p6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4A66AC">
                  <a:alpha val="0"/>
                </a:srgbClr>
              </a:gs>
              <a:gs pos="23000">
                <a:srgbClr val="4A66AC">
                  <a:alpha val="0"/>
                </a:srgbClr>
              </a:gs>
              <a:gs pos="99000">
                <a:srgbClr val="000000">
                  <a:alpha val="73333"/>
                </a:srgbClr>
              </a:gs>
              <a:gs pos="100000">
                <a:srgbClr val="000000">
                  <a:alpha val="73333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80" name="Google Shape;380;p6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rPr lang="en-US" sz="4400" dirty="0">
                <a:solidFill>
                  <a:srgbClr val="FFFFFF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AOP</a:t>
            </a:r>
            <a:endParaRPr dirty="0"/>
          </a:p>
        </p:txBody>
      </p:sp>
      <p:pic>
        <p:nvPicPr>
          <p:cNvPr id="398" name="Google Shape;398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75458"/>
            <a:ext cx="4063142" cy="528254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C55E9C-1CD8-B6DA-7947-2686ED2C55B1}"/>
              </a:ext>
            </a:extLst>
          </p:cNvPr>
          <p:cNvSpPr txBox="1"/>
          <p:nvPr/>
        </p:nvSpPr>
        <p:spPr>
          <a:xfrm>
            <a:off x="10399015" y="4332537"/>
            <a:ext cx="1794509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900" dirty="0">
                <a:solidFill>
                  <a:schemeClr val="accent1">
                    <a:lumMod val="75000"/>
                    <a:alpha val="17000"/>
                  </a:schemeClr>
                </a:solidFill>
                <a:latin typeface="Century Gothic" panose="020B0502020202020204" pitchFamily="34" charset="0"/>
              </a:rPr>
              <a:t>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7BC12A-B8D7-E5C1-B008-EA97DA6DE69A}"/>
              </a:ext>
            </a:extLst>
          </p:cNvPr>
          <p:cNvSpPr txBox="1"/>
          <p:nvPr/>
        </p:nvSpPr>
        <p:spPr>
          <a:xfrm>
            <a:off x="4013628" y="1579761"/>
            <a:ext cx="8230458" cy="5701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Aptos" panose="020B0004020202020204" pitchFamily="34" charset="0"/>
              </a:rPr>
              <a:t>The </a:t>
            </a:r>
            <a:r>
              <a:rPr lang="en-US" sz="1350" b="1" dirty="0">
                <a:latin typeface="Aptos" panose="020B0004020202020204" pitchFamily="34" charset="0"/>
              </a:rPr>
              <a:t>AOP </a:t>
            </a:r>
            <a:r>
              <a:rPr lang="en-US" sz="1350" dirty="0">
                <a:latin typeface="Aptos" panose="020B0004020202020204" pitchFamily="34" charset="0"/>
              </a:rPr>
              <a:t>(Annual Operating Plan) </a:t>
            </a:r>
            <a:r>
              <a:rPr lang="en-US" sz="1350" b="1" dirty="0">
                <a:latin typeface="Aptos" panose="020B0004020202020204" pitchFamily="34" charset="0"/>
              </a:rPr>
              <a:t>focuses</a:t>
            </a:r>
            <a:r>
              <a:rPr lang="en-US" sz="1350" dirty="0">
                <a:latin typeface="Aptos" panose="020B0004020202020204" pitchFamily="34" charset="0"/>
              </a:rPr>
              <a:t> and outlines high level </a:t>
            </a:r>
            <a:r>
              <a:rPr lang="en-US" sz="1350" b="1" dirty="0">
                <a:latin typeface="Aptos" panose="020B0004020202020204" pitchFamily="34" charset="0"/>
              </a:rPr>
              <a:t>Objectives</a:t>
            </a:r>
            <a:r>
              <a:rPr lang="en-US" sz="1350" dirty="0">
                <a:latin typeface="Aptos" panose="020B0004020202020204" pitchFamily="34" charset="0"/>
              </a:rPr>
              <a:t> to detailed </a:t>
            </a:r>
            <a:r>
              <a:rPr lang="en-US" sz="1350" b="1" dirty="0">
                <a:latin typeface="Aptos" panose="020B0004020202020204" pitchFamily="34" charset="0"/>
              </a:rPr>
              <a:t>action items linking Divisions and departments.</a:t>
            </a:r>
            <a:endParaRPr lang="en-US" sz="1350" dirty="0">
              <a:latin typeface="Aptos" panose="020B0004020202020204" pitchFamily="34" charset="0"/>
            </a:endParaRPr>
          </a:p>
          <a:p>
            <a:endParaRPr lang="en-US" sz="1350" dirty="0">
              <a:latin typeface="Aptos" panose="020B0004020202020204" pitchFamily="34" charset="0"/>
            </a:endParaRPr>
          </a:p>
          <a:p>
            <a:r>
              <a:rPr lang="en-US" sz="1350" dirty="0">
                <a:latin typeface="Aptos" panose="020B0004020202020204" pitchFamily="34" charset="0"/>
              </a:rPr>
              <a:t>Once </a:t>
            </a:r>
            <a:r>
              <a:rPr lang="en-US" sz="1350" b="1" dirty="0">
                <a:latin typeface="Aptos" panose="020B0004020202020204" pitchFamily="34" charset="0"/>
              </a:rPr>
              <a:t>Insights</a:t>
            </a:r>
            <a:r>
              <a:rPr lang="en-US" sz="1350" dirty="0">
                <a:latin typeface="Aptos" panose="020B0004020202020204" pitchFamily="34" charset="0"/>
              </a:rPr>
              <a:t> were acquired, outline your </a:t>
            </a:r>
            <a:r>
              <a:rPr lang="en-US" sz="1350" b="1" dirty="0">
                <a:latin typeface="Aptos" panose="020B0004020202020204" pitchFamily="34" charset="0"/>
              </a:rPr>
              <a:t>Objectives</a:t>
            </a:r>
            <a:r>
              <a:rPr lang="en-US" sz="1350" dirty="0">
                <a:latin typeface="Aptos" panose="020B0004020202020204" pitchFamily="34" charset="0"/>
              </a:rPr>
              <a:t>.</a:t>
            </a:r>
          </a:p>
          <a:p>
            <a:r>
              <a:rPr lang="en-US" sz="1350" dirty="0">
                <a:latin typeface="Aptos" panose="020B0004020202020204" pitchFamily="34" charset="0"/>
              </a:rPr>
              <a:t>Objectives are high level targets to set for the upcoming year: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latin typeface="Aptos" panose="020B0004020202020204" pitchFamily="34" charset="0"/>
              </a:rPr>
              <a:t>Top Line Focus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latin typeface="Aptos" panose="020B0004020202020204" pitchFamily="34" charset="0"/>
              </a:rPr>
              <a:t>ARR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latin typeface="Aptos" panose="020B0004020202020204" pitchFamily="34" charset="0"/>
              </a:rPr>
              <a:t>BOM reduction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latin typeface="Aptos" panose="020B0004020202020204" pitchFamily="34" charset="0"/>
              </a:rPr>
              <a:t>Increase market penetration in profitable, high MRR sector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latin typeface="Aptos" panose="020B0004020202020204" pitchFamily="34" charset="0"/>
              </a:rPr>
              <a:t>Etc.</a:t>
            </a:r>
          </a:p>
          <a:p>
            <a:endParaRPr lang="en-US" sz="1350" dirty="0">
              <a:latin typeface="Aptos" panose="020B0004020202020204" pitchFamily="34" charset="0"/>
            </a:endParaRPr>
          </a:p>
          <a:p>
            <a:r>
              <a:rPr lang="en-US" sz="1350" dirty="0">
                <a:latin typeface="Aptos" panose="020B0004020202020204" pitchFamily="34" charset="0"/>
              </a:rPr>
              <a:t>The insights acquired are the drivers for the </a:t>
            </a:r>
            <a:r>
              <a:rPr lang="en-US" sz="1350" b="1" dirty="0">
                <a:latin typeface="Aptos" panose="020B0004020202020204" pitchFamily="34" charset="0"/>
              </a:rPr>
              <a:t>KPI’s</a:t>
            </a:r>
            <a:r>
              <a:rPr lang="en-US" sz="1350" dirty="0">
                <a:latin typeface="Aptos" panose="020B0004020202020204" pitchFamily="34" charset="0"/>
              </a:rPr>
              <a:t>. The KPI’s should be a </a:t>
            </a:r>
            <a:r>
              <a:rPr lang="en-US" sz="1350" b="1" dirty="0">
                <a:latin typeface="Aptos" panose="020B0004020202020204" pitchFamily="34" charset="0"/>
              </a:rPr>
              <a:t>measurable/quantified</a:t>
            </a:r>
            <a:r>
              <a:rPr lang="en-US" sz="1350" dirty="0">
                <a:latin typeface="Aptos" panose="020B0004020202020204" pitchFamily="34" charset="0"/>
              </a:rPr>
              <a:t> amount so that we’ll have clear understanding of whether we’re on the right trajectory or not.</a:t>
            </a:r>
          </a:p>
          <a:p>
            <a:r>
              <a:rPr lang="en-US" sz="1350" dirty="0">
                <a:latin typeface="Aptos" panose="020B0004020202020204" pitchFamily="34" charset="0"/>
              </a:rPr>
              <a:t>KPI’s are the building blocks of our objectives: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latin typeface="Aptos" panose="020B0004020202020204" pitchFamily="34" charset="0"/>
              </a:rPr>
              <a:t>MRR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latin typeface="Aptos" panose="020B0004020202020204" pitchFamily="34" charset="0"/>
              </a:rPr>
              <a:t>ARPU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latin typeface="Aptos" panose="020B0004020202020204" pitchFamily="34" charset="0"/>
              </a:rPr>
              <a:t>Churn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latin typeface="Aptos" panose="020B0004020202020204" pitchFamily="34" charset="0"/>
              </a:rPr>
              <a:t>GM. per market/sector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latin typeface="Aptos" panose="020B0004020202020204" pitchFamily="34" charset="0"/>
              </a:rPr>
              <a:t>Monthly Inventory levels.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latin typeface="Aptos" panose="020B0004020202020204" pitchFamily="34" charset="0"/>
              </a:rPr>
              <a:t>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50" dirty="0">
              <a:latin typeface="Aptos" panose="020B0004020202020204" pitchFamily="34" charset="0"/>
            </a:endParaRPr>
          </a:p>
          <a:p>
            <a:r>
              <a:rPr lang="en-US" sz="1350" dirty="0">
                <a:latin typeface="Aptos" panose="020B0004020202020204" pitchFamily="34" charset="0"/>
              </a:rPr>
              <a:t>The </a:t>
            </a:r>
            <a:r>
              <a:rPr lang="en-US" sz="1350" b="1" dirty="0">
                <a:latin typeface="Aptos" panose="020B0004020202020204" pitchFamily="34" charset="0"/>
              </a:rPr>
              <a:t>Action Items </a:t>
            </a:r>
            <a:r>
              <a:rPr lang="en-US" sz="1350" dirty="0">
                <a:latin typeface="Aptos" panose="020B0004020202020204" pitchFamily="34" charset="0"/>
              </a:rPr>
              <a:t>is the </a:t>
            </a:r>
            <a:r>
              <a:rPr lang="en-US" sz="1350" b="1" dirty="0">
                <a:latin typeface="Aptos" panose="020B0004020202020204" pitchFamily="34" charset="0"/>
              </a:rPr>
              <a:t>detailed plan</a:t>
            </a:r>
            <a:r>
              <a:rPr lang="en-US" sz="1350" dirty="0">
                <a:latin typeface="Aptos" panose="020B0004020202020204" pitchFamily="34" charset="0"/>
              </a:rPr>
              <a:t> on how we’re going to achieve those Objectives &amp; KPI’s.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latin typeface="Aptos" panose="020B0004020202020204" pitchFamily="34" charset="0"/>
              </a:rPr>
              <a:t>Recruit a salesperson in EU until the </a:t>
            </a:r>
            <a:r>
              <a:rPr lang="en-US" sz="1350" dirty="0" err="1">
                <a:latin typeface="Aptos" panose="020B0004020202020204" pitchFamily="34" charset="0"/>
              </a:rPr>
              <a:t>eo</a:t>
            </a:r>
            <a:r>
              <a:rPr lang="en-US" sz="1350" dirty="0">
                <a:latin typeface="Aptos" panose="020B0004020202020204" pitchFamily="34" charset="0"/>
              </a:rPr>
              <a:t>. Mar. 2025.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latin typeface="Aptos" panose="020B0004020202020204" pitchFamily="34" charset="0"/>
              </a:rPr>
              <a:t>Eliminate relationship with unprofitable customers by </a:t>
            </a:r>
            <a:r>
              <a:rPr lang="en-US" sz="1350" dirty="0" err="1">
                <a:latin typeface="Aptos" panose="020B0004020202020204" pitchFamily="34" charset="0"/>
              </a:rPr>
              <a:t>eo</a:t>
            </a:r>
            <a:r>
              <a:rPr lang="en-US" sz="1350" dirty="0">
                <a:latin typeface="Aptos" panose="020B0004020202020204" pitchFamily="34" charset="0"/>
              </a:rPr>
              <a:t>. Jun. 2025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latin typeface="Aptos" panose="020B0004020202020204" pitchFamily="34" charset="0"/>
              </a:rPr>
              <a:t>Finalize agreement with vendor X by Q3 with a BOM price no higher than $100K.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50" dirty="0">
              <a:latin typeface="Aptos" panose="020B0004020202020204" pitchFamily="34" charset="0"/>
            </a:endParaRPr>
          </a:p>
          <a:p>
            <a:endParaRPr lang="en-US" sz="1350" dirty="0">
              <a:latin typeface="Aptos" panose="020B0004020202020204" pitchFamily="34" charset="0"/>
            </a:endParaRPr>
          </a:p>
        </p:txBody>
      </p:sp>
      <p:pic>
        <p:nvPicPr>
          <p:cNvPr id="4" name="Graphic 3" descr="Bar graph with upward trend with solid fill">
            <a:extLst>
              <a:ext uri="{FF2B5EF4-FFF2-40B4-BE49-F238E27FC236}">
                <a16:creationId xmlns:a16="http://schemas.microsoft.com/office/drawing/2014/main" id="{24D87D74-9229-F9ED-A770-2368B50EA8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85824" y="2177617"/>
            <a:ext cx="914400" cy="914400"/>
          </a:xfrm>
          <a:prstGeom prst="rect">
            <a:avLst/>
          </a:prstGeom>
        </p:spPr>
      </p:pic>
      <p:pic>
        <p:nvPicPr>
          <p:cNvPr id="7" name="Graphic 6" descr="Gauge with solid fill">
            <a:extLst>
              <a:ext uri="{FF2B5EF4-FFF2-40B4-BE49-F238E27FC236}">
                <a16:creationId xmlns:a16="http://schemas.microsoft.com/office/drawing/2014/main" id="{141FBCA1-7679-5F5C-8C0D-A14FBE1A1F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85824" y="4266775"/>
            <a:ext cx="914400" cy="914400"/>
          </a:xfrm>
          <a:prstGeom prst="rect">
            <a:avLst/>
          </a:prstGeom>
        </p:spPr>
      </p:pic>
      <p:pic>
        <p:nvPicPr>
          <p:cNvPr id="9" name="Graphic 8" descr="Checklist with solid fill">
            <a:extLst>
              <a:ext uri="{FF2B5EF4-FFF2-40B4-BE49-F238E27FC236}">
                <a16:creationId xmlns:a16="http://schemas.microsoft.com/office/drawing/2014/main" id="{AF1EC063-C8D5-26C4-7786-E4E05D1A2FE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185824" y="5886196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5">
          <a:extLst>
            <a:ext uri="{FF2B5EF4-FFF2-40B4-BE49-F238E27FC236}">
              <a16:creationId xmlns:a16="http://schemas.microsoft.com/office/drawing/2014/main" id="{B7CBCF7E-6C51-D86F-09F5-7AC1745ED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">
            <a:extLst>
              <a:ext uri="{FF2B5EF4-FFF2-40B4-BE49-F238E27FC236}">
                <a16:creationId xmlns:a16="http://schemas.microsoft.com/office/drawing/2014/main" id="{7CA51CEF-24C0-14EA-2E68-9EB820683478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lang="en-IL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77" name="Google Shape;377;p6">
            <a:extLst>
              <a:ext uri="{FF2B5EF4-FFF2-40B4-BE49-F238E27FC236}">
                <a16:creationId xmlns:a16="http://schemas.microsoft.com/office/drawing/2014/main" id="{E64BAACA-3C28-F453-91D5-87C3CBD69BA7}"/>
              </a:ext>
            </a:extLst>
          </p:cNvPr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294"/>
                </a:srgbClr>
              </a:gs>
              <a:gs pos="100000">
                <a:srgbClr val="374C8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78" name="Google Shape;378;p6">
            <a:extLst>
              <a:ext uri="{FF2B5EF4-FFF2-40B4-BE49-F238E27FC236}">
                <a16:creationId xmlns:a16="http://schemas.microsoft.com/office/drawing/2014/main" id="{1E4A4082-F843-B2FD-FA1D-F08F2A499995}"/>
              </a:ext>
            </a:extLst>
          </p:cNvPr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253356">
                  <a:alpha val="67450"/>
                </a:srgbClr>
              </a:gs>
              <a:gs pos="19000">
                <a:srgbClr val="253356">
                  <a:alpha val="67450"/>
                </a:srgbClr>
              </a:gs>
              <a:gs pos="100000">
                <a:srgbClr val="4A66AC">
                  <a:alpha val="78431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79" name="Google Shape;379;p6">
            <a:extLst>
              <a:ext uri="{FF2B5EF4-FFF2-40B4-BE49-F238E27FC236}">
                <a16:creationId xmlns:a16="http://schemas.microsoft.com/office/drawing/2014/main" id="{30B40710-4FC9-BF60-03D9-4F445368C85D}"/>
              </a:ext>
            </a:extLst>
          </p:cNvPr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4A66AC">
                  <a:alpha val="0"/>
                </a:srgbClr>
              </a:gs>
              <a:gs pos="23000">
                <a:srgbClr val="4A66AC">
                  <a:alpha val="0"/>
                </a:srgbClr>
              </a:gs>
              <a:gs pos="99000">
                <a:srgbClr val="000000">
                  <a:alpha val="73333"/>
                </a:srgbClr>
              </a:gs>
              <a:gs pos="100000">
                <a:srgbClr val="000000">
                  <a:alpha val="73333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80" name="Google Shape;380;p6">
            <a:extLst>
              <a:ext uri="{FF2B5EF4-FFF2-40B4-BE49-F238E27FC236}">
                <a16:creationId xmlns:a16="http://schemas.microsoft.com/office/drawing/2014/main" id="{3097BF1D-11D7-BB9C-E1D2-CC937A12A6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rPr lang="en-US" sz="4400" dirty="0">
                <a:solidFill>
                  <a:srgbClr val="FFFFFF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AOP</a:t>
            </a:r>
            <a:endParaRPr dirty="0"/>
          </a:p>
        </p:txBody>
      </p:sp>
      <p:pic>
        <p:nvPicPr>
          <p:cNvPr id="398" name="Google Shape;398;p6" descr="preencoded.png">
            <a:extLst>
              <a:ext uri="{FF2B5EF4-FFF2-40B4-BE49-F238E27FC236}">
                <a16:creationId xmlns:a16="http://schemas.microsoft.com/office/drawing/2014/main" id="{24E039EE-0C01-CED5-85F6-1D2A19A6D5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75458"/>
            <a:ext cx="4063142" cy="528254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A28BA5A-CDAE-D39E-6AA7-DDAD72B3B116}"/>
              </a:ext>
            </a:extLst>
          </p:cNvPr>
          <p:cNvSpPr txBox="1"/>
          <p:nvPr/>
        </p:nvSpPr>
        <p:spPr>
          <a:xfrm>
            <a:off x="10399015" y="4332537"/>
            <a:ext cx="1794509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9900" b="0" i="0" u="none" strike="noStrike" kern="0" cap="none" spc="0" normalizeH="0" baseline="0" noProof="0" dirty="0">
                <a:ln>
                  <a:noFill/>
                </a:ln>
                <a:solidFill>
                  <a:srgbClr val="4A66AC">
                    <a:lumMod val="75000"/>
                    <a:alpha val="17000"/>
                  </a:srgbClr>
                </a:solidFill>
                <a:effectLst/>
                <a:uLnTx/>
                <a:uFillTx/>
                <a:latin typeface="Century Gothic" panose="020B0502020202020204" pitchFamily="34" charset="0"/>
                <a:cs typeface="Arial"/>
                <a:sym typeface="Arial"/>
              </a:rPr>
              <a:t>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D06015-57F6-E254-5B05-BA83AC4D5866}"/>
              </a:ext>
            </a:extLst>
          </p:cNvPr>
          <p:cNvSpPr txBox="1"/>
          <p:nvPr/>
        </p:nvSpPr>
        <p:spPr>
          <a:xfrm>
            <a:off x="4063142" y="1575457"/>
            <a:ext cx="823045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dirty="0">
                <a:latin typeface="Aptos" panose="020B0004020202020204" pitchFamily="34" charset="0"/>
              </a:rPr>
              <a:t>The AOP structure should be focused, concise and clear.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dirty="0">
                <a:latin typeface="Aptos" panose="020B0004020202020204" pitchFamily="34" charset="0"/>
              </a:rPr>
              <a:t>A recommended AOP structure should be: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latin typeface="Aptos" panose="020B0004020202020204" pitchFamily="34" charset="0"/>
              </a:rPr>
              <a:t>Current year’s achievements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Upcoming year</a:t>
            </a:r>
            <a:r>
              <a:rPr lang="en-US" dirty="0">
                <a:latin typeface="Aptos" panose="020B0004020202020204" pitchFamily="34" charset="0"/>
              </a:rPr>
              <a:t>’s Objectives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Table detailing Top Objectives &gt; KPI’s &gt; Action Items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Main Sales Plan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HC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What to change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latin typeface="Aptos" panose="020B0004020202020204" pitchFamily="34" charset="0"/>
              </a:rPr>
              <a:t>Product Road Map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Financials (KPI’s, Budget, CF, Growth ROI’s, etc.)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The Framework: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E2263AE-D2F8-C307-DA8A-96784B6B90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754166"/>
              </p:ext>
            </p:extLst>
          </p:nvPr>
        </p:nvGraphicFramePr>
        <p:xfrm>
          <a:off x="4058491" y="4650940"/>
          <a:ext cx="8138161" cy="1636576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512349">
                  <a:extLst>
                    <a:ext uri="{9D8B030D-6E8A-4147-A177-3AD203B41FA5}">
                      <a16:colId xmlns:a16="http://schemas.microsoft.com/office/drawing/2014/main" val="1901822034"/>
                    </a:ext>
                  </a:extLst>
                </a:gridCol>
                <a:gridCol w="2633928">
                  <a:extLst>
                    <a:ext uri="{9D8B030D-6E8A-4147-A177-3AD203B41FA5}">
                      <a16:colId xmlns:a16="http://schemas.microsoft.com/office/drawing/2014/main" val="4030583491"/>
                    </a:ext>
                  </a:extLst>
                </a:gridCol>
                <a:gridCol w="3991884">
                  <a:extLst>
                    <a:ext uri="{9D8B030D-6E8A-4147-A177-3AD203B41FA5}">
                      <a16:colId xmlns:a16="http://schemas.microsoft.com/office/drawing/2014/main" val="731449497"/>
                    </a:ext>
                  </a:extLst>
                </a:gridCol>
              </a:tblGrid>
              <a:tr h="385672">
                <a:tc>
                  <a:txBody>
                    <a:bodyPr/>
                    <a:lstStyle>
                      <a:lvl1pPr marL="0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77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55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32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09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886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063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240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417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Objective</a:t>
                      </a:r>
                      <a:endParaRPr lang="en-US" sz="1100" dirty="0">
                        <a:solidFill>
                          <a:schemeClr val="tx1"/>
                        </a:solidFill>
                        <a:latin typeface="Inter" panose="02000503000000020004"/>
                      </a:endParaRPr>
                    </a:p>
                  </a:txBody>
                  <a:tcPr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40000"/>
                        <a:lumOff val="60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77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55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32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09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886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063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240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417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KPI (a measurable due-date/Quantity/Amount KPI)</a:t>
                      </a:r>
                      <a:endParaRPr lang="en-US" sz="1100" dirty="0">
                        <a:solidFill>
                          <a:schemeClr val="tx1"/>
                        </a:solidFill>
                        <a:latin typeface="Inter" panose="02000503000000020004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40000"/>
                        <a:lumOff val="60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77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55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32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09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886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063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240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417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Action-Items</a:t>
                      </a:r>
                      <a:endParaRPr lang="en-US" sz="1100" dirty="0">
                        <a:solidFill>
                          <a:schemeClr val="tx1"/>
                        </a:solidFill>
                        <a:latin typeface="Inter" panose="02000503000000020004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421687"/>
                  </a:ext>
                </a:extLst>
              </a:tr>
              <a:tr h="385672">
                <a:tc rowSpan="2">
                  <a:txBody>
                    <a:bodyPr/>
                    <a:lstStyle>
                      <a:lvl1pPr marL="0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77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55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32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09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886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063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240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417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914355" rtl="0" eaLnBrk="1" latinLnBrk="0" hangingPunct="1"/>
                      <a:r>
                        <a:rPr lang="en-US" sz="1100" kern="1200" dirty="0">
                          <a:solidFill>
                            <a:prstClr val="black"/>
                          </a:solidFill>
                          <a:latin typeface="Calibri" panose="020F0502020204030204"/>
                          <a:ea typeface="+mn-ea"/>
                          <a:cs typeface="+mn-cs"/>
                        </a:rPr>
                        <a:t>Sale of 400 units in US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6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77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55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32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09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886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063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240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417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kern="1200" dirty="0">
                          <a:solidFill>
                            <a:prstClr val="black"/>
                          </a:solidFill>
                        </a:rPr>
                        <a:t>$10M Revenues</a:t>
                      </a:r>
                      <a:endParaRPr lang="en-US" sz="1100" kern="1200" dirty="0">
                        <a:solidFill>
                          <a:prstClr val="black"/>
                        </a:solidFill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3366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77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55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32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09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886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063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240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417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dirty="0">
                          <a:solidFill>
                            <a:prstClr val="black"/>
                          </a:solidFill>
                        </a:rPr>
                        <a:t>See: Sales plan slide for EU and US </a:t>
                      </a:r>
                    </a:p>
                    <a:p>
                      <a:pPr marL="285750" marR="0" lvl="0" indent="-285750" algn="l" defTabSz="914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dirty="0"/>
                        <a:t>Execute marketing penetration plan </a:t>
                      </a:r>
                      <a:endParaRPr lang="en-US" sz="1100" dirty="0">
                        <a:latin typeface="Inter" panose="02000503000000020004"/>
                      </a:endParaRPr>
                    </a:p>
                  </a:txBody>
                  <a:tcPr anchor="ctr">
                    <a:solidFill>
                      <a:srgbClr val="3366F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171538"/>
                  </a:ext>
                </a:extLst>
              </a:tr>
              <a:tr h="783136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77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55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32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09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886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063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240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417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1100" kern="1200" dirty="0">
                          <a:solidFill>
                            <a:prstClr val="black"/>
                          </a:solidFill>
                        </a:rPr>
                        <a:t>Produce &gt; 400 Units</a:t>
                      </a:r>
                      <a:endParaRPr lang="en-US" sz="1100" kern="1200" dirty="0">
                        <a:solidFill>
                          <a:prstClr val="black"/>
                        </a:solidFill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3366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77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55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32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09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886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063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240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417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dirty="0">
                          <a:solidFill>
                            <a:prstClr val="black"/>
                          </a:solidFill>
                        </a:rPr>
                        <a:t>Extend X production to fulfill 2025 sales plan 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dirty="0">
                          <a:solidFill>
                            <a:prstClr val="black"/>
                          </a:solidFill>
                        </a:rPr>
                        <a:t>Consider different vendor component for X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prstClr val="black"/>
                          </a:solidFill>
                        </a:rPr>
                        <a:t>Receive regulatory approval by </a:t>
                      </a:r>
                      <a:r>
                        <a:rPr lang="en-US" sz="1100" kern="1200" dirty="0" err="1">
                          <a:solidFill>
                            <a:prstClr val="black"/>
                          </a:solidFill>
                        </a:rPr>
                        <a:t>eo</a:t>
                      </a:r>
                      <a:r>
                        <a:rPr lang="en-US" sz="1100" kern="1200" dirty="0">
                          <a:solidFill>
                            <a:prstClr val="black"/>
                          </a:solidFill>
                        </a:rPr>
                        <a:t>. Jun 2025.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dirty="0">
                          <a:solidFill>
                            <a:prstClr val="black"/>
                          </a:solidFill>
                        </a:rPr>
                        <a:t>Etc.</a:t>
                      </a:r>
                      <a:endParaRPr lang="en-US" sz="1100" kern="1200" dirty="0">
                        <a:solidFill>
                          <a:prstClr val="black"/>
                        </a:solidFill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3366F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699812"/>
                  </a:ext>
                </a:extLst>
              </a:tr>
            </a:tbl>
          </a:graphicData>
        </a:graphic>
      </p:graphicFrame>
      <p:pic>
        <p:nvPicPr>
          <p:cNvPr id="8" name="Picture 7" descr="Detail shot of modern architecture facade">
            <a:extLst>
              <a:ext uri="{FF2B5EF4-FFF2-40B4-BE49-F238E27FC236}">
                <a16:creationId xmlns:a16="http://schemas.microsoft.com/office/drawing/2014/main" id="{8FE3DB99-1515-10A0-3334-2468F2DC66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75458"/>
            <a:ext cx="4055363" cy="5282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135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5">
          <a:extLst>
            <a:ext uri="{FF2B5EF4-FFF2-40B4-BE49-F238E27FC236}">
              <a16:creationId xmlns:a16="http://schemas.microsoft.com/office/drawing/2014/main" id="{CD162041-5DD8-A212-395C-8C7E7BAC3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">
            <a:extLst>
              <a:ext uri="{FF2B5EF4-FFF2-40B4-BE49-F238E27FC236}">
                <a16:creationId xmlns:a16="http://schemas.microsoft.com/office/drawing/2014/main" id="{CB4E3CE0-2086-C039-9B45-50E52795851C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lang="en-IL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77" name="Google Shape;377;p6">
            <a:extLst>
              <a:ext uri="{FF2B5EF4-FFF2-40B4-BE49-F238E27FC236}">
                <a16:creationId xmlns:a16="http://schemas.microsoft.com/office/drawing/2014/main" id="{CE50571A-4254-6B24-0DE0-A0E68065B1E8}"/>
              </a:ext>
            </a:extLst>
          </p:cNvPr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294"/>
                </a:srgbClr>
              </a:gs>
              <a:gs pos="100000">
                <a:srgbClr val="374C8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78" name="Google Shape;378;p6">
            <a:extLst>
              <a:ext uri="{FF2B5EF4-FFF2-40B4-BE49-F238E27FC236}">
                <a16:creationId xmlns:a16="http://schemas.microsoft.com/office/drawing/2014/main" id="{FBC44EE9-8430-1404-AF80-894272C398FF}"/>
              </a:ext>
            </a:extLst>
          </p:cNvPr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253356">
                  <a:alpha val="67450"/>
                </a:srgbClr>
              </a:gs>
              <a:gs pos="19000">
                <a:srgbClr val="253356">
                  <a:alpha val="67450"/>
                </a:srgbClr>
              </a:gs>
              <a:gs pos="100000">
                <a:srgbClr val="4A66AC">
                  <a:alpha val="78431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79" name="Google Shape;379;p6">
            <a:extLst>
              <a:ext uri="{FF2B5EF4-FFF2-40B4-BE49-F238E27FC236}">
                <a16:creationId xmlns:a16="http://schemas.microsoft.com/office/drawing/2014/main" id="{EAF460F2-FEAF-4BB6-FE9C-C3C2F6F382B5}"/>
              </a:ext>
            </a:extLst>
          </p:cNvPr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4A66AC">
                  <a:alpha val="0"/>
                </a:srgbClr>
              </a:gs>
              <a:gs pos="23000">
                <a:srgbClr val="4A66AC">
                  <a:alpha val="0"/>
                </a:srgbClr>
              </a:gs>
              <a:gs pos="99000">
                <a:srgbClr val="000000">
                  <a:alpha val="73333"/>
                </a:srgbClr>
              </a:gs>
              <a:gs pos="100000">
                <a:srgbClr val="000000">
                  <a:alpha val="73333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80" name="Google Shape;380;p6">
            <a:extLst>
              <a:ext uri="{FF2B5EF4-FFF2-40B4-BE49-F238E27FC236}">
                <a16:creationId xmlns:a16="http://schemas.microsoft.com/office/drawing/2014/main" id="{97EC07BA-5C9A-24F9-313A-1D48D3364D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rPr lang="en-US" sz="4400" dirty="0">
                <a:solidFill>
                  <a:srgbClr val="FFFFFF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FINANCIAL MODEL</a:t>
            </a:r>
            <a:endParaRPr dirty="0"/>
          </a:p>
        </p:txBody>
      </p:sp>
      <p:pic>
        <p:nvPicPr>
          <p:cNvPr id="398" name="Google Shape;398;p6" descr="preencoded.png">
            <a:extLst>
              <a:ext uri="{FF2B5EF4-FFF2-40B4-BE49-F238E27FC236}">
                <a16:creationId xmlns:a16="http://schemas.microsoft.com/office/drawing/2014/main" id="{68A228E4-D15C-1C2D-0BEF-3DEF8D341B9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75458"/>
            <a:ext cx="4063142" cy="528254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25CDC0-2757-84B8-4857-9876FF37C55D}"/>
              </a:ext>
            </a:extLst>
          </p:cNvPr>
          <p:cNvSpPr txBox="1"/>
          <p:nvPr/>
        </p:nvSpPr>
        <p:spPr>
          <a:xfrm>
            <a:off x="10399015" y="4332537"/>
            <a:ext cx="1794509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9900" b="0" i="0" u="none" strike="noStrike" kern="0" cap="none" spc="0" normalizeH="0" baseline="0" noProof="0" dirty="0">
                <a:ln>
                  <a:noFill/>
                </a:ln>
                <a:solidFill>
                  <a:srgbClr val="4A66AC">
                    <a:lumMod val="75000"/>
                    <a:alpha val="17000"/>
                  </a:srgbClr>
                </a:solidFill>
                <a:effectLst/>
                <a:uLnTx/>
                <a:uFillTx/>
                <a:latin typeface="Century Gothic" panose="020B0502020202020204" pitchFamily="34" charset="0"/>
                <a:cs typeface="Arial"/>
                <a:sym typeface="Arial"/>
              </a:rPr>
              <a:t>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FB7405-6D21-FB87-6D38-31E0E4F9C2B9}"/>
              </a:ext>
            </a:extLst>
          </p:cNvPr>
          <p:cNvSpPr txBox="1"/>
          <p:nvPr/>
        </p:nvSpPr>
        <p:spPr>
          <a:xfrm>
            <a:off x="4173117" y="2077681"/>
            <a:ext cx="823045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The </a:t>
            </a: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Financial Model</a:t>
            </a:r>
            <a:r>
              <a:rPr lang="en-US" sz="1600" dirty="0">
                <a:latin typeface="Aptos" panose="020B0004020202020204" pitchFamily="34" charset="0"/>
              </a:rPr>
              <a:t> links the </a:t>
            </a:r>
            <a:r>
              <a:rPr lang="en-US" sz="1600" b="1" dirty="0">
                <a:latin typeface="Aptos" panose="020B0004020202020204" pitchFamily="34" charset="0"/>
              </a:rPr>
              <a:t>business</a:t>
            </a:r>
            <a:r>
              <a:rPr lang="en-US" sz="1600" dirty="0">
                <a:latin typeface="Aptos" panose="020B0004020202020204" pitchFamily="34" charset="0"/>
              </a:rPr>
              <a:t> to the </a:t>
            </a:r>
            <a:r>
              <a:rPr lang="en-US" sz="1600" b="1" dirty="0">
                <a:latin typeface="Aptos" panose="020B0004020202020204" pitchFamily="34" charset="0"/>
              </a:rPr>
              <a:t>numbers</a:t>
            </a:r>
            <a:r>
              <a:rPr lang="en-US" sz="1600" dirty="0">
                <a:latin typeface="Aptos" panose="020B0004020202020204" pitchFamily="34" charset="0"/>
              </a:rPr>
              <a:t>, depicting its operations in next years.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The business outlines its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operational plans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from the financial model &gt; with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th</a:t>
            </a:r>
            <a:r>
              <a:rPr lang="en-US" sz="1600" dirty="0">
                <a:latin typeface="Aptos" panose="020B0004020202020204" pitchFamily="34" charset="0"/>
              </a:rPr>
              <a:t>e target of achieving its </a:t>
            </a:r>
            <a:r>
              <a:rPr lang="en-US" sz="1600" b="1" dirty="0">
                <a:latin typeface="Aptos" panose="020B0004020202020204" pitchFamily="34" charset="0"/>
              </a:rPr>
              <a:t>objectives</a:t>
            </a:r>
            <a:r>
              <a:rPr lang="en-US" sz="1600" dirty="0">
                <a:latin typeface="Aptos" panose="020B0004020202020204" pitchFamily="34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Key points</a:t>
            </a:r>
            <a:r>
              <a:rPr lang="en-US" sz="1600" u="sng" dirty="0">
                <a:latin typeface="Aptos" panose="020B0004020202020204" pitchFamily="34" charset="0"/>
              </a:rPr>
              <a:t>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dirty="0">
                <a:latin typeface="Aptos" panose="020B0004020202020204" pitchFamily="34" charset="0"/>
              </a:rPr>
              <a:t>Bottom-Up model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dirty="0">
                <a:latin typeface="Aptos" panose="020B0004020202020204" pitchFamily="34" charset="0"/>
              </a:rPr>
              <a:t>PO-Agreements based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Revenues summary breakdown: per customer, per product, per sector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dirty="0">
                <a:latin typeface="Aptos" panose="020B0004020202020204" pitchFamily="34" charset="0"/>
              </a:rPr>
              <a:t>What is your new Go-Get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dirty="0">
                <a:latin typeface="Aptos" panose="020B0004020202020204" pitchFamily="34" charset="0"/>
              </a:rPr>
              <a:t>KPI’s table: MRR, ARR, ARPU, GM.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CAG</a:t>
            </a:r>
            <a:r>
              <a:rPr lang="en-US" sz="1600" dirty="0">
                <a:latin typeface="Aptos" panose="020B0004020202020204" pitchFamily="34" charset="0"/>
              </a:rPr>
              <a:t>R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WC/EBI</a:t>
            </a:r>
            <a:r>
              <a:rPr lang="en-US" sz="1600" dirty="0">
                <a:latin typeface="Aptos" panose="020B0004020202020204" pitchFamily="34" charset="0"/>
              </a:rPr>
              <a:t>TDA Ratio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dirty="0">
                <a:latin typeface="Aptos" panose="020B0004020202020204" pitchFamily="34" charset="0"/>
              </a:rPr>
              <a:t>Cash Burn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Use of Proceeds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pic>
        <p:nvPicPr>
          <p:cNvPr id="6" name="Picture 5" descr="Technology abstract with upwards arrows">
            <a:extLst>
              <a:ext uri="{FF2B5EF4-FFF2-40B4-BE49-F238E27FC236}">
                <a16:creationId xmlns:a16="http://schemas.microsoft.com/office/drawing/2014/main" id="{48C11FEC-BB31-552B-39C9-4D8A2C3CAE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24" y="1575458"/>
            <a:ext cx="4063142" cy="5282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135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8"/>
          <p:cNvSpPr/>
          <p:nvPr/>
        </p:nvSpPr>
        <p:spPr>
          <a:xfrm>
            <a:off x="0" y="10138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IL"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405" name="Google Shape;405;p8"/>
          <p:cNvSpPr/>
          <p:nvPr/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374C81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406" name="Google Shape;406;p8"/>
          <p:cNvSpPr/>
          <p:nvPr/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A66AC">
                  <a:alpha val="45490"/>
                </a:srgbClr>
              </a:gs>
              <a:gs pos="100000">
                <a:srgbClr val="4A66AC">
                  <a:alpha val="45490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407" name="Google Shape;407;p8"/>
          <p:cNvSpPr/>
          <p:nvPr/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4A66AC">
                  <a:alpha val="28235"/>
                </a:srgbClr>
              </a:gs>
              <a:gs pos="2000">
                <a:srgbClr val="4A66AC">
                  <a:alpha val="28235"/>
                </a:srgbClr>
              </a:gs>
              <a:gs pos="100000">
                <a:srgbClr val="000000">
                  <a:alpha val="29411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408" name="Google Shape;408;p8"/>
          <p:cNvSpPr/>
          <p:nvPr/>
        </p:nvSpPr>
        <p:spPr>
          <a:xfrm rot="-964587">
            <a:off x="-501737" y="969718"/>
            <a:ext cx="3900357" cy="4178958"/>
          </a:xfrm>
          <a:custGeom>
            <a:avLst/>
            <a:gdLst/>
            <a:ahLst/>
            <a:cxnLst/>
            <a:rect l="l" t="t" r="r" b="b"/>
            <a:pathLst>
              <a:path w="3900357" h="4178958" extrusionOk="0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A66AC">
                  <a:alpha val="42352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409" name="Google Shape;409;p8"/>
          <p:cNvSpPr/>
          <p:nvPr/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FA1CF">
                  <a:alpha val="10588"/>
                </a:srgbClr>
              </a:gs>
              <a:gs pos="100000">
                <a:srgbClr val="8FA1CF">
                  <a:alpha val="10588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410" name="Google Shape;410;p8"/>
          <p:cNvSpPr txBox="1">
            <a:spLocks noGrp="1"/>
          </p:cNvSpPr>
          <p:nvPr>
            <p:ph type="title"/>
          </p:nvPr>
        </p:nvSpPr>
        <p:spPr>
          <a:xfrm>
            <a:off x="418225" y="489329"/>
            <a:ext cx="3201366" cy="3387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4400" dirty="0">
                <a:solidFill>
                  <a:srgbClr val="FFFFFF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MEET THE TEAM</a:t>
            </a:r>
            <a:endParaRPr dirty="0"/>
          </a:p>
        </p:txBody>
      </p:sp>
      <p:sp>
        <p:nvSpPr>
          <p:cNvPr id="411" name="Google Shape;411;p8"/>
          <p:cNvSpPr txBox="1">
            <a:spLocks noGrp="1"/>
          </p:cNvSpPr>
          <p:nvPr>
            <p:ph type="sldNum" idx="12"/>
          </p:nvPr>
        </p:nvSpPr>
        <p:spPr>
          <a:xfrm>
            <a:off x="11704320" y="6455664"/>
            <a:ext cx="4480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100"/>
              <a:buNone/>
            </a:pPr>
            <a:fld id="{00000000-1234-1234-1234-123412341234}" type="slidenum">
              <a:rPr lang="en-US" sz="1100">
                <a:solidFill>
                  <a:srgbClr val="7F7F7F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15</a:t>
            </a:fld>
            <a:endParaRPr sz="1100" dirty="0">
              <a:solidFill>
                <a:srgbClr val="7F7F7F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</p:txBody>
      </p:sp>
      <p:pic>
        <p:nvPicPr>
          <p:cNvPr id="5" name="Picture 4" descr="A person in a suit smiling&#10;&#10;Description automatically generated">
            <a:extLst>
              <a:ext uri="{FF2B5EF4-FFF2-40B4-BE49-F238E27FC236}">
                <a16:creationId xmlns:a16="http://schemas.microsoft.com/office/drawing/2014/main" id="{6AFF6AC0-17C0-6593-395F-8E42381F7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200" y="410817"/>
            <a:ext cx="1903755" cy="20872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DA1B1A0-9F64-9B3D-9A0B-5D3ED8E5FD16}"/>
              </a:ext>
            </a:extLst>
          </p:cNvPr>
          <p:cNvSpPr txBox="1"/>
          <p:nvPr/>
        </p:nvSpPr>
        <p:spPr>
          <a:xfrm>
            <a:off x="8114908" y="2405033"/>
            <a:ext cx="3611217" cy="3901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ct val="229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Raphael Haim, CPA</a:t>
            </a:r>
            <a:endParaRPr lang="en-US" dirty="0">
              <a:latin typeface="Aptos" panose="020B0004020202020204" pitchFamily="34" charset="0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68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Partner</a:t>
            </a:r>
          </a:p>
          <a:p>
            <a:pPr marL="0" marR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68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Raphael, 38, lives in Rehovot, holds a B.A in Economics and Accounting from Ben Gurion University and is a Certified Public Accountant.</a:t>
            </a:r>
            <a:br>
              <a:rPr lang="en-US" sz="1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</a:br>
            <a:br>
              <a:rPr lang="en-US" sz="1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</a:br>
            <a:r>
              <a:rPr lang="en-US" sz="1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Currently Raphael serves as Head of FP&amp;A in a medical device company. Previously he worked as a CFO and Head of FP&amp;A in an Automotive Telematics company. Before that he served the role of a Group Controller and Head of FP&amp;A of a few Nasdaq public companies.</a:t>
            </a:r>
          </a:p>
          <a:p>
            <a:pPr marL="0" marR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9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Originally interned in Ernst &amp; Young Hi-Tech department.</a:t>
            </a:r>
            <a:endParaRPr lang="en-US" dirty="0">
              <a:latin typeface="Aptos" panose="020B0004020202020204" pitchFamily="34" charset="0"/>
            </a:endParaRPr>
          </a:p>
          <a:p>
            <a:endParaRPr lang="en-IL" dirty="0"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369F2F-E3E3-903D-36C8-BBBB473B2FC9}"/>
              </a:ext>
            </a:extLst>
          </p:cNvPr>
          <p:cNvSpPr txBox="1"/>
          <p:nvPr/>
        </p:nvSpPr>
        <p:spPr>
          <a:xfrm>
            <a:off x="4270754" y="2413230"/>
            <a:ext cx="3611217" cy="4483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ct val="229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Rami Zelikovich, CPA</a:t>
            </a:r>
          </a:p>
          <a:p>
            <a:pPr marL="0" marR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68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Partner</a:t>
            </a:r>
          </a:p>
          <a:p>
            <a:pPr marL="0" marR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Rami, 36, lives in Tel Aviv, holds a B.A in Economics and Accounting from The Open University and is a Certified Public Accountant.</a:t>
            </a:r>
            <a:br>
              <a:rPr lang="en-US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</a:br>
            <a:br>
              <a:rPr lang="en-US" sz="1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</a:br>
            <a:r>
              <a:rPr lang="en-US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Currently Rami serves as Corporate Controller in a Nanotechnology research and manufacturing company. Before that he served the role of a Corporate Controller in a few private and public companies.</a:t>
            </a:r>
            <a:br>
              <a:rPr lang="en-US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</a:br>
            <a:br>
              <a:rPr lang="en-US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</a:br>
            <a:r>
              <a:rPr lang="en-US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Possesses extensive experience across all stages of a company's lifecycle, from a small start-up to a Nasdaq-traded corporation.</a:t>
            </a:r>
            <a:endParaRPr lang="en-US" dirty="0">
              <a:latin typeface="Aptos" panose="020B0004020202020204" pitchFamily="34" charset="0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9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Originally interned in Ernst &amp; Young Hi-Tech department.</a:t>
            </a:r>
            <a:endParaRPr lang="en-US" dirty="0">
              <a:latin typeface="Aptos" panose="020B0004020202020204" pitchFamily="34" charset="0"/>
            </a:endParaRPr>
          </a:p>
          <a:p>
            <a:endParaRPr lang="en-IL" dirty="0">
              <a:latin typeface="Aptos" panose="020B0004020202020204" pitchFamily="34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A89A1F0-C710-AD7A-1C02-ADBA2EF174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46" t="5049" r="22736" b="47106"/>
          <a:stretch/>
        </p:blipFill>
        <p:spPr bwMode="auto">
          <a:xfrm>
            <a:off x="8203896" y="410816"/>
            <a:ext cx="1903755" cy="20872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280421-1EF0-4A3C-53AD-EDC6DB9E4327}"/>
              </a:ext>
            </a:extLst>
          </p:cNvPr>
          <p:cNvSpPr txBox="1"/>
          <p:nvPr/>
        </p:nvSpPr>
        <p:spPr>
          <a:xfrm>
            <a:off x="10399015" y="4332537"/>
            <a:ext cx="1794509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900" dirty="0">
                <a:solidFill>
                  <a:schemeClr val="accent1">
                    <a:lumMod val="75000"/>
                    <a:alpha val="17000"/>
                  </a:schemeClr>
                </a:solidFill>
                <a:latin typeface="Century Gothic" panose="020B0502020202020204" pitchFamily="34" charset="0"/>
              </a:rPr>
              <a:t>V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4"/>
          <p:cNvSpPr/>
          <p:nvPr/>
        </p:nvSpPr>
        <p:spPr>
          <a:xfrm>
            <a:off x="0" y="2"/>
            <a:ext cx="12192000" cy="68579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459" name="Google Shape;459;p34"/>
          <p:cNvSpPr/>
          <p:nvPr/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374C81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460" name="Google Shape;460;p34"/>
          <p:cNvSpPr/>
          <p:nvPr/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A66AC">
                  <a:alpha val="45490"/>
                </a:srgbClr>
              </a:gs>
              <a:gs pos="100000">
                <a:srgbClr val="4A66AC">
                  <a:alpha val="45490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461" name="Google Shape;461;p34"/>
          <p:cNvSpPr/>
          <p:nvPr/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4A66AC">
                  <a:alpha val="28235"/>
                </a:srgbClr>
              </a:gs>
              <a:gs pos="2000">
                <a:srgbClr val="4A66AC">
                  <a:alpha val="28235"/>
                </a:srgbClr>
              </a:gs>
              <a:gs pos="100000">
                <a:srgbClr val="000000">
                  <a:alpha val="29411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462" name="Google Shape;462;p34"/>
          <p:cNvSpPr/>
          <p:nvPr/>
        </p:nvSpPr>
        <p:spPr>
          <a:xfrm rot="-964587">
            <a:off x="-501737" y="969718"/>
            <a:ext cx="3900357" cy="4178958"/>
          </a:xfrm>
          <a:custGeom>
            <a:avLst/>
            <a:gdLst/>
            <a:ahLst/>
            <a:cxnLst/>
            <a:rect l="l" t="t" r="r" b="b"/>
            <a:pathLst>
              <a:path w="3900357" h="4178958" extrusionOk="0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A66AC">
                  <a:alpha val="42352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463" name="Google Shape;463;p34"/>
          <p:cNvSpPr/>
          <p:nvPr/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FA1CF">
                  <a:alpha val="10588"/>
                </a:srgbClr>
              </a:gs>
              <a:gs pos="100000">
                <a:srgbClr val="8FA1CF">
                  <a:alpha val="10588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464" name="Google Shape;464;p34"/>
          <p:cNvSpPr txBox="1">
            <a:spLocks noGrp="1"/>
          </p:cNvSpPr>
          <p:nvPr>
            <p:ph type="title"/>
          </p:nvPr>
        </p:nvSpPr>
        <p:spPr>
          <a:xfrm>
            <a:off x="418223" y="525761"/>
            <a:ext cx="3201366" cy="3387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rPr lang="en-US" sz="4400" dirty="0">
                <a:solidFill>
                  <a:srgbClr val="FFFFFF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CONTACT INFO</a:t>
            </a:r>
            <a:endParaRPr dirty="0"/>
          </a:p>
        </p:txBody>
      </p:sp>
      <p:sp>
        <p:nvSpPr>
          <p:cNvPr id="465" name="Google Shape;465;p34"/>
          <p:cNvSpPr txBox="1"/>
          <p:nvPr/>
        </p:nvSpPr>
        <p:spPr>
          <a:xfrm>
            <a:off x="4217613" y="3285129"/>
            <a:ext cx="3756773" cy="2766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Raphael Haim</a:t>
            </a: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Tele: +972-546 393838</a:t>
            </a: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Email: </a:t>
            </a:r>
            <a:r>
              <a:rPr lang="en-US" sz="2000" u="sng" dirty="0">
                <a:solidFill>
                  <a:schemeClr val="dk1"/>
                </a:solidFill>
                <a:latin typeface="Aptos" panose="020B0004020202020204" pitchFamily="34" charset="0"/>
              </a:rPr>
              <a:t>raphihaim10@gmail.com</a:t>
            </a:r>
            <a:endParaRPr sz="2000" b="0" i="0" u="none" strike="noStrike" cap="none" dirty="0">
              <a:solidFill>
                <a:schemeClr val="dk1"/>
              </a:solidFill>
              <a:latin typeface="Aptos" panose="020B0004020202020204" pitchFamily="34" charset="0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www.linkedin.com/in/raphael-haim-930541ba</a:t>
            </a:r>
            <a:endParaRPr sz="2000" b="0" i="0" u="none" strike="noStrike" cap="none" dirty="0">
              <a:solidFill>
                <a:schemeClr val="dk1"/>
              </a:solidFill>
              <a:latin typeface="Aptos" panose="020B0004020202020204" pitchFamily="34" charset="0"/>
              <a:sym typeface="Arial"/>
            </a:endParaRPr>
          </a:p>
        </p:txBody>
      </p:sp>
      <p:pic>
        <p:nvPicPr>
          <p:cNvPr id="466" name="Google Shape;466;p34" descr="World map with flight paths"/>
          <p:cNvPicPr preferRelativeResize="0"/>
          <p:nvPr/>
        </p:nvPicPr>
        <p:blipFill rotWithShape="1">
          <a:blip r:embed="rId3">
            <a:alphaModFix/>
          </a:blip>
          <a:srcRect l="29655" r="29655"/>
          <a:stretch/>
        </p:blipFill>
        <p:spPr>
          <a:xfrm>
            <a:off x="8109502" y="10"/>
            <a:ext cx="4082498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34"/>
          <p:cNvSpPr txBox="1">
            <a:spLocks noGrp="1"/>
          </p:cNvSpPr>
          <p:nvPr>
            <p:ph type="sldNum" idx="12"/>
          </p:nvPr>
        </p:nvSpPr>
        <p:spPr>
          <a:xfrm>
            <a:off x="11704320" y="6455664"/>
            <a:ext cx="4480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SzPts val="1100"/>
              <a:buNone/>
            </a:pPr>
            <a:fld id="{00000000-1234-1234-1234-123412341234}" type="slidenum">
              <a:rPr lang="en-US" sz="1100">
                <a:solidFill>
                  <a:srgbClr val="FFFFFF"/>
                </a:solidFill>
              </a:rPr>
              <a:t>16</a:t>
            </a:fld>
            <a:endParaRPr sz="1100">
              <a:solidFill>
                <a:srgbClr val="FFFFFF"/>
              </a:solidFill>
            </a:endParaRPr>
          </a:p>
        </p:txBody>
      </p:sp>
      <p:sp>
        <p:nvSpPr>
          <p:cNvPr id="468" name="Google Shape;468;p34"/>
          <p:cNvSpPr txBox="1"/>
          <p:nvPr/>
        </p:nvSpPr>
        <p:spPr>
          <a:xfrm>
            <a:off x="4217613" y="292670"/>
            <a:ext cx="3867951" cy="2766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Rami Zelikovich</a:t>
            </a:r>
            <a:endParaRPr sz="2000" b="0" i="0" u="none" strike="noStrike" cap="none" dirty="0">
              <a:solidFill>
                <a:schemeClr val="dk1"/>
              </a:solidFill>
              <a:latin typeface="Aptos" panose="020B0004020202020204" pitchFamily="34" charset="0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Tele: +972-546 244155</a:t>
            </a: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Email: </a:t>
            </a:r>
            <a:r>
              <a:rPr lang="en-US" sz="2000" b="0" i="0" u="sng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ramizilikovich@gmail.com</a:t>
            </a:r>
            <a:endParaRPr sz="2000" b="0" i="0" u="sng" strike="noStrike" cap="none" dirty="0">
              <a:solidFill>
                <a:schemeClr val="dk1"/>
              </a:solidFill>
              <a:latin typeface="Aptos" panose="020B0004020202020204" pitchFamily="34" charset="0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www.linkedin.com/in/rami-zelikovich-0173216b</a:t>
            </a:r>
            <a:endParaRPr sz="2000" b="0" i="0" u="none" strike="noStrike" cap="none" dirty="0">
              <a:solidFill>
                <a:schemeClr val="dk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24BF57-1EAB-BFE5-CF06-B3DCFCF716BF}"/>
              </a:ext>
            </a:extLst>
          </p:cNvPr>
          <p:cNvSpPr txBox="1"/>
          <p:nvPr/>
        </p:nvSpPr>
        <p:spPr>
          <a:xfrm>
            <a:off x="10399015" y="4332537"/>
            <a:ext cx="1794509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900" dirty="0">
                <a:solidFill>
                  <a:schemeClr val="accent1">
                    <a:lumMod val="75000"/>
                    <a:alpha val="17000"/>
                  </a:schemeClr>
                </a:solidFill>
                <a:latin typeface="Century Gothic" panose="020B0502020202020204" pitchFamily="34" charset="0"/>
              </a:rPr>
              <a:t>V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474" name="Google Shape;474;p35"/>
          <p:cNvSpPr/>
          <p:nvPr/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374C81"/>
              </a:gs>
            </a:gsLst>
            <a:lin ang="15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475" name="Google Shape;475;p35"/>
          <p:cNvSpPr/>
          <p:nvPr/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0">
                <a:srgbClr val="253356">
                  <a:alpha val="60392"/>
                </a:srgbClr>
              </a:gs>
              <a:gs pos="21000">
                <a:srgbClr val="253356">
                  <a:alpha val="60392"/>
                </a:srgbClr>
              </a:gs>
              <a:gs pos="100000">
                <a:srgbClr val="4A66AC">
                  <a:alpha val="0"/>
                </a:srgbClr>
              </a:gs>
            </a:gsLst>
            <a:lin ang="21593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476" name="Google Shape;476;p35"/>
          <p:cNvSpPr/>
          <p:nvPr/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rgbClr val="374C81">
                  <a:alpha val="0"/>
                </a:srgbClr>
              </a:gs>
              <a:gs pos="99000">
                <a:srgbClr val="000000">
                  <a:alpha val="40392"/>
                </a:srgbClr>
              </a:gs>
              <a:gs pos="100000">
                <a:srgbClr val="000000">
                  <a:alpha val="40392"/>
                </a:srgbClr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477" name="Google Shape;477;p35"/>
          <p:cNvSpPr/>
          <p:nvPr/>
        </p:nvSpPr>
        <p:spPr>
          <a:xfrm rot="-6325827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rgbClr val="4A66AC">
                  <a:alpha val="23529"/>
                </a:srgbClr>
              </a:gs>
              <a:gs pos="79000">
                <a:srgbClr val="8FA1CF">
                  <a:alpha val="0"/>
                </a:srgbClr>
              </a:gs>
              <a:gs pos="100000">
                <a:srgbClr val="8FA1CF">
                  <a:alpha val="0"/>
                </a:srgbClr>
              </a:gs>
            </a:gsLst>
            <a:lin ang="14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478" name="Google Shape;478;p35"/>
          <p:cNvSpPr txBox="1">
            <a:spLocks noGrp="1"/>
          </p:cNvSpPr>
          <p:nvPr>
            <p:ph type="title"/>
          </p:nvPr>
        </p:nvSpPr>
        <p:spPr>
          <a:xfrm>
            <a:off x="-1831940" y="268453"/>
            <a:ext cx="6596245" cy="3268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5400" dirty="0">
                <a:solidFill>
                  <a:srgbClr val="FFFFFF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THANK YOU</a:t>
            </a:r>
            <a:endParaRPr dirty="0"/>
          </a:p>
        </p:txBody>
      </p:sp>
      <p:sp>
        <p:nvSpPr>
          <p:cNvPr id="479" name="Google Shape;479;p35"/>
          <p:cNvSpPr/>
          <p:nvPr/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rgbClr val="374C81">
                  <a:alpha val="49411"/>
                </a:srgbClr>
              </a:gs>
              <a:gs pos="99000">
                <a:srgbClr val="000000">
                  <a:alpha val="33333"/>
                </a:srgbClr>
              </a:gs>
              <a:gs pos="100000">
                <a:srgbClr val="000000">
                  <a:alpha val="33333"/>
                </a:srgbClr>
              </a:gs>
            </a:gsLst>
            <a:lin ang="17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480" name="Google Shape;480;p35"/>
          <p:cNvSpPr/>
          <p:nvPr/>
        </p:nvSpPr>
        <p:spPr>
          <a:xfrm rot="-54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rgbClr val="374C81">
                  <a:alpha val="49411"/>
                </a:srgbClr>
              </a:gs>
              <a:gs pos="99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3DDC82-003B-21EF-BB24-C293500731CE}"/>
              </a:ext>
            </a:extLst>
          </p:cNvPr>
          <p:cNvSpPr txBox="1"/>
          <p:nvPr/>
        </p:nvSpPr>
        <p:spPr>
          <a:xfrm>
            <a:off x="6286655" y="1696110"/>
            <a:ext cx="1794509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900" dirty="0">
                <a:solidFill>
                  <a:schemeClr val="bg1"/>
                </a:solidFill>
                <a:latin typeface="Century Gothic" panose="020B0502020202020204" pitchFamily="34" charset="0"/>
              </a:rPr>
              <a:t>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lice">
  <a:themeElements>
    <a:clrScheme name="Slice">
      <a:dk1>
        <a:srgbClr val="000000"/>
      </a:dk1>
      <a:lt1>
        <a:srgbClr val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EEA7CBF-40A7-4C69-BA78-F7B7A696D340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2020</TotalTime>
  <Words>6269</Words>
  <Application>Microsoft Office PowerPoint</Application>
  <PresentationFormat>Widescreen</PresentationFormat>
  <Paragraphs>2149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Noto Sans Symbols</vt:lpstr>
      <vt:lpstr>Calibri</vt:lpstr>
      <vt:lpstr>Aptos</vt:lpstr>
      <vt:lpstr>Arial</vt:lpstr>
      <vt:lpstr>Inter</vt:lpstr>
      <vt:lpstr>Century Gothic</vt:lpstr>
      <vt:lpstr>Office Theme</vt:lpstr>
      <vt:lpstr>1_Office Theme</vt:lpstr>
      <vt:lpstr>Slice</vt:lpstr>
      <vt:lpstr>FINANCIAL STRATEGY</vt:lpstr>
      <vt:lpstr>What is it?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AOP</vt:lpstr>
      <vt:lpstr>AOP</vt:lpstr>
      <vt:lpstr>FINANCIAL MODEL</vt:lpstr>
      <vt:lpstr>MEET THE TEAM</vt:lpstr>
      <vt:lpstr>CONTACT INFO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Rami Zelikovich</dc:creator>
  <cp:lastModifiedBy>Raphael Haim</cp:lastModifiedBy>
  <cp:revision>45</cp:revision>
  <dcterms:created xsi:type="dcterms:W3CDTF">2023-12-29T15:38:34Z</dcterms:created>
  <dcterms:modified xsi:type="dcterms:W3CDTF">2026-01-18T19:48:52Z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