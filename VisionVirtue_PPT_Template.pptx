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Growth ($M ARR)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4.0</c:v>
                </c:pt>
                <c:pt idx="2">
                  <c:v>9.0</c:v>
                </c:pt>
                <c:pt idx="3">
                  <c:v>18.0</c:v>
                </c:pt>
                <c:pt idx="4">
                  <c:v>32.0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EBITDA Margin Expansion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(%)</c:v>
                </c:pt>
              </c:strCache>
            </c:strRef>
          </c:tx>
          <c:spPr>
            <a:ln>
              <a:solidFill>
                <a:srgbClr val="E7CC59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-17</c:v>
                </c:pt>
                <c:pt idx="1">
                  <c:v>-7</c:v>
                </c:pt>
                <c:pt idx="2">
                  <c:v>14</c:v>
                </c:pt>
                <c:pt idx="3">
                  <c:v>33</c:v>
                </c:pt>
                <c:pt idx="4">
                  <c:v>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Cash Balance vs. Burn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Ending Cash ($M)</c:v>
                </c:pt>
              </c:strCache>
            </c:strRef>
          </c:tx>
          <c:spPr>
            <a:ln>
              <a:solidFill>
                <a:srgbClr val="4CAF7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5.72</c:v>
                </c:pt>
                <c:pt idx="2">
                  <c:v>6.23</c:v>
                </c:pt>
                <c:pt idx="3">
                  <c:v>10.97</c:v>
                </c:pt>
                <c:pt idx="4">
                  <c:v>21.33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Burn ($M)</c:v>
                </c:pt>
              </c:strCache>
            </c:strRef>
          </c:tx>
          <c:spPr>
            <a:ln>
              <a:solidFill>
                <a:srgbClr val="E05B5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0.78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LTV vs. CAC ($K) — gap widens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LTV 3yr ($K)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129.6</c:v>
                </c:pt>
                <c:pt idx="1">
                  <c:v>145.8</c:v>
                </c:pt>
                <c:pt idx="2">
                  <c:v>162.0</c:v>
                </c:pt>
                <c:pt idx="3">
                  <c:v>180.0</c:v>
                </c:pt>
                <c:pt idx="4">
                  <c:v>201.6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CAC ($K)</c:v>
                </c:pt>
              </c:strCache>
            </c:strRef>
          </c:tx>
          <c:spPr>
            <a:solidFill>
              <a:srgbClr val="4A66AC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10.2</c:v>
                </c:pt>
                <c:pt idx="2">
                  <c:v>8.7</c:v>
                </c:pt>
                <c:pt idx="3">
                  <c:v>7.4</c:v>
                </c:pt>
                <c:pt idx="4">
                  <c:v>6.3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stage. Speak clearly: company name, industry, stage.</a:t>
            </a:r>
          </a:p>
          <a:p>
            <a:r>
              <a:t>Investor framing: 'We are building [X] for [ICP]. We have [traction]. We are asking for [amount] to achieve [milestone]. Let me show you the business.'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30-second pitch — but with numbers.</a:t>
            </a:r>
          </a:p>
          <a:p>
            <a:r>
              <a:t>Investor framing: '18 months in, 25 paying enterprise customers, $1.5M ARR growing 167% YoY. Let me explain why this market rewards the winner disproportionately.'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pain visceral. Quote a real CFO if possible.</a:t>
            </a:r>
          </a:p>
          <a:p>
            <a:r>
              <a:t>Investor framing: 'Every CFO describes the same Monday: their team spent the weekend reconciling data across 3 systems. That is $500K per company × 50,000 companies in our SAM. This problem is large, frequent, and funded.'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Show, don't tell. Reference the demo here.</a:t>
            </a:r>
          </a:p>
          <a:p>
            <a:r>
              <a:t>Investor framing: 'What took a CFO 8 days now takes 4 hours. Zero churn in the first 12 months of deployment. The product gets stickier over time — switching cost grows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Investors want predictability and margin expansion.</a:t>
            </a:r>
          </a:p>
          <a:p>
            <a:r>
              <a:t>Investor framing: 'We collect annual contracts upfront — structurally positive cash. Gross margins are 72% expanding to 84%. Every customer who stays becomes more valuable — NRR of 115% means our base compounds without additional CAC.'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insight about WHY NOW — not just market size.</a:t>
            </a:r>
          </a:p>
          <a:p>
            <a:r>
              <a:t>Investor framing: 'The $2.4B SAM we target grows at 18% CAGR. Legacy vendors cannot compete in an AI-native world — they face a rewrite. We need 5% penetration to build a venture-scale outcome. The winner in this category typically captures 30–40%.'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engine = proof the machine is repeatable.</a:t>
            </a:r>
          </a:p>
          <a:p>
            <a:r>
              <a:t>Investor framing: 'We close 3–5 logos per month at $12K CAC. With Series A capital, we add 6 AEs — each closing $720K ARR at ramp. The outbound motion is fully modeled. CAC compresses as brand builds. That drives LTV/CAC expansion every year.'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economics is where investors decide if the model is real.</a:t>
            </a:r>
          </a:p>
          <a:p>
            <a:r>
              <a:t>Investor framing: 'On a 3-year basis we return $10.80 for every $1 of CAC. Payback is 20 months. NRR of 115% means the installed base grows without spending another dollar — compounding capital efficiency. These numbers IMPROVE every year as enterprise mix increases and brand builds.'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structure shows investors you are capital-disciplined.</a:t>
            </a:r>
          </a:p>
          <a:p>
            <a:r>
              <a:t>Investor framing: 'R&amp;D and S&amp;M are the primary investments — both improve dramatically with scale. By Y5, 35% EBITDA margins exceed public SaaS comps at equivalent ARR. Rule of 40 is driven by growth in Y1–Y2, then by both growth AND profitability from Y3 onwards.'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understand your business at granular level.</a:t>
            </a:r>
          </a:p>
          <a:p>
            <a:r>
              <a:t>Investor framing: 'We can predict 90% of next year's revenue today. Every cohort shows expansion within 12 months. Add-on modules run at 87% GM — our best growth IS our highest-margin growth. That is a compounding flywheel that improves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investors through the unit-level math first, then the consolidated view.</a:t>
            </a:r>
          </a:p>
          <a:p>
            <a:r>
              <a:t>Investor framing: 'Gross margin expands from 72% to 84% — driven purely by infrastructure scale leverage. EBITDA turns positive in Year 3 on just $9M ARR. By Year 5 we are at 38% EBITDA margins at $32M ARR — that is a public-company comp profile. All assumptions labeled; we can stress any line item.'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 shows survivability and discipline.</a:t>
            </a:r>
          </a:p>
          <a:p>
            <a:r>
              <a:t>Investor framing: 'After the Series A, we have 73 months of runway at peak Y2 burn of $65K/month. We reach operational cash flow positive in Y3 without additional capital. The $5M raise is the last dilutive event before an IPO or Series B at significantly higher valuation.'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 dashboard — every number benchmarked against VC standards.</a:t>
            </a:r>
          </a:p>
          <a:p>
            <a:r>
              <a:t>Investor framing: 'Every metric on this page is tracked weekly at exec level. Burn multiple of 0.22× is best-in-class — we generate $4.50 of new ARR per $1 of burn. Rule of 40 of 160 in Year 1 is driven entirely by growth. By Year 3 it is driven by both growth AND EBITDA.'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charts — all derived from the same P&amp;L model on slide 11.</a:t>
            </a:r>
          </a:p>
          <a:p>
            <a:r>
              <a:t>Chart 1: Revenue CAGR = 115% over 5 years.</a:t>
            </a:r>
          </a:p>
          <a:p>
            <a:r>
              <a:t>Chart 2: EBITDA margin inflects positive in Y3 and expands to 38%.</a:t>
            </a:r>
          </a:p>
          <a:p>
            <a:r>
              <a:t>Chart 3: Cash never drops below $1.5M — runway always &gt; 24 months.</a:t>
            </a:r>
          </a:p>
          <a:p>
            <a:r>
              <a:t>Chart 4: LTV/CAC gap widens every year as CAC compresses and ARPU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analysis shows range of outcomes and sensitivity.</a:t>
            </a:r>
          </a:p>
          <a:p>
            <a:r>
              <a:t>Investor framing: 'Even in the downside case we reach $4.5M ARR — that is 3× growth on current ARR. The downside is not existential; it is a valuation question. The upside is transformational. We are building for the base case and planning for the downside.'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amount, use of funds, and milestones. No vagueness.</a:t>
            </a:r>
          </a:p>
          <a:p>
            <a:r>
              <a:t>Investor framing: 'We are raising $5M. $2M goes directly to sales — that funds 6 AEs who each close $720K ARR. The math is straightforward: $2M in sales investment generates $4.3M in incremental ARR. Series B will be at $8–10M ARR. This is the last dilutive event before that.'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Scaling strategy = the flywheel story.</a:t>
            </a:r>
          </a:p>
          <a:p>
            <a:r>
              <a:t>Investor framing: 'Three things compound simultaneously: more AEs close more deals; inbound reduces what those deals cost to acquire; existing customers expand and raise NRR above 115%. By Y3, the CAC payback on new logos is partially funded by expansion revenue from existing 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have identified risks AND have mitigation plans.</a:t>
            </a:r>
          </a:p>
          <a:p>
            <a:r>
              <a:t>Investor framing: 'We know the risks. The financial risks are manageable with milestone-gated spending. The market risks are real but our product-level switching costs and ROI defensibility protect us even in a downturn. We have never lost a customer to a competitor.'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conviction. The last thing they remember is what matters.</a:t>
            </a:r>
          </a:p>
          <a:p>
            <a:r>
              <a:t>Investor framing: 'Four statements. Large problem — validated. Differentiated product — proven. Unit economics — exceptional. Team — right to win. We are asking for $5M to build the market standard. The question is not whether this market will be won — it is whether you want to be part of who wins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internal prep only — never show to investors.</a:t>
            </a:r>
          </a:p>
          <a:p>
            <a:r>
              <a:t>Drill every objection until the answer is automatic. The investor who asks objection #3 is not trying to kill the deal — they are testing whether you know your own business. Confidence + specificity = credibility. Hedging =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0" b="1" i="0">
                <a:solidFill>
                  <a:srgbClr val="2C3160"/>
                </a:solidFill>
                <a:latin typeface="Calibri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46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7CC59"/>
                </a:solidFill>
                <a:latin typeface="Calibri"/>
              </a:rPr>
              <a:t>[COMPANY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128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FA1CF"/>
                </a:solidFill>
                <a:latin typeface="Calibri"/>
              </a:rPr>
              <a:t>[INDUSTRY]  ·  [STAGE]  ·  [GEOGRAPHY]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33472"/>
            <a:ext cx="54864" cy="7315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Financial Strategy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3580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Investor Presentation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5029200" cy="36576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92AA"/>
                </a:solidFill>
                <a:latin typeface="Calibri"/>
              </a:rPr>
              <a:t>[DATE]  ·  STRICTLY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1363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92AA"/>
                </a:solidFill>
                <a:latin typeface="Calibri"/>
              </a:rPr>
              <a:t>Prepared for: [INVESTOR / BOARD MEMBER]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What we do · Why it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[COMPANY NAME] is a B2B SaaS platform that automates [core workflow] for [ICP].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B2B SaaS · Enterprise &amp; Mid-Market · North America + EMEA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Founded [YEAR] · [CITY] HQ · 18 FTE across Product, Engineering, Sales, CS.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Core product: AI-native workflow automation with 30+ ERP/CRM integrations.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Flagship module + 2 premium add-ons; 80% ARR / 20% services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Target customers: CFOs, VPs Finance, Ops leaders at $50M–$500M revenue companies.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model: Annual recurring subscriptions (ARR) — billed upfront.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No dominant SaaS player owns this category — we are building the standard.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Seed-stage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Early enterprise logos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ARPU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Blended mid-market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Gross 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Year 1 → 84% by Year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Team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18 FTE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Post-onboarding survey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Painful · Expensive · Unsolved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[ICP] loses ~$500K per year from [specific process inefficiency].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Based on primary research with 40 CFOs; avg. 120 hrs wasted/mo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Current solutions are broken — three failure modes: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Legacy ERP: 6-month implementations, $200K+ professional services fees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Spreadsheets: 8–12% error rate, no audit trail, breaks at 5+ users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Point solutions: 3–5 disconnected tools — zero single source of truth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High-frequency pain: affects every monthly and quarterly close cycle.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50,000+ mid-market companies in the US + EMEA face this exact problem.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No vendor has &gt;15% market share in this sub-segment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CFOs are budgeted to solve this — willingness to pay is validated.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Annual Cost / 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$500K+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Inefficiency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Hours Wasted / 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120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Finance team average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Error Rate (Manual)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8–12%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Industry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Avg. Time-to-Close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8.2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vs. 1.5 days best-in-class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Cos. Affected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50,000+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US + EMEA mid-market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Willingness to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Validated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87% surveyed CFOs [Assumption]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Purpose-built · Differentiated · Defensible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[PRODUCT NAME]: the AI-native [category] platform for [ICP].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How it works (3-step workflow):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1] Connect: 30+ native integrations → ERP, CRM, BI in &lt; 1 day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2] Automate: AI layer processes &amp; reconciles data continuously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3] Decide: Live dashboard, anomaly alerts, one-click reporting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Key differentiators vs. alternatives: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10× faster implementation: days, not months — zero professional services needed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AI-native: reduces manual work by 80% — validated in pilot cohort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Switching costs compound: data model becomes richer over time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Compliance: SOC2 Type II · GDPR · [HIPAA if applicable].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Moat: proprietary data model + deep integrations + network effects.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&lt;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vs. 6 months (incumbent)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Manual Work Cut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Validated in customer pilots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Post-onboarding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Integrations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ERP · CRM · BI connectors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Data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99.7%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vs. 88–92% manual [Assumption]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SOC2 T2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Achieved / in progress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Predictable · Recurring · High-margin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Primary revenue: Annual SaaS subscriptions — 3 tiers: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1 – Starter:    $24K/yr  · up to 5 users · core module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2 – Growth:     $60K/yr  · up to 20 users · full platform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3 – Enterprise: $120K+/yr · unlimited · custom SLAs + API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Secondary revenue: Professional services — declining as % of revenue.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~20% of ARR in Y1 → 8% by Y5 as product self-serves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Expansion motion: Land 1 module → expand to 3–4 over 18 months.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Revenue Retention (NRR) target: 115% by Y3 — installed base grows itself.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upfront billing → structurally positive cash dynamics.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 (AWS) + CS team + integrations. Scales sub-linearly.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ARPU (Blended)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Weighted avg of 3 tiers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72%→84%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 → Y5 expansion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NRR Target (Y3)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Contract Length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12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Annual, auto-renewing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Services % 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20%→8%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Declining as product matures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Annual upfront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Positive cash flow dynamics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Large · Underserved · Shifting to SaaS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TAM — Total Addressable Market: $12B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All companies globally needing finance workflow automation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Gartner / IDC SaaS finance market sizing, 18% CAGR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SAM — Serviceable Addressable Market: $2.4B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40,000 mid-market companies ($50M–$1B rev) · US + EMEA × $60K ARPU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SOM — Serviceable Obtainable Market (5-year target): $120M ARR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2,000 customers × $60K ARPU = $120M — 5% SAM capture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Market tailwinds accelerate urgency: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CFO tech stack undergoing generational shift away from legacy ERP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 workflows — incumbents cannot rebuild without a rewrite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Regulatory pressure (ESG reporting, audit requirements) driving demand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Winner-take-most dynamics: integrations + data network effects favor first mover.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Global addressable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US + EMEA mid-market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SOM (5-Year)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$120M ARR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5% SAM capture — conservative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Market CAGR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Industry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Avg. Deal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Blended ARPU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Y5 Penetration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5% of SAM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Sequoia benchmark: 1–10%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Revenue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Efficient · Repeatable · Accelerating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GTM: Outbound sales + content-led inbound + partner channel.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40% of pipeline from inbound by Y3 — CAC compression driver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motion: SDR → AE model.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Avg. sales cycle: 45 days SMB / 90 days Enterprise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1 AE closes $720K ARR/year at full ramp (6-month ramp)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capacity: 2 AEs now → 8 AEs by Y3 (fueled by Series A capital).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(sales + marketing + onboarding cost).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Improves 15–20%/year as brand and inbound mature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Channel: Implementation partners contribute 15% new logos by Y3.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Dollar Retention: 115% — expansion revenue covers churn with room to spare.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Pre-Series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Monthly run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YoY ARR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+167%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Y1→Y2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CAC (Fully-Loaded)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Sales+Mktg+Onboard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New Logos / 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3–5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Current run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Sales 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60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Avg. blended (SMB + Enterprise)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Every dollar acquired returns multiples — and improves over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LTV (3-year conservative cap): ARPU × Gross Margin × 3 years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$60,000 × 72% × 3 = $129,600 LTV per customer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— LTV/CAC = 10.8× (lifetime basis)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VC-standard 3-year LTV/CAC = $129,600 / $12,000 = 10.8× — well above 3× benchmark.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 Payback Period: 20 months — healthy for mid-market enterprise SaaS.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Industry benchmark: 12–24 months for equivalent segment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churn: 6% (logo) — improves to 4% by Y3 as product matures.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NRR 115%: net expansion revenue fully offsets any churn — base compounds.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Unit economics improve every year: ARPU grows as enterprise mix increases.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Rule of 40: Growth (167%) + EBITDA (–23%) = 144 in Y1 — exceptional.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LTV (3-Yr Cap)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ARPU × GM% ×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CAC (Fully-Loaded)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Sales + Marketing + Onboarding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LTV / 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10.8×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VC benchmark ≥ 3× 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CAC Payback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Target &lt; 24 months 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Annual Churn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Y1 → Y3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Y3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Disciplined spend · EBITDA margin expanding with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infrastructure (AWS) + Customer Success team + integration maintenance.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COGS declines from 28% to 16% of revenue — infra scales sub-linearly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R&amp;D: engineering + product. Peaks at 35% Y1 — normalises to 16% at scale.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6 engineers Y1 → 18 engineers Y3 — headcount drives the step-down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&amp; Marketing: largest variable cost. Highest in Y2 (growth investment year).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S&amp;M peaks at 42% Y2 → declines to 25% as brand and inbound mature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G&amp;A: target &lt; 10% of revenue throughout — lean ops design.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Path to profitability: EBITDA breakeven in Y3; 35% margin by Y5.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Capital efficiency: $1 of EBITDA generated per $4 of revenue by Y4.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[Assumption] Rule of 40 ≥ 40 from Y1 onwards (growth-driven)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COGS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28% → 16%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 → 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R&amp;D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35% → 16%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 → Y5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S&amp;M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38% →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 → Y5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G&amp;A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15% →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Y1 → Y5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EBITDA Margin 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First profitable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EBITDA Margin Y5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Public SaaS comp-level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Financial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We know exactly where every dollar comes from — and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90% of next 12 months' revenue is contracted ARR — visible today.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Annual contracts with auto-renewal + 30-day cancellation clause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by product line (margin analysis):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Core platform: 78% GM — primary revenue driver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Add-on modules: 87% GM — near-100% incremental margin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Professional services: 22% GM — strategic, declining mix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Customer cohort profitability: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Y1 cohort reaches unit profit in month 20 on average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+15% expansion revenue visible by month 12 per cohort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Financial controls: monthly close, CFO-level review, zero material restatements.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budget vs. actual variance &lt; 8% — financial discipline demonstrated.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Contracted ARR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Of next 12mo revenue visible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Logo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Y2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Core Platform GM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Blended COGS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Add-on GM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Near-100% incremental margin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Payback (Cohort)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Month 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Per-customer avg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Budget 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&lt; 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Demonstrated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Profit &amp;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Figures in $M · All forward-looking — labeled [Assumption] throughout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3951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$9.0M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$18.0M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$32.0M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YoY Growth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+167%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+125%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+100%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+78%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COGS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($0.42M)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($1.00M)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($1.89M)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($3.24M)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Gross Profit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$1.08M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$3.00M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$7.11M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$14.76M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$26.88M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Gross Margin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R&amp;D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($0.53M)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($1.12M)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($1.98M)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($2.88M)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($0.57M)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($3.15M)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($5.04M)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($8.00M)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G&amp;A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($0.23M)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($0.72M)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($0.90M)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395157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EBITDA Margin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(17%)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(7%)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Cash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Figures in $M · Includes $5M Series A raised at start of Year 2 · [Assumption]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F1125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Working Capital Chg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($0.60M)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($0.15M)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($0.30M)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($0.80M)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($1.20M)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Operating Cash Flow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($0.78M)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Financing (Raise)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+$5.00M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+$4.22M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Beginning Cash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$2.00M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Ending Cash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$21.33M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Monthly Burn Rate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$41.7K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$65.0K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1E2248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Runway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36 mo.*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73 mo.**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A1E4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1447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92AA"/>
                </a:solidFill>
                <a:latin typeface="Calibri"/>
              </a:rPr>
              <a:t>* Assumes $2M seed at start. ** After $5M Series A deployed at start of Y2.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KPI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North Star metrics — tracked weekly at executive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869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8869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Target Y2: $4M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8869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8869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Monthly run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8869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41080" y="8869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[Assumption]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4871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Fully-loaded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24871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24871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LTV (3yr)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LTV/CAC = 10.8×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24871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41080" y="24871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 Payback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Target &lt; 24 mo.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0873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0873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Annual Churn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Y1 → Y3 target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40873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26280" y="40873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Gross Margin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72% → 84%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Y1 → Y5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41080" y="4087368"/>
            <a:ext cx="3703320" cy="14630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41080" y="4087368"/>
            <a:ext cx="370332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NRR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[Assumption] Y3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623560"/>
            <a:ext cx="5486400" cy="10058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5623560"/>
            <a:ext cx="548640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Burn Multiple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0.22×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Net new ARR / Net burn — VC benchmark &lt; 1× in Y2 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623560"/>
            <a:ext cx="5486400" cy="10058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5623560"/>
            <a:ext cx="5486400" cy="2286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Rule of 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160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972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92AA"/>
                </a:solidFill>
                <a:latin typeface="Calibri"/>
              </a:rPr>
              <a:t>Y1: Growth 167% + EBITDA –7% = 160  (benchmark ≥ 40) 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Visual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Five-year trends — all data points consistent with P&amp;L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896112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63640" y="896112"/>
          <a:ext cx="557784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3730752"/>
          <a:ext cx="5486400" cy="2606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3730752"/>
          <a:ext cx="5577840" cy="26060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Base · Upside · Downside — Y3 ARR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3749039" cy="274320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125"/>
                </a:solidFill>
                <a:latin typeface="Calibri"/>
              </a:rPr>
              <a:t>UPSIDE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61288"/>
            <a:ext cx="3749039" cy="507492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ARR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$14M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+28%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5292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Blended CAC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$9K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1304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Annual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Market expands faster. Enterprise mix increases to 60% by Y3. NRR reaches 125%. CAC compresses faster via strong inbound. Triggers early Series B at 10× ARR.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886968"/>
            <a:ext cx="3749039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125"/>
                </a:solidFill>
                <a:latin typeface="Calibri"/>
              </a:rPr>
              <a:t>BASE CASE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1161288"/>
            <a:ext cx="3749039" cy="507492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$9M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89280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EBITDA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285292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Blended 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$12K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381304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Annual Churn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5.0%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Model assumptions throughout this deck. Outbound GTM + moderate inbound. Enterprise mix at 40% by Y3. Series B optionality from Y3 onwards.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19" y="886968"/>
            <a:ext cx="3749039" cy="274320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5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125"/>
                </a:solidFill>
                <a:latin typeface="Calibri"/>
              </a:rPr>
              <a:t>DOWNSIDE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1161288"/>
            <a:ext cx="3749039" cy="507492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ARR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$4.5M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189280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Y3 EBITDA Margin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(8%)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285292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Blended CAC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$16K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3813048"/>
            <a:ext cx="34747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FA1CF"/>
                </a:solidFill>
                <a:latin typeface="Calibri"/>
              </a:rPr>
              <a:t>Annual Churn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9.0%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Sales cycle elongation. Enterprise deals slip 2 quarters. Inbound slower to build. Requires 6-month extension of runway. Capital raise needed at lower valuation in Y3.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Capital 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$5M Series A — the last dilutive event before Series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Raising $5M Series A to fuel the next 24 months of growth.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Pre-money valuation: $20M (13× ARR — market comp for stage)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Use of funds (prioritised):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1] Sales &amp; Marketing: $2.0M (40%) — add 6 AEs + demand gen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2] R&amp;D / Engineering: $1.5M (30%) — product velocity, AI layer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3] Customer Success:  $0.8M (16%) — onboarding, retention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4] G&amp;A / Ops:        $0.7M (14%) — finance, legal, compliance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18-month milestones this capital unlocks: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1] Reach $4M ARR — 167% YoY growth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2] Reduce CAC to $9K via inbound — 25% efficiency gain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3] Achieve SOC2 T2 + 2 enterprise lighthouse logos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4] Launch enterprise tier — ARPU expansion to $80K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Series B triggers: $8–10M ARR + NRR &gt; 115% + EBITDA near-breakeven.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Raise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Pre-Money Val.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13× ARR comp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Post-Money Val.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Runway Post-Raise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73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At peak Y2 burn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Target ARR (Y2)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$4M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+167% YoY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Series B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$8–10M ARR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NRR &gt; 115%, near EBITDA B/E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Scaling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How growth becomes exponentially more efficient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Three scaling levers — each compounding the others: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1: Sales Capacity Scale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2 AEs now → 8 AEs by Y3 (Series A capital)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AE ramp model: $720K ARR quota at full ramp (month 7+)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SDR-to-AE ratio: 1:2 → maintained through scale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2: CAC Compression via Inbound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Content + SEO + LinkedIn: 15% of leads now → 40% by Y3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Inbound leads cost 4× less than outbound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CAC improves from $12K → $7K by Y5 — 42% reduction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3: NRR Engine (Land &amp; Expand)</a:t>
            </a:r>
          </a:p>
          <a:p>
            <a:pPr algn="l"/>
            <a:r>
              <a:rPr sz="4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Module 1 → Modules 2+3 expansion path: 15% revenue uplift per cohort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Enterprise tier adds $60K+ incremental ARPU to existing accounts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NRR of 115%+ means ARR grows even with zero new logos</a:t>
            </a:r>
          </a:p>
          <a:p>
            <a:pPr algn="l"/>
            <a:r>
              <a:rPr sz="300" b="0">
                <a:solidFill>
                  <a:srgbClr val="242852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AEs Y1 → 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 →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Funded by 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ARR / AE (Quota)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$720K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[Assumption] At full ramp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Inbound % Y3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vs. 15%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CAC Y5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$7,000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from $12,000 today (–42%)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NRR 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Y3 onward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F11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FA1CF"/>
                </a:solidFill>
                <a:latin typeface="Calibri"/>
              </a:rPr>
              <a:t>Incremental ARPU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+$20K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2AA"/>
                </a:solidFill>
                <a:latin typeface="Calibri"/>
              </a:rPr>
              <a:t>Per account (module expansion)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Identified · Quantified · Mitigated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5715000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F1125"/>
                </a:solidFill>
                <a:latin typeface="Calibri"/>
              </a:rPr>
              <a:t>FINANCIAL RISKS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01168" cy="1572768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Burn overrun if S&amp;M ramp is slower than modelled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5B"/>
                </a:solidFill>
                <a:latin typeface="Calibri"/>
              </a:rPr>
              <a:t>Severity: 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Milestone-gate capital deployment; extend runway by deferring hires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CAC higher than $12K if outbound yield drops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Inbound investment in Y1–Y2 hedges against outbound CAC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1772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7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ARPU below $60K if enterprise mix 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SMB tier provides revenue floor; enterprise motion accelerates from Y2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886968"/>
            <a:ext cx="5715000" cy="27432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F1125"/>
                </a:solidFill>
                <a:latin typeface="Calibri"/>
              </a:rPr>
              <a:t>MARKET RISKS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59" y="123444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59" y="1234440"/>
            <a:ext cx="201168" cy="1572768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Incumbent response: SAP/Oracle launches competing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CAF7A"/>
                </a:solidFill>
                <a:latin typeface="Calibri"/>
              </a:rPr>
              <a:t>Severity: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18-month AI-native lead; integration depth creates switching costs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292608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Market contraction / CFO budget freeze in recession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ROI-positive product — saves $500K/yr; defensible even in downturns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4617720"/>
            <a:ext cx="5715000" cy="1572768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59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Competitor raises large round and undercuts on price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Compete on product velocity and customer outcomes, not price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This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The case — in four statements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242316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problem is large, frequent, and funded.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$500K annual cost per company × 50,000 companies in SAM = $25B total problem. CFOs have budget. They are actively evaluating solutions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7" y="960120"/>
            <a:ext cx="5669280" cy="242316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81927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2007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product is differentiated and defensible.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10× faster implementation, 80% manual work reduction, 30+ integrations. Switching costs compound every quarter. No competitor has rebuilt for AI-native.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66160"/>
            <a:ext cx="5669280" cy="242316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unit economics are exceptional and improving.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LTV/CAC of 10.8×. CAC payback of 20 months. NRR of 115%. Every metric improves each year. The model GETS BETTER with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566160"/>
            <a:ext cx="5669280" cy="242316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81927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22007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team has the right to win this market.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7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[Founder 1]: [10+ years in this domain / previous exit / deep ICP relationships]. [Founder 2]: [Technical background / previously built at scale / prior AI experience].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17920"/>
            <a:ext cx="11548872" cy="45720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24535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1125"/>
                </a:solidFill>
                <a:latin typeface="Calibri"/>
              </a:rPr>
              <a:t>The ask: $5M Series A  ·  $20M pre-money  ·  Next step: [Schedule partner meeting / data room access]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VC Critique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FA1CF"/>
                </a:solidFill>
                <a:latin typeface="Calibri"/>
              </a:rPr>
              <a:t>The 5 objections every investor will raise — and how to answer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11548872" cy="256032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5B5B"/>
                </a:solidFill>
                <a:latin typeface="Calibri"/>
              </a:rPr>
              <a:t>MANDATORY PRE-PITCH PREPARATION — Know these cold before entering any partner meeting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48872" cy="10058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01  Why won't SAP/Oracle just build this?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They have tried — and failed — to rebuild for AI-native workflows for 10 years. Their architecture is on-premise legacy; ours is cloud-native from day one. By the time they move, we will have 2,000+ customers with deep switching costs. Answer with: "They are our best salespeople — every prospect frustrated with SAP is ours."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13716" cy="77724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11548872" cy="1005840"/>
          </a:xfrm>
          <a:prstGeom prst="rect">
            <a:avLst/>
          </a:prstGeom>
          <a:solidFill>
            <a:srgbClr val="1E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865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02  Your CAC payback is 20 months — that's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59152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Mid-market enterprise SaaS benchmark is 12–24 months. We are within range. More importantly: NRR of 115% means month-20 payback is understated — expansion revenue from the same customer arrives at month 12. Real blended payback including expansion is ~14 months. Show the cohort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404872"/>
            <a:ext cx="13716" cy="77724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392424"/>
            <a:ext cx="11548872" cy="10058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6557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03  $1.5M ARR is thin. Why should we believe the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438144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Early revenue is high-quality: 94% logo retention, 115% NRR, zero design-partner churn. The 25 customers represent the ICP perfectly. We have a signed LOI pipeline of $800K ARR — that is not in the model. Weakness to acknowledge: sample size is small. Strengthen with 3 reference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483864"/>
            <a:ext cx="13716" cy="77724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71416"/>
            <a:ext cx="11548872" cy="1005840"/>
          </a:xfrm>
          <a:prstGeom prst="rect">
            <a:avLst/>
          </a:prstGeom>
          <a:solidFill>
            <a:srgbClr val="1E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04  What stops a better-funded competitor from outspending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17136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CAC efficiency advantage: our inbound + outbound blend is 2× more efficient than pure outbound. We close deals on product merit — 60-day sales cycle. Switching costs compound. A customer 12 months in has their entire workflow in us. Weakness: we need 2–3 enterprise lighthouse logos to anchor brand defensibility.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562856"/>
            <a:ext cx="13716" cy="77724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5550408"/>
            <a:ext cx="11548872" cy="1005840"/>
          </a:xfrm>
          <a:prstGeom prst="rect">
            <a:avLst/>
          </a:prstGeom>
          <a:solidFill>
            <a:srgbClr val="1A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05  What must improve before you can raise this round?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596128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[1] Expand to 35–40 customers before closing — proves repeatability. [2] Reduce Y2 burn assumption from $65K/mo to $55K/mo — tighten the model. [3] Get one F500 or recognisable enterprise logo as reference customer. [4] Nail the 30-second pitch: problem → solution → traction → ask. No hedging.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5641848"/>
            <a:ext cx="13716" cy="77724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8892AA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8892AA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