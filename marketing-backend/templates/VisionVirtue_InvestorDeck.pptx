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68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75565" y="0"/>
            <a:ext cx="8412435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F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914400" y="914400"/>
            <a:ext cx="638026" cy="638026"/>
          </a:xfrm>
          <a:prstGeom prst="roundRect">
            <a:avLst>
              <a:gd name="adj" fmla="val 8957"/>
            </a:avLst>
          </a:prstGeom>
          <a:ln w="14288">
            <a:solidFill>
              <a:srgbClr val="FFFFFF">
                <a:alpha val="3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59272" y="1104826"/>
            <a:ext cx="62448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kern="0" spc="3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{{COMPANY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050578" y="1219126"/>
            <a:ext cx="44164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kern="0" spc="3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LOGO}}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742852" y="1111969"/>
            <a:ext cx="215480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{{COMPANY_NAME}}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3406564"/>
            <a:ext cx="844521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B · INVESTOR MEMORANDUM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399" y="3963777"/>
            <a:ext cx="9276523" cy="10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100" b="1" kern="0" spc="-243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{{COMPANY_NAME}}</a:t>
            </a:r>
            <a:endParaRPr lang="en-US" sz="8100" dirty="0"/>
          </a:p>
        </p:txBody>
      </p:sp>
      <p:sp>
        <p:nvSpPr>
          <p:cNvPr id="10" name="Shape 7"/>
          <p:cNvSpPr/>
          <p:nvPr/>
        </p:nvSpPr>
        <p:spPr>
          <a:xfrm>
            <a:off x="914400" y="5255902"/>
            <a:ext cx="685800" cy="18976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5579604"/>
            <a:ext cx="7063740" cy="440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00" i="1" dirty="0">
                <a:solidFill>
                  <a:srgbClr val="FFFFFF">
                    <a:alpha val="82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{{COMPANY_TAGLINE}}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14400" y="6362514"/>
            <a:ext cx="6082588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dirty="0">
                <a:solidFill>
                  <a:srgbClr val="FFFFFF">
                    <a:alpha val="6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{{ONE_LINE_DESCRIPTION}} — a single sentence describing what the company does, the wedge, and the moment.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914400" y="8901113"/>
            <a:ext cx="380802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IN PARTNERSHIP WITH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914400" y="9162976"/>
            <a:ext cx="217512" cy="2477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5B8DE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170012" y="9181951"/>
            <a:ext cx="9525" cy="1714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93688" y="9196239"/>
            <a:ext cx="14904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FFFFFF">
                    <a:alpha val="78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2860179" y="9196239"/>
            <a:ext cx="18275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6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Financial Strategy Advisors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267348C-0D5F-5AEE-1632-1C56F9077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720" y="0"/>
            <a:ext cx="8626230" cy="1028699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724635" y="9190658"/>
            <a:ext cx="7251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975" kern="0" spc="5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6240795" y="8908033"/>
            <a:ext cx="1132805" cy="216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825" b="1" kern="0" spc="182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720170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INVESTMENT HIGHLIGHTS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7201704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round, why now.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348496" y="2149599"/>
            <a:ext cx="202510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125" kern="0" spc="4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B · {{ROUND_SIZE}} Lead: {{LEAD_INVESTOR}}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914400" y="3444850"/>
            <a:ext cx="3943350" cy="3914552"/>
          </a:xfrm>
          <a:prstGeom prst="roundRect">
            <a:avLst>
              <a:gd name="adj" fmla="val 1947"/>
            </a:avLst>
          </a:prstGeom>
          <a:solidFill>
            <a:srgbClr val="0D1830"/>
          </a:solidFill>
          <a:ln w="14288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3413" y="3802038"/>
            <a:ext cx="3404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233413" y="4116363"/>
            <a:ext cx="3404484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{{TRACTION_MULTIPLE}}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233413" y="6025083"/>
            <a:ext cx="3404484" cy="272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{{TRACTION_DESC}}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5086350" y="3444850"/>
            <a:ext cx="3943350" cy="3914552"/>
          </a:xfrm>
          <a:prstGeom prst="roundRect">
            <a:avLst>
              <a:gd name="adj" fmla="val 1947"/>
            </a:avLst>
          </a:prstGeom>
          <a:solidFill>
            <a:srgbClr val="0D1830"/>
          </a:solidFill>
          <a:ln w="14288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05363" y="3802038"/>
            <a:ext cx="3404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405363" y="4116363"/>
            <a:ext cx="3404484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{{MARKET_SIZE}}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405363" y="5445993"/>
            <a:ext cx="3404484" cy="272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{{MARKET_DESC}}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9258300" y="3444850"/>
            <a:ext cx="3943350" cy="3914552"/>
          </a:xfrm>
          <a:prstGeom prst="roundRect">
            <a:avLst>
              <a:gd name="adj" fmla="val 1947"/>
            </a:avLst>
          </a:prstGeom>
          <a:solidFill>
            <a:srgbClr val="0D1830"/>
          </a:solidFill>
          <a:ln w="14288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77313" y="3802038"/>
            <a:ext cx="3404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577313" y="4116363"/>
            <a:ext cx="3404484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{{UNIT_ECON_MULTIPLE}}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577313" y="6025083"/>
            <a:ext cx="3404484" cy="272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{{UNIT_ECON_DESC}}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3430250" y="3444850"/>
            <a:ext cx="3943350" cy="3914552"/>
          </a:xfrm>
          <a:prstGeom prst="roundRect">
            <a:avLst>
              <a:gd name="adj" fmla="val 1947"/>
            </a:avLst>
          </a:prstGeom>
          <a:solidFill>
            <a:srgbClr val="112045"/>
          </a:solidFill>
          <a:ln w="14288">
            <a:solidFill>
              <a:srgbClr val="C9A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49263" y="3802038"/>
            <a:ext cx="3404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3749263" y="4116363"/>
            <a:ext cx="3404484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{{ASK_AMOUNT}}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3749263" y="5445993"/>
            <a:ext cx="3404484" cy="272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{{ASK_DESC}}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20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COMPANY OVERVIEW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2753822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{{COMPANY_NAME}} at a glance.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368725"/>
            <a:ext cx="7652385" cy="1012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{{COMPANY_SUMMARY}} — two to three sentences describing what the company does, who it serves, and why it exists. The voice should be confident, declarative, and free of jargon.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4647902"/>
            <a:ext cx="7063740" cy="369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C9A9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“{{COMPANY_MISSION_QUOTE}}”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14943" y="3368725"/>
            <a:ext cx="6758434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14943" y="4496991"/>
            <a:ext cx="3214911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815566" y="3383012"/>
            <a:ext cx="14288" cy="112826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14943" y="3649563"/>
            <a:ext cx="302209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614943" y="3873252"/>
            <a:ext cx="302209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{{FOUNDED_YEAR}}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829854" y="4496991"/>
            <a:ext cx="354352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096405" y="3649563"/>
            <a:ext cx="337528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HEADQUARTERS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4096405" y="3873252"/>
            <a:ext cx="33752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{{HEADQUARTERS}}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614943" y="5625257"/>
            <a:ext cx="3214911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815566" y="4511278"/>
            <a:ext cx="14288" cy="112826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614943" y="4777829"/>
            <a:ext cx="302209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0614943" y="5001518"/>
            <a:ext cx="302209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{{TEAM_SIZE}}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3829854" y="5625257"/>
            <a:ext cx="354352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096405" y="4777829"/>
            <a:ext cx="337528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4096405" y="5001518"/>
            <a:ext cx="33752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Series B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3815566" y="5639544"/>
            <a:ext cx="14288" cy="847427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614943" y="5906095"/>
            <a:ext cx="302209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RAISED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0614943" y="6129784"/>
            <a:ext cx="302209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{{TOTAL_RAISED}}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096405" y="5906095"/>
            <a:ext cx="337528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4096405" y="6129784"/>
            <a:ext cx="33752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{{CUSTOMER_COUNT}}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20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THE PROBLEM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4716125" cy="81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0" b="1" kern="0" spc="-18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{{PROBLEM_HEADLINE}}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914400" y="3581921"/>
            <a:ext cx="5283250" cy="14288"/>
          </a:xfrm>
          <a:prstGeom prst="rect">
            <a:avLst/>
          </a:prstGeom>
          <a:solidFill>
            <a:srgbClr val="5B8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900934"/>
            <a:ext cx="5441747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b="1" kern="0" spc="-252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{{STAT_01}}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4932536"/>
            <a:ext cx="372800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{{STAT_01_LABEL}} — describe the pain in one sentence.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502375" y="3581921"/>
            <a:ext cx="5283250" cy="14288"/>
          </a:xfrm>
          <a:prstGeom prst="rect">
            <a:avLst/>
          </a:prstGeom>
          <a:solidFill>
            <a:srgbClr val="5B8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2375" y="3900934"/>
            <a:ext cx="5441747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b="1" kern="0" spc="-252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{{STAT_02}}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502375" y="4932536"/>
            <a:ext cx="372800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{{STAT_02_LABEL}} — make it specific and quantified.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2090350" y="3581921"/>
            <a:ext cx="5283250" cy="14288"/>
          </a:xfrm>
          <a:prstGeom prst="rect">
            <a:avLst/>
          </a:prstGeom>
          <a:solidFill>
            <a:srgbClr val="5B8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90350" y="3900934"/>
            <a:ext cx="5441747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b="1" kern="0" spc="-252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{{STAT_03}}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2090350" y="4932536"/>
            <a:ext cx="372800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{{STAT_03_LABEL}} — close the loop on cost or urgency.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14400" y="6084912"/>
            <a:ext cx="14288" cy="400050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3488" y="6084912"/>
            <a:ext cx="127633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FFFFF">
                    <a:alpha val="72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{{PROBLEM_QUOTE}} — a customer or industry quote that crystallises the pain.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20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THE SOLUTION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737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{{SOLUTION_HEADLINE}}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428107"/>
            <a:ext cx="2630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C9A9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72704" y="3516288"/>
            <a:ext cx="7116514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747120"/>
            <a:ext cx="7699063" cy="358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{{PILLAR_01_TITLE}}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162351"/>
            <a:ext cx="7699063" cy="288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{{PILLAR_01_DESC}} — the first pillar of how the product works.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14400" y="4793903"/>
            <a:ext cx="2630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C9A9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72704" y="4882083"/>
            <a:ext cx="7116514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5112916"/>
            <a:ext cx="7699063" cy="358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{{PILLAR_02_TITLE}}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5528146"/>
            <a:ext cx="7699063" cy="288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{{PILLAR_02_DESC}} — second pillar.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14400" y="6159698"/>
            <a:ext cx="2630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C9A9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72704" y="6247879"/>
            <a:ext cx="7116514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6478712"/>
            <a:ext cx="7699063" cy="358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{{PILLAR_03_TITLE}}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6893942"/>
            <a:ext cx="7699063" cy="288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{{PILLAR_03_DESC}} — third pillar.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9151144" y="3428107"/>
            <a:ext cx="8222456" cy="5172075"/>
          </a:xfrm>
          <a:prstGeom prst="roundRect">
            <a:avLst>
              <a:gd name="adj" fmla="val 1473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82574" y="5792688"/>
            <a:ext cx="183579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{{IMAGE_PRODUCT_HERO}}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742539" y="6092726"/>
            <a:ext cx="31306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screenshot · diagram · or system illustration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20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PRODUCT &amp; TECHNOLOGY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{{PRODUCT_HEADLINE}}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197944"/>
            <a:ext cx="16459200" cy="4029075"/>
          </a:xfrm>
          <a:prstGeom prst="roundRect">
            <a:avLst>
              <a:gd name="adj" fmla="val 1891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4153" y="4983882"/>
            <a:ext cx="263625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{{DIAGRAM_PRODUCT_ARCHITECTURE}}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64115" y="5283919"/>
            <a:ext cx="325433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diagram · ingest → core engine → outputs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914400" y="7684219"/>
            <a:ext cx="3943350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7888932"/>
            <a:ext cx="40616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914400" y="8112621"/>
            <a:ext cx="4061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{{TECH_PILLAR_01}}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5086350" y="7684219"/>
            <a:ext cx="3943350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86350" y="7888932"/>
            <a:ext cx="40616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ENGINE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86350" y="8112621"/>
            <a:ext cx="4061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{{TECH_PILLAR_02}}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9258300" y="7684219"/>
            <a:ext cx="3943350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58300" y="7888932"/>
            <a:ext cx="40616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9258300" y="8112621"/>
            <a:ext cx="4061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{{TECH_PILLAR_03}}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13430250" y="7684219"/>
            <a:ext cx="3943350" cy="14288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430250" y="7888932"/>
            <a:ext cx="40616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MOAT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3430250" y="8112621"/>
            <a:ext cx="4061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{{TECH_MOAT}} — the proprietary defensibility.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20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MARKET OPPORTUNITY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128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{{TAM_VALUE}} category, expanding {{CAGR}} a year.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494731" y="3957861"/>
            <a:ext cx="4981426" cy="4981426"/>
          </a:xfrm>
          <a:prstGeom prst="ellipse">
            <a:avLst/>
          </a:prstGeom>
          <a:solidFill>
            <a:srgbClr val="2B6BA7">
              <a:alpha val="18000"/>
            </a:srgbClr>
          </a:solidFill>
          <a:ln w="14288">
            <a:solidFill>
              <a:srgbClr val="2B6B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56657" y="4719786"/>
            <a:ext cx="3457575" cy="3457575"/>
          </a:xfrm>
          <a:prstGeom prst="ellipse">
            <a:avLst/>
          </a:prstGeom>
          <a:solidFill>
            <a:srgbClr val="2B6BA7">
              <a:alpha val="32000"/>
            </a:srgbClr>
          </a:solidFill>
          <a:ln w="14288">
            <a:solidFill>
              <a:srgbClr val="2B6B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18583" y="5481712"/>
            <a:ext cx="1933501" cy="1933501"/>
          </a:xfrm>
          <a:prstGeom prst="ellipse">
            <a:avLst/>
          </a:prstGeom>
          <a:solidFill>
            <a:srgbClr val="C9A96A"/>
          </a:solidFill>
          <a:ln w="14288">
            <a:solidFill>
              <a:srgbClr val="C9A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76149" y="6162601"/>
            <a:ext cx="281836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25" b="1" kern="0" spc="182" dirty="0">
                <a:solidFill>
                  <a:srgbClr val="080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576149" y="6291188"/>
            <a:ext cx="281836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0F2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{{SOM_VALUE}}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50816" y="4257898"/>
            <a:ext cx="166925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25" b="1" kern="0" spc="18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150816" y="4386486"/>
            <a:ext cx="166925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{{TAM_VALUE}}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45459" y="5000848"/>
            <a:ext cx="167997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25" b="1" kern="0" spc="182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145459" y="5129436"/>
            <a:ext cx="167997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{{SAM_VALUE}}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71112" y="5359598"/>
            <a:ext cx="76245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ADDRESSABLE MARKET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971112" y="5616773"/>
            <a:ext cx="7624562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{{MARKET_TAM_DESC}} — the broadest possible market and why it expands.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971112" y="6187157"/>
            <a:ext cx="76245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SERVICEABLE AVAILABLE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971112" y="6444332"/>
            <a:ext cx="7624562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{{MARKET_SAM_DESC}} — the segment we directly target.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971112" y="7014716"/>
            <a:ext cx="76245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SERVICEABLE OBTAINABLE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971112" y="7271891"/>
            <a:ext cx="7624562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{{MARKET_SOM_DESC}} — what we can realistically capture in 5 years.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9801225"/>
            <a:ext cx="57337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 · SOURCE: {{MARKET_SOURCE}}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20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COMPETITIVE LANDSCAPE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we sit. Where they don't.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197944"/>
            <a:ext cx="16459200" cy="4184452"/>
          </a:xfrm>
          <a:prstGeom prst="roundRect">
            <a:avLst>
              <a:gd name="adj" fmla="val 1821"/>
            </a:avLst>
          </a:prstGeom>
          <a:solidFill>
            <a:srgbClr val="0D1830"/>
          </a:solidFill>
          <a:ln w="14288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1544" y="3205088"/>
            <a:ext cx="16444913" cy="57596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21544" y="3766765"/>
            <a:ext cx="16444913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244" y="3414638"/>
            <a:ext cx="4886963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370700" y="3414638"/>
            <a:ext cx="242210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117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166139" y="3414638"/>
            <a:ext cx="242210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117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{{COMPETITOR_01}}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61578" y="3414638"/>
            <a:ext cx="242210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117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{{COMPETITOR_02}}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4795106" y="3414638"/>
            <a:ext cx="234659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117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{{COMPETITOR_03}}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21544" y="4485605"/>
            <a:ext cx="1644491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244" y="3990603"/>
            <a:ext cx="4886963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{{CAPABILITY_01}}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70700" y="399060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66139" y="399060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961578" y="399060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795106" y="3990603"/>
            <a:ext cx="234659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21544" y="5204445"/>
            <a:ext cx="1644491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8244" y="4709443"/>
            <a:ext cx="4886963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{{CAPABILITY_02}}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70700" y="470944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166139" y="470944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961578" y="470944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795106" y="4709443"/>
            <a:ext cx="234659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21544" y="5923285"/>
            <a:ext cx="1644491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88244" y="5428283"/>
            <a:ext cx="4886963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{{CAPABILITY_03}}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70700" y="542828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166139" y="542828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961578" y="5428283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795106" y="5428283"/>
            <a:ext cx="234659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21544" y="6642125"/>
            <a:ext cx="1644491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88244" y="6147122"/>
            <a:ext cx="4886963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{{CAPABILITY_04}}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370700" y="6147122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166139" y="6147122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961578" y="6147122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4795106" y="6147122"/>
            <a:ext cx="234659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88244" y="6865962"/>
            <a:ext cx="4886963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{{CAPABILITY_05}}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370700" y="6865962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166139" y="6865962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961578" y="6865962"/>
            <a:ext cx="242210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4795106" y="6865962"/>
            <a:ext cx="2346592" cy="337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914400" y="7687121"/>
            <a:ext cx="1797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94110" y="7729984"/>
            <a:ext cx="2782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1600870" y="7687121"/>
            <a:ext cx="2190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819870" y="7729984"/>
            <a:ext cx="443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2491606" y="7687121"/>
            <a:ext cx="2239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2715518" y="7729984"/>
            <a:ext cx="3889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14442430" y="7715696"/>
            <a:ext cx="30191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 region: </a:t>
            </a:r>
            <a:r>
              <a:rPr lang="en-US" sz="975" i="1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{{TABLE_COMPETITIVE_MATRIX}}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20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BUSINESS MODEL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we make money — and why it compounds.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350419"/>
            <a:ext cx="5333926" cy="3571875"/>
          </a:xfrm>
          <a:prstGeom prst="roundRect">
            <a:avLst>
              <a:gd name="adj" fmla="val 2133"/>
            </a:avLst>
          </a:prstGeom>
          <a:solidFill>
            <a:srgbClr val="0D1830"/>
          </a:solidFill>
          <a:ln w="14288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3413" y="3707606"/>
            <a:ext cx="48367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9A9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3413" y="4021931"/>
            <a:ext cx="4836776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{{REVENUE_STREAM_01}}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3413" y="4539853"/>
            <a:ext cx="483677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{{REVENUE_STREAM_01_DESC}}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3413" y="6222206"/>
            <a:ext cx="4695899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3413" y="6407944"/>
            <a:ext cx="483677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{{REVENUE_STREAM_01_PCT}} </a:t>
            </a:r>
            <a:r>
              <a:rPr lang="en-US" sz="10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revenue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76926" y="3350419"/>
            <a:ext cx="5333926" cy="3571875"/>
          </a:xfrm>
          <a:prstGeom prst="roundRect">
            <a:avLst>
              <a:gd name="adj" fmla="val 2133"/>
            </a:avLst>
          </a:prstGeom>
          <a:solidFill>
            <a:srgbClr val="0D1830"/>
          </a:solidFill>
          <a:ln w="14288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95939" y="3707606"/>
            <a:ext cx="48367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5B8D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EXPANSION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95939" y="4021931"/>
            <a:ext cx="4836776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{{REVENUE_STREAM_02}}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95939" y="4539853"/>
            <a:ext cx="483677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{{REVENUE_STREAM_02_DESC}}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95939" y="6222206"/>
            <a:ext cx="4695899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95939" y="6407944"/>
            <a:ext cx="483677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{{REVENUE_STREAM_02_PCT}} </a:t>
            </a:r>
            <a:r>
              <a:rPr lang="en-US" sz="10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revenue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039451" y="3350419"/>
            <a:ext cx="5334149" cy="3571875"/>
          </a:xfrm>
          <a:prstGeom prst="roundRect">
            <a:avLst>
              <a:gd name="adj" fmla="val 2133"/>
            </a:avLst>
          </a:prstGeom>
          <a:solidFill>
            <a:srgbClr val="0D1830"/>
          </a:solidFill>
          <a:ln w="14288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58464" y="3707606"/>
            <a:ext cx="483700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5B8D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EMERGING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58464" y="4021931"/>
            <a:ext cx="4837006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{{REVENUE_STREAM_03}}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58464" y="4539853"/>
            <a:ext cx="483700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{{REVENUE_STREAM_03_DESC}}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358464" y="6222206"/>
            <a:ext cx="4696123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358464" y="6407944"/>
            <a:ext cx="483700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{{REVENUE_STREAM_03_PCT}} </a:t>
            </a:r>
            <a:r>
              <a:rPr lang="en-US" sz="105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revenue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8573393"/>
            <a:ext cx="16459200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4400" y="7531745"/>
            <a:ext cx="16459200" cy="14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14913" y="7812584"/>
            <a:ext cx="14288" cy="49425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80951" y="7812584"/>
            <a:ext cx="367443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MODEL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180951" y="8055471"/>
            <a:ext cx="3674432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{{PRICING_MODEL}}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129713" y="7812584"/>
            <a:ext cx="14288" cy="49425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95751" y="7812584"/>
            <a:ext cx="367443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ACV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295751" y="8055471"/>
            <a:ext cx="367443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{{AVG_ACV}}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3244513" y="7812584"/>
            <a:ext cx="14288" cy="49425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10551" y="7812584"/>
            <a:ext cx="367443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TERM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9410551" y="8055471"/>
            <a:ext cx="367443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{{CONTRACT_TERM}}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3525351" y="7812584"/>
            <a:ext cx="368914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3525351" y="8055471"/>
            <a:ext cx="368914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{{GROSS_MARGIN}}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20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GO-TO-MARKET STRATEGY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phases. One playbook.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579019"/>
            <a:ext cx="164592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3350419"/>
            <a:ext cx="457200" cy="457200"/>
          </a:xfrm>
          <a:prstGeom prst="ellipse">
            <a:avLst/>
          </a:prstGeom>
          <a:solidFill>
            <a:srgbClr val="5B8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6300" y="335041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23851" y="3514725"/>
            <a:ext cx="253677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 · {{GTM_PHASE_01_RANGE}}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914400" y="4112344"/>
            <a:ext cx="51800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{{GTM_PHASE_01_TITLE}}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4588520"/>
            <a:ext cx="518007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{{GTM_PHASE_01_DESC}}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350419"/>
            <a:ext cx="14288" cy="147429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872913" y="3350419"/>
            <a:ext cx="14288" cy="147429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43688" y="3350419"/>
            <a:ext cx="457200" cy="457200"/>
          </a:xfrm>
          <a:prstGeom prst="ellipse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05588" y="335041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53139" y="3514725"/>
            <a:ext cx="274501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· {{GTM_PHASE_02_RANGE}}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643688" y="4112344"/>
            <a:ext cx="51506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{{GTM_PHASE_02_TITLE}}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643688" y="4588520"/>
            <a:ext cx="515064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{{GTM_PHASE_02_DESC}}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344400" y="3350419"/>
            <a:ext cx="457200" cy="457200"/>
          </a:xfrm>
          <a:prstGeom prst="ellipse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06300" y="335041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0F2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953851" y="3514725"/>
            <a:ext cx="292942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DOMINATE · {{GTM_PHASE_03_RANGE}}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2344400" y="4112344"/>
            <a:ext cx="51800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{{GTM_PHASE_03_TITLE}}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344400" y="4588520"/>
            <a:ext cx="518007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{{GTM_PHASE_03_DESC}}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5281910"/>
            <a:ext cx="5333926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5467648"/>
            <a:ext cx="549394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ICP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914400" y="5672361"/>
            <a:ext cx="549394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{{ICP_DESC}}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6476926" y="5281910"/>
            <a:ext cx="5333926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76926" y="5467648"/>
            <a:ext cx="549394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476926" y="5672361"/>
            <a:ext cx="549394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{{GTM_CHANNELS}}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12039451" y="5281910"/>
            <a:ext cx="5334149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039451" y="5467648"/>
            <a:ext cx="54941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MOTION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2039451" y="5672361"/>
            <a:ext cx="549417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{{SALES_MOTION}}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20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COMMERCIAL TRACTION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data already shows category leadership.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4902622"/>
            <a:ext cx="16459200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3197944"/>
            <a:ext cx="16459200" cy="14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62290" y="3478783"/>
            <a:ext cx="14288" cy="1157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0951" y="3478783"/>
            <a:ext cx="413523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180951" y="3721671"/>
            <a:ext cx="413523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5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{{CUSTOMERS}}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180951" y="4321746"/>
            <a:ext cx="41352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{{CUSTOMERS_DELTA}}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606906" y="3478783"/>
            <a:ext cx="14288" cy="1157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43129" y="3478783"/>
            <a:ext cx="473514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43129" y="3721671"/>
            <a:ext cx="473514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5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{{ARR_CURRENT}}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5743129" y="4321746"/>
            <a:ext cx="47351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{{ARR_GROWTH}}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955191" y="3478783"/>
            <a:ext cx="14288" cy="1157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887745" y="3478783"/>
            <a:ext cx="187709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NRR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0887745" y="3721671"/>
            <a:ext cx="187709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5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{{NRR}}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0887745" y="4321746"/>
            <a:ext cx="18770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{{NRR_BENCHMARK}} benchmark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36029" y="3478783"/>
            <a:ext cx="569881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RETENTION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3236029" y="3721671"/>
            <a:ext cx="56988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5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{{LOGO_RETENTION}}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13236029" y="4321746"/>
            <a:ext cx="569881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rolling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374109"/>
            <a:ext cx="98892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BUILD · TRAILING 8 QUARTERS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5688434"/>
            <a:ext cx="9601200" cy="3266926"/>
          </a:xfrm>
          <a:prstGeom prst="roundRect">
            <a:avLst>
              <a:gd name="adj" fmla="val 1749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5123" y="7119417"/>
            <a:ext cx="16759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{{CHART_REVENUE_5Y}}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50321" y="7381280"/>
            <a:ext cx="28110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 chart · stacked new vs. expansion ARR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0972800" y="5374109"/>
            <a:ext cx="65928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MARQUEE CUSTOMERS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0" y="5688434"/>
            <a:ext cx="3143250" cy="790501"/>
          </a:xfrm>
          <a:prstGeom prst="roundRect">
            <a:avLst>
              <a:gd name="adj" fmla="val 482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39939" y="5702722"/>
            <a:ext cx="3208973" cy="800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{{LOGO_01}}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14230350" y="5688434"/>
            <a:ext cx="3143250" cy="790501"/>
          </a:xfrm>
          <a:prstGeom prst="roundRect">
            <a:avLst>
              <a:gd name="adj" fmla="val 482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197489" y="5702722"/>
            <a:ext cx="3208973" cy="800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{{LOGO_02}}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10972800" y="6593235"/>
            <a:ext cx="3143250" cy="790501"/>
          </a:xfrm>
          <a:prstGeom prst="roundRect">
            <a:avLst>
              <a:gd name="adj" fmla="val 482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939939" y="6607522"/>
            <a:ext cx="3208973" cy="800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{{LOGO_03}}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14230350" y="6593235"/>
            <a:ext cx="3143250" cy="790501"/>
          </a:xfrm>
          <a:prstGeom prst="roundRect">
            <a:avLst>
              <a:gd name="adj" fmla="val 482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197489" y="6607522"/>
            <a:ext cx="3208973" cy="800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{{LOGO_04}}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10972800" y="7498035"/>
            <a:ext cx="3143250" cy="790501"/>
          </a:xfrm>
          <a:prstGeom prst="roundRect">
            <a:avLst>
              <a:gd name="adj" fmla="val 482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939939" y="7512323"/>
            <a:ext cx="3208973" cy="800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{{LOGO_05}}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14230350" y="7498035"/>
            <a:ext cx="3143250" cy="790501"/>
          </a:xfrm>
          <a:prstGeom prst="roundRect">
            <a:avLst>
              <a:gd name="adj" fmla="val 482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4197489" y="7512323"/>
            <a:ext cx="3208973" cy="800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{{LOGO_06}}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49526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KEY FINANCIAL METRICS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4952666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{{KPI_HEADLINE}}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469493" y="2188890"/>
            <a:ext cx="1904107" cy="437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6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{{KPI_PERIOD_LABEL}} {{KPI_CURRENCY_NOTE}}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5379913"/>
            <a:ext cx="16459200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045693"/>
            <a:ext cx="16459200" cy="14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14913" y="3364706"/>
            <a:ext cx="14288" cy="171048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0951" y="3364706"/>
            <a:ext cx="3674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{{KPI_1_LABEL}} · {{KPI_PERIOD}}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0951" y="3640857"/>
            <a:ext cx="3674432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4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{{KPI_ARR_VALUE}}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180951" y="4875163"/>
            <a:ext cx="36744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{{KPI_ARR_DELTA}}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9129713" y="3364706"/>
            <a:ext cx="14288" cy="171048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95751" y="3364706"/>
            <a:ext cx="3674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{{KPI_2_LABEL}}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95751" y="3640857"/>
            <a:ext cx="3674432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4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{{KPI_NRR_VALUE}}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295751" y="4875163"/>
            <a:ext cx="36744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{{KPI_NRR_DELTA}}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3244513" y="3364706"/>
            <a:ext cx="14288" cy="171048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10551" y="3364706"/>
            <a:ext cx="3674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{{KPI_3_LABEL}}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10551" y="3640857"/>
            <a:ext cx="3674432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4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{{KPI_GM_VALUE}}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410551" y="4875163"/>
            <a:ext cx="36744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{{KPI_GM_DELTA}}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3525351" y="3364706"/>
            <a:ext cx="36891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{{KPI_4_LABEL}}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525351" y="3640857"/>
            <a:ext cx="3689149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kern="0" spc="-14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{{KPI_BURN_VALUE}}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3525351" y="4875163"/>
            <a:ext cx="368914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{{KPI_BURN_NOTE}}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914400" y="5851401"/>
            <a:ext cx="89901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— QUARTERLY BUILD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6165726"/>
            <a:ext cx="8728323" cy="2886075"/>
          </a:xfrm>
          <a:prstGeom prst="roundRect">
            <a:avLst>
              <a:gd name="adj" fmla="val 198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38526" y="7406283"/>
            <a:ext cx="13560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{{CHART_ARR_5Y}}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29496" y="7668146"/>
            <a:ext cx="29850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 chart · navy primary, accent-300 forecast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0099923" y="5851401"/>
            <a:ext cx="74918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METRICS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99923" y="6165726"/>
            <a:ext cx="7273677" cy="2886075"/>
          </a:xfrm>
          <a:prstGeom prst="roundRect">
            <a:avLst>
              <a:gd name="adj" fmla="val 198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72639" y="7502054"/>
            <a:ext cx="255575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{{TABLE_KEY_FINANCIAL_METRICS}}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914090" y="7509644"/>
            <a:ext cx="2124670" cy="236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75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CAC, payback, magic #, rule-of-40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14400" y="9801225"/>
            <a:ext cx="587564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 · SOURCE: COMPANY FINANCIALS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20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5-YEAR FINANCIAL PLAN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6952976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P&amp;L summary, {{FY_START}} → {{FY_END}}.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045693"/>
            <a:ext cx="16459200" cy="4437608"/>
          </a:xfrm>
          <a:prstGeom prst="roundRect">
            <a:avLst>
              <a:gd name="adj" fmla="val 1717"/>
            </a:avLst>
          </a:prstGeom>
          <a:solidFill>
            <a:srgbClr val="0D1830"/>
          </a:solidFill>
          <a:ln w="14288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1544" y="3052837"/>
            <a:ext cx="16444913" cy="57596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21544" y="3614514"/>
            <a:ext cx="16444913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244" y="3262387"/>
            <a:ext cx="1923901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ITEM · USD M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455045" y="3262387"/>
            <a:ext cx="193045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kern="0" spc="11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{{YEAR_1}}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766495" y="3262387"/>
            <a:ext cx="193045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kern="0" spc="11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{{YEAR_2}}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77944" y="3262387"/>
            <a:ext cx="193045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kern="0" spc="11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{{YEAR_3}}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389394" y="3262387"/>
            <a:ext cx="193045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kern="0" spc="11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{{YEAR_4}}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2700843" y="3262387"/>
            <a:ext cx="193045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kern="0" spc="11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{{YEAR_5}}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5050393" y="3262387"/>
            <a:ext cx="2049363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kern="0" spc="11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CAGR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921544" y="4238253"/>
            <a:ext cx="1644491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244" y="3819302"/>
            <a:ext cx="1923901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55045" y="3819302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{{REV_Y1}}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6495" y="3819302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{{REV_Y2}}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77944" y="3819302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{{REV_Y3}}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389394" y="3819302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{{REV_Y4}}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700843" y="3819302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{{REV_Y5}}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50393" y="3819302"/>
            <a:ext cx="2049363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{{REV_CAGR}}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1544" y="4861992"/>
            <a:ext cx="1644491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88244" y="4443040"/>
            <a:ext cx="1923901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55045" y="4443040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{{COGS_Y1}}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66495" y="4443040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{{COGS_Y2}}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77944" y="4443040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{{COGS_Y3}}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389394" y="4443040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{{COGS_Y4}}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700843" y="4443040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{{COGS_Y5}}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050393" y="4443040"/>
            <a:ext cx="2049363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89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21544" y="5485730"/>
            <a:ext cx="16444913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88244" y="5066779"/>
            <a:ext cx="1923901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Profit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455045" y="5066779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{{GP_Y1}}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766495" y="5066779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{{GP_Y2}}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77944" y="5066779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{{GP_Y3}}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389394" y="5066779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{{GP_Y4}}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700843" y="5066779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{{GP_Y5}}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5050393" y="5066779"/>
            <a:ext cx="2049363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{{GP_CAGR}}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21544" y="5500018"/>
            <a:ext cx="16444913" cy="62373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21544" y="6109469"/>
            <a:ext cx="1644491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88244" y="5690518"/>
            <a:ext cx="1923901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%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455045" y="5690518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{{GM_Y1}}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766495" y="5690518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{{GM_Y2}}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077944" y="5690518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{{GM_Y3}}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389394" y="5690518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{{GM_Y4}}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700843" y="5690518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{{GM_Y5}}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5050393" y="5690518"/>
            <a:ext cx="2049363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{{GM_DELTA}}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921544" y="6733208"/>
            <a:ext cx="16444913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88244" y="6314256"/>
            <a:ext cx="1923901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OpEx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3455045" y="6314256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{{OPEX_Y1}}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766495" y="6314256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{{OPEX_Y2}}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077944" y="6314256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{{OPEX_Y3}}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0389394" y="6314256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{{OPEX_Y4}}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700843" y="6314256"/>
            <a:ext cx="1930450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{{OPEX_Y5}}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5050393" y="6314256"/>
            <a:ext cx="2049363" cy="28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89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21544" y="6747495"/>
            <a:ext cx="16444913" cy="14288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88244" y="6976095"/>
            <a:ext cx="192390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3455045" y="6976095"/>
            <a:ext cx="19304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{{EBITDA_Y1}}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5766495" y="6976095"/>
            <a:ext cx="19304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{{EBITDA_Y2}}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8077944" y="6976095"/>
            <a:ext cx="19304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{{EBITDA_Y3}}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0389394" y="6976095"/>
            <a:ext cx="19304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{{EBITDA_Y4}}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2700843" y="6976095"/>
            <a:ext cx="19304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{{EBITDA_Y5}}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5050393" y="6976095"/>
            <a:ext cx="20493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54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{{EBITDA_NOTE}}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914400" y="7711901"/>
            <a:ext cx="169529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values bind from the company's financial model: </a:t>
            </a:r>
            <a:r>
              <a:rPr lang="en-US" sz="1050" i="1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{{TABLE_PNL_SUMMARY_5Y}}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20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REVENUE BUILD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128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we get from {{ARR_TODAY}} to {{ARR_FY29}}.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819674"/>
            <a:ext cx="16459200" cy="3648001"/>
          </a:xfrm>
          <a:prstGeom prst="roundRect">
            <a:avLst>
              <a:gd name="adj" fmla="val 1567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24192" y="5441305"/>
            <a:ext cx="271857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{{CHART_REVENUE_BUILD_WATERFALL}}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12484" y="5703168"/>
            <a:ext cx="43906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waterfall · base ARR + new logos + expansion + price + churn = end ARR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914400" y="7924874"/>
            <a:ext cx="16459200" cy="14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14913" y="8205713"/>
            <a:ext cx="14288" cy="1356643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0951" y="8205713"/>
            <a:ext cx="367443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01 · NEW LOGOS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180951" y="8429402"/>
            <a:ext cx="3674432" cy="876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{{DRIVER_01_VALUE}}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80951" y="9362554"/>
            <a:ext cx="3674432" cy="23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{{DRIVER_01_DESC}}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29713" y="8205713"/>
            <a:ext cx="14288" cy="1356643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95751" y="8205713"/>
            <a:ext cx="367443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02 · EXPANSION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295751" y="8429402"/>
            <a:ext cx="3674432" cy="876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{{DRIVER_02_VALUE}}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5295751" y="9362554"/>
            <a:ext cx="3674432" cy="23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{{DRIVER_02_DESC}}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244513" y="8205713"/>
            <a:ext cx="14288" cy="1356643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10551" y="8205713"/>
            <a:ext cx="367443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03 · PRICE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410551" y="8429402"/>
            <a:ext cx="3674432" cy="876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{{DRIVER_03_VALUE}}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410551" y="9362554"/>
            <a:ext cx="3674432" cy="23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{{DRIVER_03_DESC}}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525351" y="8205713"/>
            <a:ext cx="368914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04 · INTERNATIONAL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3525351" y="8429402"/>
            <a:ext cx="3689149" cy="876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{{DRIVER_04_VALUE}}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3525351" y="9362554"/>
            <a:ext cx="3689149" cy="23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{{DRIVER_04_DESC}}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20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UNIT ECONOMICS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1772900" cy="2136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dollar in returns </a:t>
            </a:r>
            <a:r>
              <a:rPr lang="en-US" sz="5400" b="1" kern="0" spc="-135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{{LTV_CAC_MULTIPLE}} </a:t>
            </a:r>
            <a:r>
              <a:rPr lang="en-US" sz="54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 a customer lifetime.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914400" y="4674468"/>
            <a:ext cx="7171209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917356"/>
            <a:ext cx="73863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· BLENDED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14400" y="5174531"/>
            <a:ext cx="3604301" cy="544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{{CAC_VALUE}}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46997" y="5474568"/>
            <a:ext cx="10446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{{CAC_DELTA}}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6023967"/>
            <a:ext cx="7171209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6266855"/>
            <a:ext cx="73863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14400" y="6524030"/>
            <a:ext cx="3480594" cy="544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{{LTV_VALUE}}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426893" y="6824067"/>
            <a:ext cx="100243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{{LTV_DELTA}}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7373466"/>
            <a:ext cx="7171209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7616354"/>
            <a:ext cx="73863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 PERIOD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14400" y="7873529"/>
            <a:ext cx="5848740" cy="544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{{PAYBACK_VALUE}} </a:t>
            </a:r>
            <a:r>
              <a:rPr lang="en-US" sz="2100" b="1" kern="0" spc="-126" dirty="0">
                <a:solidFill>
                  <a:srgbClr val="FFFFFF">
                    <a:alpha val="70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months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726064" y="8173566"/>
            <a:ext cx="139355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CB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{{PAYBACK_DELTA}}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8722965"/>
            <a:ext cx="7171209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8965853"/>
            <a:ext cx="73863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MAGIC NUMBER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14400" y="9223028"/>
            <a:ext cx="6754241" cy="544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{{MAGIC_NUMBER_VALUE}}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7605192" y="9523065"/>
            <a:ext cx="55661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 &gt; 0.75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47534" y="4674468"/>
            <a:ext cx="87818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 / CAC RATIO · BY COHORT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847534" y="5007769"/>
            <a:ext cx="144422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{{COHORT_1_LABEL}}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956459" y="5007769"/>
            <a:ext cx="149334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{{COHORT_1_VALUE}}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47534" y="5241057"/>
            <a:ext cx="8526066" cy="133276"/>
          </a:xfrm>
          <a:prstGeom prst="roundRect">
            <a:avLst>
              <a:gd name="adj" fmla="val 714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47534" y="5241057"/>
            <a:ext cx="2728243" cy="133276"/>
          </a:xfrm>
          <a:prstGeom prst="rect">
            <a:avLst/>
          </a:prstGeom>
          <a:solidFill>
            <a:srgbClr val="9BB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47534" y="5545782"/>
            <a:ext cx="148552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{{COHORT_2_LABEL}}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956459" y="5545782"/>
            <a:ext cx="149334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{{COHORT_2_VALUE}}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847534" y="5779071"/>
            <a:ext cx="8526066" cy="133276"/>
          </a:xfrm>
          <a:prstGeom prst="roundRect">
            <a:avLst>
              <a:gd name="adj" fmla="val 714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47534" y="5779071"/>
            <a:ext cx="4092476" cy="133276"/>
          </a:xfrm>
          <a:prstGeom prst="rect">
            <a:avLst/>
          </a:prstGeom>
          <a:solidFill>
            <a:srgbClr val="5B8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47534" y="6083796"/>
            <a:ext cx="14806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{{COHORT_3_LABEL}}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5956459" y="6083796"/>
            <a:ext cx="149334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{{COHORT_3_VALUE}}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47534" y="6317084"/>
            <a:ext cx="8526066" cy="133276"/>
          </a:xfrm>
          <a:prstGeom prst="roundRect">
            <a:avLst>
              <a:gd name="adj" fmla="val 714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847534" y="6317084"/>
            <a:ext cx="5200873" cy="1332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47534" y="6621810"/>
            <a:ext cx="148284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{{COHORT_4_LABEL}}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5947529" y="6621810"/>
            <a:ext cx="15022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{{COHORT_4_VALUE}}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847534" y="6855098"/>
            <a:ext cx="8526066" cy="133276"/>
          </a:xfrm>
          <a:prstGeom prst="roundRect">
            <a:avLst>
              <a:gd name="adj" fmla="val 714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847534" y="6855098"/>
            <a:ext cx="6309271" cy="133276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847534" y="7331273"/>
            <a:ext cx="8526066" cy="83805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847534" y="7331273"/>
            <a:ext cx="14288" cy="838051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090422" y="7521773"/>
            <a:ext cx="8310360" cy="495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{{UNIT_ECON_TAKEAWAY}} — one-sentence narrative takeaway tying the unit economics back to the investment thesis.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9801225"/>
            <a:ext cx="60060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 · PREPARED WITH VISION &amp; VIRTUE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20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CUSTOMER ROI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1436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 see </a:t>
            </a:r>
            <a:r>
              <a:rPr lang="en-US" sz="5400" b="1" kern="0" spc="-135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{{ROI_MULTIPLE}} </a:t>
            </a:r>
            <a:r>
              <a:rPr lang="en-US" sz="54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ROI in year one.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4127525"/>
            <a:ext cx="88188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DELIVERED · PER CUSTOMER · ANNUAL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14400" y="4499000"/>
            <a:ext cx="14672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{{VALUE_DRIVER_01}}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4824" y="4499000"/>
            <a:ext cx="9577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{{VALUE_01}}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4732288"/>
            <a:ext cx="8562008" cy="133276"/>
          </a:xfrm>
          <a:prstGeom prst="roundRect">
            <a:avLst>
              <a:gd name="adj" fmla="val 714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4732288"/>
            <a:ext cx="3253532" cy="133276"/>
          </a:xfrm>
          <a:prstGeom prst="rect">
            <a:avLst/>
          </a:prstGeom>
          <a:solidFill>
            <a:srgbClr val="5B8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5055989"/>
            <a:ext cx="149423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{{VALUE_DRIVER_02}}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94824" y="5055989"/>
            <a:ext cx="9577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{{VALUE_02}}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5289277"/>
            <a:ext cx="8562008" cy="133276"/>
          </a:xfrm>
          <a:prstGeom prst="roundRect">
            <a:avLst>
              <a:gd name="adj" fmla="val 714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289277"/>
            <a:ext cx="5479479" cy="1332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5612978"/>
            <a:ext cx="149535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{{VALUE_DRIVER_03}}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94824" y="5612978"/>
            <a:ext cx="9577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{{VALUE_03}}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5846266"/>
            <a:ext cx="8562008" cy="133276"/>
          </a:xfrm>
          <a:prstGeom prst="roundRect">
            <a:avLst>
              <a:gd name="adj" fmla="val 714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5846266"/>
            <a:ext cx="7020744" cy="133276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6436742"/>
            <a:ext cx="8562008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6979667"/>
            <a:ext cx="199184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ANNUAL VALUE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98255" y="6679629"/>
            <a:ext cx="574549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{{TOTAL_ANNUAL_VALUE}}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10238333" y="4127525"/>
            <a:ext cx="7135267" cy="2294260"/>
          </a:xfrm>
          <a:prstGeom prst="roundRect">
            <a:avLst>
              <a:gd name="adj" fmla="val 2491"/>
            </a:avLst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38333" y="6407497"/>
            <a:ext cx="7135267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238333" y="4127525"/>
            <a:ext cx="7135267" cy="14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238333" y="4127525"/>
            <a:ext cx="14288" cy="2294260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359313" y="4127525"/>
            <a:ext cx="14288" cy="22942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633472" y="4599012"/>
            <a:ext cx="6535339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FFFFFF">
                    <a:alpha val="92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“{{CUSTOMER_QUOTE}}”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633472" y="5250210"/>
            <a:ext cx="6344989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633472" y="5493097"/>
            <a:ext cx="457200" cy="457200"/>
          </a:xfrm>
          <a:prstGeom prst="ellipse">
            <a:avLst/>
          </a:prstGeom>
          <a:solidFill>
            <a:srgbClr val="11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595372" y="549309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{{AVATAR}}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23947" y="5557391"/>
            <a:ext cx="16154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{{CUSTOMER_NAME}}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23947" y="5728841"/>
            <a:ext cx="16154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{{CUSTOMER_TITLE}}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20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· USE OF FUNDS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737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the </a:t>
            </a:r>
            <a:r>
              <a:rPr lang="en-US" sz="5400" b="1" kern="0" spc="-135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{{ROUND_SIZE}} </a:t>
            </a:r>
            <a:r>
              <a:rPr lang="en-US" sz="5400" b="1" kern="0" spc="-135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goes.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428107"/>
            <a:ext cx="70294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914400" y="3799582"/>
            <a:ext cx="6824737" cy="561901"/>
          </a:xfrm>
          <a:prstGeom prst="roundRect">
            <a:avLst>
              <a:gd name="adj" fmla="val 6781"/>
            </a:avLst>
          </a:prstGeom>
          <a:ln w="14288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4685184"/>
            <a:ext cx="133276" cy="133276"/>
          </a:xfrm>
          <a:prstGeom prst="roundRect">
            <a:avLst>
              <a:gd name="adj" fmla="val 14294"/>
            </a:avLst>
          </a:prstGeom>
          <a:solidFill>
            <a:srgbClr val="5B8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0951" y="4666208"/>
            <a:ext cx="30471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{{ALLOC_01_LABEL}} · {{ALLOC_01_PCT}}%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914400" y="4989909"/>
            <a:ext cx="133276" cy="133276"/>
          </a:xfrm>
          <a:prstGeom prst="roundRect">
            <a:avLst>
              <a:gd name="adj" fmla="val 14294"/>
            </a:avLst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0951" y="4970934"/>
            <a:ext cx="31069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{{ALLOC_02_LABEL}} · {{ALLOC_02_PCT}}%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14400" y="5294635"/>
            <a:ext cx="133276" cy="133276"/>
          </a:xfrm>
          <a:prstGeom prst="roundRect">
            <a:avLst>
              <a:gd name="adj" fmla="val 14294"/>
            </a:avLst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0951" y="5275659"/>
            <a:ext cx="31092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{{ALLOC_03_LABEL}} · {{ALLOC_03_PCT}}%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914400" y="5599361"/>
            <a:ext cx="133276" cy="133276"/>
          </a:xfrm>
          <a:prstGeom prst="roundRect">
            <a:avLst>
              <a:gd name="adj" fmla="val 14294"/>
            </a:avLst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0951" y="5580385"/>
            <a:ext cx="31175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{{ALLOC_04_LABEL}} · {{ALLOC_04_PCT}}%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8501063" y="4259461"/>
            <a:ext cx="8872538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1063" y="3428107"/>
            <a:ext cx="251043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&amp; Product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975211" y="3428107"/>
            <a:ext cx="147458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B8DE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{{ALLOC_01}}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1063" y="3794671"/>
            <a:ext cx="667123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{{ALLOC_01_DESC}} — what the spend buys: roadmap milestones, hiring, R&amp;D bets.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1063" y="5409828"/>
            <a:ext cx="8872538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01063" y="4578474"/>
            <a:ext cx="154066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Go-to-Market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959138" y="4578474"/>
            <a:ext cx="14906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6BC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{{ALLOC_02}}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1063" y="4945038"/>
            <a:ext cx="667123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{{ALLOC_02_DESC}} — sales hiring, channel investment, brand.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1063" y="6560195"/>
            <a:ext cx="8872538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01063" y="5728841"/>
            <a:ext cx="260464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International expansion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960477" y="5728841"/>
            <a:ext cx="148932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{{ALLOC_03}}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1063" y="6095405"/>
            <a:ext cx="667123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{{ALLOC_03_DESC}} — the new growth vector this round unlocks.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1063" y="6879208"/>
            <a:ext cx="163465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G&amp;A &amp; reserve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957575" y="6879208"/>
            <a:ext cx="149222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{{ALLOC_04}}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01063" y="7245772"/>
            <a:ext cx="667123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{{ALLOC_04_DESC}} — operating overhead and contingency.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20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191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· MILESTONES &amp; ROADMAP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6764"/>
            <a:ext cx="13734973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24-month plan to category leadership.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3559820"/>
            <a:ext cx="16459200" cy="18976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3559820"/>
            <a:ext cx="4114800" cy="18976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426544"/>
            <a:ext cx="342900" cy="342900"/>
          </a:xfrm>
          <a:prstGeom prst="ellipse">
            <a:avLst/>
          </a:prstGeom>
          <a:solidFill>
            <a:srgbClr val="C9A96A"/>
          </a:solidFill>
          <a:ln w="28575">
            <a:solidFill>
              <a:srgbClr val="080F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074170"/>
            <a:ext cx="4061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9A9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4312146"/>
            <a:ext cx="4061650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{{MILESTONE_01_TITLE}}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688309"/>
            <a:ext cx="4061650" cy="23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{{MILESTONE_01_DESC}}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86350" y="3426544"/>
            <a:ext cx="342900" cy="342900"/>
          </a:xfrm>
          <a:prstGeom prst="ellipse">
            <a:avLst/>
          </a:prstGeom>
          <a:solidFill>
            <a:srgbClr val="5B8DE0"/>
          </a:solidFill>
          <a:ln w="28575">
            <a:solidFill>
              <a:srgbClr val="080F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86350" y="4074170"/>
            <a:ext cx="4061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5B8D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2027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86350" y="4312146"/>
            <a:ext cx="4061650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{{MILESTONE_02_TITLE}}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086350" y="4688309"/>
            <a:ext cx="4061650" cy="23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{{MILESTONE_02_DESC}}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58300" y="3426544"/>
            <a:ext cx="342900" cy="342900"/>
          </a:xfrm>
          <a:prstGeom prst="ellipse">
            <a:avLst/>
          </a:prstGeom>
          <a:solidFill>
            <a:srgbClr val="5B8DE0"/>
          </a:solidFill>
          <a:ln w="28575">
            <a:solidFill>
              <a:srgbClr val="080F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58300" y="4074170"/>
            <a:ext cx="4061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5B8D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58300" y="4312146"/>
            <a:ext cx="4061650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{{MILESTONE_03_TITLE}}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258300" y="4688309"/>
            <a:ext cx="4061650" cy="23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{{MILESTONE_03_DESC}}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430250" y="3426544"/>
            <a:ext cx="342900" cy="342900"/>
          </a:xfrm>
          <a:prstGeom prst="ellipse">
            <a:avLst/>
          </a:prstGeom>
          <a:solidFill>
            <a:srgbClr val="080F20"/>
          </a:solidFill>
          <a:ln w="28575">
            <a:solidFill>
              <a:srgbClr val="5B8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430250" y="4074170"/>
            <a:ext cx="4061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2028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430250" y="4312146"/>
            <a:ext cx="4061650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{{MILESTONE_04_TITLE}}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430250" y="4688309"/>
            <a:ext cx="4061650" cy="23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{{MILESTONE_04_DESC}}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6987927"/>
            <a:ext cx="16459200" cy="1428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4400" y="5802511"/>
            <a:ext cx="16459200" cy="14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25069" y="6083350"/>
            <a:ext cx="14288" cy="63802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80951" y="6083350"/>
            <a:ext cx="275789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MONTH 24 · ARR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180951" y="6307038"/>
            <a:ext cx="275789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{{COMMIT_ARR}}</a:t>
            </a:r>
            <a:endParaRPr lang="en-US" sz="2700" dirty="0"/>
          </a:p>
        </p:txBody>
      </p:sp>
      <p:sp>
        <p:nvSpPr>
          <p:cNvPr id="30" name="Shape 28"/>
          <p:cNvSpPr/>
          <p:nvPr/>
        </p:nvSpPr>
        <p:spPr>
          <a:xfrm>
            <a:off x="8772748" y="6083350"/>
            <a:ext cx="14288" cy="63802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05908" y="6083350"/>
            <a:ext cx="422329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405908" y="6307038"/>
            <a:ext cx="422329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{{COMMIT_CUSTOMERS}}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12527459" y="6083350"/>
            <a:ext cx="14288" cy="63802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053587" y="6083350"/>
            <a:ext cx="330354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9053587" y="6307038"/>
            <a:ext cx="330354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{{COMMIT_EBITDA}}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12808297" y="6083350"/>
            <a:ext cx="443484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C READY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2808297" y="6307038"/>
            <a:ext cx="443484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{{COMMIT_NEXT_ROUND}}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20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4" name="Shape 2"/>
          <p:cNvSpPr/>
          <p:nvPr/>
        </p:nvSpPr>
        <p:spPr>
          <a:xfrm>
            <a:off x="914400" y="1143000"/>
            <a:ext cx="609451" cy="18976"/>
          </a:xfrm>
          <a:prstGeom prst="rect">
            <a:avLst/>
          </a:prstGeom>
          <a:solidFill>
            <a:srgbClr val="3A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90576"/>
            <a:ext cx="169529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· TEAM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738164"/>
            <a:ext cx="13734973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Operators who have built this category before.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2817093"/>
            <a:ext cx="3914775" cy="3914775"/>
          </a:xfrm>
          <a:prstGeom prst="roundRect">
            <a:avLst>
              <a:gd name="adj" fmla="val 146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9966" y="2831381"/>
            <a:ext cx="4003643" cy="392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{{HEADSHOT_01}}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6903318"/>
            <a:ext cx="40322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{{FOUNDER_01_NAME}}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7169869"/>
            <a:ext cx="403221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{{FOUNDER_01_ROLE}}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14400" y="7407846"/>
            <a:ext cx="40322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{{FOUNDER_01_BIO}}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095726" y="2817093"/>
            <a:ext cx="3914998" cy="3914998"/>
          </a:xfrm>
          <a:prstGeom prst="roundRect">
            <a:avLst>
              <a:gd name="adj" fmla="val 146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51289" y="2831381"/>
            <a:ext cx="4003873" cy="3924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{{HEADSHOT_02}}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95726" y="6903541"/>
            <a:ext cx="40324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{{FOUNDER_02_NAME}}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95726" y="7170093"/>
            <a:ext cx="40324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{{FOUNDER_02_ROLE}}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095726" y="7408069"/>
            <a:ext cx="403244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{{FOUNDER_02_BIO}}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9277276" y="2817093"/>
            <a:ext cx="3914775" cy="3914775"/>
          </a:xfrm>
          <a:prstGeom prst="roundRect">
            <a:avLst>
              <a:gd name="adj" fmla="val 146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2841" y="2831381"/>
            <a:ext cx="4003643" cy="392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{{HEADSHOT_03}}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77276" y="6903318"/>
            <a:ext cx="40322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{{FOUNDER_03_NAME}}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77276" y="7169869"/>
            <a:ext cx="403221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{{FOUNDER_03_ROLE}}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277276" y="7407846"/>
            <a:ext cx="40322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{{FOUNDER_03_BIO}}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13458602" y="2817093"/>
            <a:ext cx="3914998" cy="3914998"/>
          </a:xfrm>
          <a:prstGeom prst="roundRect">
            <a:avLst>
              <a:gd name="adj" fmla="val 1460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414164" y="2831381"/>
            <a:ext cx="4003873" cy="3924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{{HEADSHOT_04}}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458602" y="6903541"/>
            <a:ext cx="40324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{{FOUNDER_04_NAME}}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458602" y="7170093"/>
            <a:ext cx="40324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{{FOUNDER_04_ROLE}}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3458602" y="7408069"/>
            <a:ext cx="403244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{{FOUNDER_04_BIO}}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914400" y="7974657"/>
            <a:ext cx="16459200" cy="1428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8238753"/>
            <a:ext cx="213717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ADVISORS &amp; BACKERS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14400" y="8424490"/>
            <a:ext cx="213717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funds, operators &amp; institutions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3432572" y="8179371"/>
            <a:ext cx="2228180" cy="447601"/>
          </a:xfrm>
          <a:prstGeom prst="roundRect">
            <a:avLst>
              <a:gd name="adj" fmla="val 8512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08759" y="8193658"/>
            <a:ext cx="2275805" cy="45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{{BACKER_01}}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775052" y="8179371"/>
            <a:ext cx="2228180" cy="447601"/>
          </a:xfrm>
          <a:prstGeom prst="roundRect">
            <a:avLst>
              <a:gd name="adj" fmla="val 8512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51240" y="8193658"/>
            <a:ext cx="2275805" cy="45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{{BACKER_02}}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117532" y="8179371"/>
            <a:ext cx="2228180" cy="447601"/>
          </a:xfrm>
          <a:prstGeom prst="roundRect">
            <a:avLst>
              <a:gd name="adj" fmla="val 8512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93720" y="8193658"/>
            <a:ext cx="2275805" cy="45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{{BACKER_03}}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460013" y="8179371"/>
            <a:ext cx="2228404" cy="447601"/>
          </a:xfrm>
          <a:prstGeom prst="roundRect">
            <a:avLst>
              <a:gd name="adj" fmla="val 8512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436200" y="8193658"/>
            <a:ext cx="2276029" cy="45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{{BACKER_04}}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2802716" y="8179371"/>
            <a:ext cx="2228180" cy="447601"/>
          </a:xfrm>
          <a:prstGeom prst="roundRect">
            <a:avLst>
              <a:gd name="adj" fmla="val 8512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778904" y="8193658"/>
            <a:ext cx="2275805" cy="45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{{BACKER_05}}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5145196" y="8179371"/>
            <a:ext cx="2228180" cy="447601"/>
          </a:xfrm>
          <a:prstGeom prst="roundRect">
            <a:avLst>
              <a:gd name="adj" fmla="val 8512"/>
            </a:avLst>
          </a:prstGeom>
          <a:solidFill>
            <a:srgbClr val="0D1830"/>
          </a:solidFill>
          <a:ln w="14288">
            <a:solidFill>
              <a:srgbClr val="FFFFFF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5121384" y="8193658"/>
            <a:ext cx="2275805" cy="457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{{BACKER_06}}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14400" y="9801225"/>
            <a:ext cx="3060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{{COMPANY_NAME}} · CONFIDENTIAL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6889611" y="9801225"/>
            <a:ext cx="5601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20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07129" y="0"/>
            <a:ext cx="7680871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F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4400" y="457200"/>
            <a:ext cx="281806" cy="34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3282" y="545157"/>
            <a:ext cx="12732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&amp; VIRTUE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914400" y="1904926"/>
            <a:ext cx="86413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C9A9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· THE ASK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2423964"/>
            <a:ext cx="8641355" cy="2726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200" b="1" kern="0" spc="-216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Raising </a:t>
            </a:r>
            <a:r>
              <a:rPr lang="en-US" sz="7200" b="1" kern="0" spc="-216" dirty="0">
                <a:solidFill>
                  <a:srgbClr val="C9A9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{{ROUND_SIZE}} </a:t>
            </a:r>
            <a:r>
              <a:rPr lang="en-US" sz="7200" b="1" kern="0" spc="-216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Series B.</a:t>
            </a:r>
            <a:endParaRPr lang="en-US" sz="7200" dirty="0"/>
          </a:p>
        </p:txBody>
      </p:sp>
      <p:sp>
        <p:nvSpPr>
          <p:cNvPr id="8" name="Shape 5"/>
          <p:cNvSpPr/>
          <p:nvPr/>
        </p:nvSpPr>
        <p:spPr>
          <a:xfrm>
            <a:off x="914400" y="5416972"/>
            <a:ext cx="685800" cy="18976"/>
          </a:xfrm>
          <a:prstGeom prst="rect">
            <a:avLst/>
          </a:prstGeom>
          <a:solidFill>
            <a:srgbClr val="C9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5740673"/>
            <a:ext cx="6671233" cy="758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FFFFFF">
                    <a:alpha val="82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24-month runway to category leadership, EBITDA break-even, and Series C readiness.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14400" y="7984703"/>
            <a:ext cx="8389665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14400" y="6994178"/>
            <a:ext cx="8389665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46202" y="7237065"/>
            <a:ext cx="14288" cy="51903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7237065"/>
            <a:ext cx="240327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 SIZE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914400" y="7441778"/>
            <a:ext cx="24032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{{ROUND_SIZE}}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643688" y="7237065"/>
            <a:ext cx="14288" cy="51903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865215" y="7237065"/>
            <a:ext cx="254994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65215" y="7441778"/>
            <a:ext cx="25499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{{LEAD_INVESTOR}}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962701" y="7237065"/>
            <a:ext cx="241756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5B8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962701" y="7441778"/>
            <a:ext cx="24175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{{CLOSING_DATE}}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14400" y="8153698"/>
            <a:ext cx="335849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231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914400" y="8415561"/>
            <a:ext cx="3358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{{CONTACT_NAME}} · {{CONTACT_TITLE}}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14400" y="8748861"/>
            <a:ext cx="335849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9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{{CONTACT_EMAIL}}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4400" y="9201150"/>
            <a:ext cx="1918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B8DE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144339" y="9220126"/>
            <a:ext cx="9525" cy="13327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68016" y="9222581"/>
            <a:ext cx="245774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>
                    <a:alpha val="70000"/>
                  </a:srgb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PREPARED WITH VISION &amp; VIRTUE</a:t>
            </a:r>
            <a:endParaRPr lang="en-US" sz="825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A10494F-9F05-7939-D00F-43C445A89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770" y="0"/>
            <a:ext cx="8626230" cy="1028699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047690" y="8908033"/>
            <a:ext cx="1325910" cy="216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825" b="1" kern="0" spc="182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6123890" y="9190658"/>
            <a:ext cx="13259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975" kern="0" spc="59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 · 20 / 20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2571</Words>
  <Application>Microsoft Office PowerPoint</Application>
  <PresentationFormat>Custom</PresentationFormat>
  <Paragraphs>502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Fraunces</vt:lpstr>
      <vt:lpstr>Inter</vt:lpstr>
      <vt:lpstr>JetBrains Mono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Raphael Haim</cp:lastModifiedBy>
  <cp:revision>2</cp:revision>
  <dcterms:created xsi:type="dcterms:W3CDTF">2026-05-11T09:36:02Z</dcterms:created>
  <dcterms:modified xsi:type="dcterms:W3CDTF">2026-05-11T10:01:39Z</dcterms:modified>
</cp:coreProperties>
</file>